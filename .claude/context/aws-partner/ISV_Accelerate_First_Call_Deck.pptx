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3" r:id="rId2"/>
  </p:sldMasterIdLst>
  <p:notesMasterIdLst>
    <p:notesMasterId r:id="rId15"/>
  </p:notesMasterIdLst>
  <p:sldIdLst>
    <p:sldId id="258" r:id="rId3"/>
    <p:sldId id="350" r:id="rId4"/>
    <p:sldId id="451" r:id="rId5"/>
    <p:sldId id="342" r:id="rId6"/>
    <p:sldId id="450" r:id="rId7"/>
    <p:sldId id="400" r:id="rId8"/>
    <p:sldId id="452" r:id="rId9"/>
    <p:sldId id="453" r:id="rId10"/>
    <p:sldId id="454" r:id="rId11"/>
    <p:sldId id="399" r:id="rId12"/>
    <p:sldId id="455"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27F5"/>
    <a:srgbClr val="7B59F7"/>
    <a:srgbClr val="D3C8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6223" autoAdjust="0"/>
  </p:normalViewPr>
  <p:slideViewPr>
    <p:cSldViewPr snapToGrid="0">
      <p:cViewPr varScale="1">
        <p:scale>
          <a:sx n="70" d="100"/>
          <a:sy n="70" d="100"/>
        </p:scale>
        <p:origin x="2154" y="72"/>
      </p:cViewPr>
      <p:guideLst>
        <p:guide orient="horz" pos="2184"/>
        <p:guide pos="3816"/>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FB36E8-5F58-45EA-86EE-D189608852EB}" type="datetimeFigureOut">
              <a:rPr lang="en-US" smtClean="0"/>
              <a:t>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5D784A-AE5D-48FF-B411-E8815F294229}" type="slidenum">
              <a:rPr lang="en-US" smtClean="0"/>
              <a:t>‹#›</a:t>
            </a:fld>
            <a:endParaRPr lang="en-US"/>
          </a:p>
        </p:txBody>
      </p:sp>
    </p:spTree>
    <p:extLst>
      <p:ext uri="{BB962C8B-B14F-4D97-AF65-F5344CB8AC3E}">
        <p14:creationId xmlns:p14="http://schemas.microsoft.com/office/powerpoint/2010/main" val="2055064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ocs.aws.amazon.com/marketplace/latest/userguide/user-guide-for-sellers.html" TargetMode="External"/><Relationship Id="rId7" Type="http://schemas.openxmlformats.org/officeDocument/2006/relationships/hyperlink" Target="https://skillbuilder.aws/learn/R5ZV5XXW99/aws-partner-coselling-with-aws/JNWX9WJRBG"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s://payeecentral.amazon.com/" TargetMode="External"/><Relationship Id="rId5" Type="http://schemas.openxmlformats.org/officeDocument/2006/relationships/hyperlink" Target="https://aws.amazon.com/partners/paths/" TargetMode="External"/><Relationship Id="rId4" Type="http://schemas.openxmlformats.org/officeDocument/2006/relationships/hyperlink" Target="https://aws.amazon.com/partners/programs/ace/"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intro]</a:t>
            </a:r>
          </a:p>
        </p:txBody>
      </p:sp>
      <p:sp>
        <p:nvSpPr>
          <p:cNvPr id="4" name="Slide Number Placeholder 3"/>
          <p:cNvSpPr>
            <a:spLocks noGrp="1"/>
          </p:cNvSpPr>
          <p:nvPr>
            <p:ph type="sldNum" sz="quarter" idx="5"/>
          </p:nvPr>
        </p:nvSpPr>
        <p:spPr/>
        <p:txBody>
          <a:bodyPr/>
          <a:lstStyle/>
          <a:p>
            <a:fld id="{225D784A-AE5D-48FF-B411-E8815F294229}" type="slidenum">
              <a:rPr lang="en-US" smtClean="0"/>
              <a:t>1</a:t>
            </a:fld>
            <a:endParaRPr lang="en-US"/>
          </a:p>
        </p:txBody>
      </p:sp>
    </p:spTree>
    <p:extLst>
      <p:ext uri="{BB962C8B-B14F-4D97-AF65-F5344CB8AC3E}">
        <p14:creationId xmlns:p14="http://schemas.microsoft.com/office/powerpoint/2010/main" val="15416475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FFFFFF"/>
                </a:solidFill>
                <a:effectLst/>
                <a:latin typeface="Twemoji Country Flags"/>
                <a:ea typeface="Calibri" panose="020F0502020204030204" pitchFamily="34" charset="0"/>
                <a:cs typeface="Times New Roman" panose="02020603050405020304" pitchFamily="18" charset="0"/>
              </a:rPr>
              <a:t>Today we are going to cover an overview of the AWS ISV Accelerate program, what co-selling with AWS means and why it’s important. We’ll then dive into the program’s benefits and entrance requirements, and I will leave you with key resources to learn more and enroll in the program.</a:t>
            </a:r>
            <a:endParaRPr lang="en-US" dirty="0"/>
          </a:p>
          <a:p>
            <a:endParaRPr lang="en-US" dirty="0"/>
          </a:p>
        </p:txBody>
      </p:sp>
      <p:sp>
        <p:nvSpPr>
          <p:cNvPr id="4" name="Slide Number Placeholder 3"/>
          <p:cNvSpPr>
            <a:spLocks noGrp="1"/>
          </p:cNvSpPr>
          <p:nvPr>
            <p:ph type="sldNum" sz="quarter" idx="5"/>
          </p:nvPr>
        </p:nvSpPr>
        <p:spPr/>
        <p:txBody>
          <a:bodyPr/>
          <a:lstStyle/>
          <a:p>
            <a:fld id="{225D784A-AE5D-48FF-B411-E8815F294229}" type="slidenum">
              <a:rPr lang="en-US" smtClean="0"/>
              <a:t>2</a:t>
            </a:fld>
            <a:endParaRPr lang="en-US"/>
          </a:p>
        </p:txBody>
      </p:sp>
    </p:spTree>
    <p:extLst>
      <p:ext uri="{BB962C8B-B14F-4D97-AF65-F5344CB8AC3E}">
        <p14:creationId xmlns:p14="http://schemas.microsoft.com/office/powerpoint/2010/main" val="16126876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US" dirty="0"/>
              <a:t>The ISV Accelerate program is for AWS ISV partners looking for a deeper level of co-sell support and engagement. It's a global co-sell program for AWS Partners with software solutions that run on or integrate with AWS and sell through the AWS Marketplace. These partners have proven co-selling ability, meaning they're actively using AWS Customer Engagement Tool, also known as ACE, for their opportunity submission. They've completed the AWS Foundational Technical Review and have sales teams aligned in their AWS co-selling goals and objectives. </a:t>
            </a:r>
          </a:p>
          <a:p>
            <a:pPr marL="0" marR="0" lvl="0" indent="0" algn="l" defTabSz="914400" rtl="0" eaLnBrk="1" fontAlgn="auto" latinLnBrk="0" hangingPunct="1">
              <a:lnSpc>
                <a:spcPct val="100000"/>
              </a:lnSpc>
              <a:spcBef>
                <a:spcPts val="0"/>
              </a:spcBef>
              <a:spcAft>
                <a:spcPts val="30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300"/>
              </a:spcAft>
              <a:buClrTx/>
              <a:buSzTx/>
              <a:buFontTx/>
              <a:buNone/>
              <a:tabLst/>
              <a:defRPr/>
            </a:pPr>
            <a:r>
              <a:rPr lang="en-US" dirty="0"/>
              <a:t>Participating in the ISVA program helps ISVs access new business and accelerate sales cycles through a deeper connection to the AWS sales organization. This is a global program that's available to both commercial and public sector partners, and is also open to AWS services partners offering SaaS solutions. As of right now, we have over 1300 ISVs in the program, and that number continues to grow each day.</a:t>
            </a:r>
          </a:p>
          <a:p>
            <a:endParaRPr lang="en-US" dirty="0"/>
          </a:p>
          <a:p>
            <a:endParaRPr lang="en-US" dirty="0"/>
          </a:p>
        </p:txBody>
      </p:sp>
      <p:sp>
        <p:nvSpPr>
          <p:cNvPr id="4" name="Slide Number Placeholder 3"/>
          <p:cNvSpPr>
            <a:spLocks noGrp="1"/>
          </p:cNvSpPr>
          <p:nvPr>
            <p:ph type="sldNum" sz="quarter" idx="5"/>
          </p:nvPr>
        </p:nvSpPr>
        <p:spPr/>
        <p:txBody>
          <a:bodyPr/>
          <a:lstStyle/>
          <a:p>
            <a:fld id="{A3D89E5F-BEEF-42A1-A57B-E5A736D51194}" type="slidenum">
              <a:rPr lang="en-US" smtClean="0"/>
              <a:pPr/>
              <a:t>3</a:t>
            </a:fld>
            <a:endParaRPr lang="en-US" dirty="0"/>
          </a:p>
        </p:txBody>
      </p:sp>
    </p:spTree>
    <p:extLst>
      <p:ext uri="{BB962C8B-B14F-4D97-AF65-F5344CB8AC3E}">
        <p14:creationId xmlns:p14="http://schemas.microsoft.com/office/powerpoint/2010/main" val="1614882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going further, let’s talk about how AWS views co-sell. Co-sell is </a:t>
            </a:r>
            <a:r>
              <a:rPr lang="en-US" sz="1000" b="0" i="0" kern="1200" dirty="0">
                <a:solidFill>
                  <a:schemeClr val="tx1"/>
                </a:solidFill>
                <a:effectLst/>
                <a:latin typeface="Amazon Ember Display" panose="020F0603020204020204" pitchFamily="34" charset="0"/>
                <a:ea typeface="Calibri" panose="020F0502020204030204" pitchFamily="34" charset="0"/>
                <a:cs typeface="Times New Roman" panose="02020603050405020304" pitchFamily="18" charset="0"/>
              </a:rPr>
              <a:t>a collaborative sales approach where AWS and partners work together to deliver customer value through complementary services and solutions, integrated processes and tools, and aligned incentives and programs. </a:t>
            </a:r>
          </a:p>
          <a:p>
            <a:endParaRPr lang="en-US" sz="1000" b="0" i="0" kern="1200" dirty="0">
              <a:solidFill>
                <a:schemeClr val="tx1"/>
              </a:solidFill>
              <a:effectLst/>
              <a:latin typeface="Amazon Ember Display" panose="020F0603020204020204" pitchFamily="34" charset="0"/>
              <a:ea typeface="Calibri" panose="020F0502020204030204" pitchFamily="34" charset="0"/>
              <a:cs typeface="Times New Roman" panose="02020603050405020304" pitchFamily="18" charset="0"/>
            </a:endParaRPr>
          </a:p>
          <a:p>
            <a:r>
              <a:rPr lang="en-US" sz="1200" i="0" dirty="0">
                <a:effectLst/>
                <a:latin typeface="Calibri" panose="020F0502020204030204" pitchFamily="34" charset="0"/>
                <a:ea typeface="Calibri" panose="020F0502020204030204" pitchFamily="34" charset="0"/>
              </a:rPr>
              <a:t>When co-selling is executed effectively, customers realize the value of their AWS investments more quickly, while partners grow their AWS business and build customer trust. Co-selling with AWS extends beyond simply collaborating with AWS sellers on opportunities. It's a comprehensive approach that encompasses how we build, market, sell, and grow together. This includes understanding our partners' go-to-market solutions, coordinating marketing efforts through AWS messaging, developing integrated campaigns and events, and collaborating through AWS programs and incentives—all designed to maximize value for both customers and partners.</a:t>
            </a:r>
          </a:p>
          <a:p>
            <a:endParaRPr lang="en-US" sz="1200" i="0" dirty="0">
              <a:effectLst/>
              <a:latin typeface="Calibri" panose="020F0502020204030204" pitchFamily="34" charset="0"/>
              <a:ea typeface="Calibri" panose="020F0502020204030204" pitchFamily="34" charset="0"/>
            </a:endParaRPr>
          </a:p>
          <a:p>
            <a:r>
              <a:rPr lang="en-US" i="0" dirty="0"/>
              <a:t>Co-Selling does not mean AWS and the AWS Partner are selling services on behalf of the other party.</a:t>
            </a:r>
          </a:p>
        </p:txBody>
      </p:sp>
      <p:sp>
        <p:nvSpPr>
          <p:cNvPr id="4" name="Slide Number Placeholder 3"/>
          <p:cNvSpPr>
            <a:spLocks noGrp="1"/>
          </p:cNvSpPr>
          <p:nvPr>
            <p:ph type="sldNum" sz="quarter" idx="5"/>
          </p:nvPr>
        </p:nvSpPr>
        <p:spPr/>
        <p:txBody>
          <a:bodyPr/>
          <a:lstStyle/>
          <a:p>
            <a:fld id="{225D784A-AE5D-48FF-B411-E8815F294229}" type="slidenum">
              <a:rPr lang="en-US" smtClean="0"/>
              <a:t>4</a:t>
            </a:fld>
            <a:endParaRPr lang="en-US"/>
          </a:p>
        </p:txBody>
      </p:sp>
    </p:spTree>
    <p:extLst>
      <p:ext uri="{BB962C8B-B14F-4D97-AF65-F5344CB8AC3E}">
        <p14:creationId xmlns:p14="http://schemas.microsoft.com/office/powerpoint/2010/main" val="18440155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E5B46-F2C0-8EFD-7425-9F69FCA5A0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33C0BA-5FFA-DAE9-AF80-9462F98120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381C38-3063-F0F8-E4B8-EF1496491B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US" dirty="0"/>
              <a:t>Why is co-sell important and why do partners want to co-sell with AWS?</a:t>
            </a:r>
          </a:p>
          <a:p>
            <a:pPr marL="0" marR="0" lvl="0" indent="0" algn="l" defTabSz="914400" rtl="0" eaLnBrk="1" fontAlgn="auto" latinLnBrk="0" hangingPunct="1">
              <a:lnSpc>
                <a:spcPct val="100000"/>
              </a:lnSpc>
              <a:spcBef>
                <a:spcPts val="0"/>
              </a:spcBef>
              <a:spcAft>
                <a:spcPts val="30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300"/>
              </a:spcAft>
              <a:buClrTx/>
              <a:buSzTx/>
              <a:buFontTx/>
              <a:buNone/>
              <a:tabLst/>
              <a:defRPr/>
            </a:pPr>
            <a:r>
              <a:rPr lang="en-US" dirty="0"/>
              <a:t>In 2024, Canalys conducted a partner research study and estimates that 51% of partners who participated in co-sell with AWS reported a higher average revenue growth. 65% of partners reported higher close rates and 54% of partners saw larger deals as a result of co-selling with AWS. </a:t>
            </a:r>
            <a:r>
              <a:rPr lang="en-US" sz="1200" dirty="0">
                <a:effectLst/>
                <a:latin typeface="Calibri" panose="020F0502020204030204" pitchFamily="34" charset="0"/>
                <a:ea typeface="DengXian" panose="02010600030101010101" pitchFamily="2" charset="-122"/>
                <a:cs typeface="Times New Roman" panose="02020603050405020304" pitchFamily="18" charset="0"/>
              </a:rPr>
              <a:t>So we’re helping streamline and accelerate co-selling with AWS through a number of initiatives, along with improvements to our systems and workflows. </a:t>
            </a:r>
          </a:p>
          <a:p>
            <a:endParaRPr lang="en-US" dirty="0"/>
          </a:p>
          <a:p>
            <a:endParaRPr lang="en-US" i="0" dirty="0"/>
          </a:p>
        </p:txBody>
      </p:sp>
      <p:sp>
        <p:nvSpPr>
          <p:cNvPr id="4" name="Slide Number Placeholder 3">
            <a:extLst>
              <a:ext uri="{FF2B5EF4-FFF2-40B4-BE49-F238E27FC236}">
                <a16:creationId xmlns:a16="http://schemas.microsoft.com/office/drawing/2014/main" id="{9EC6BA46-7CE6-D014-55F3-9CD8C9E25443}"/>
              </a:ext>
            </a:extLst>
          </p:cNvPr>
          <p:cNvSpPr>
            <a:spLocks noGrp="1"/>
          </p:cNvSpPr>
          <p:nvPr>
            <p:ph type="sldNum" sz="quarter" idx="5"/>
          </p:nvPr>
        </p:nvSpPr>
        <p:spPr/>
        <p:txBody>
          <a:bodyPr/>
          <a:lstStyle/>
          <a:p>
            <a:fld id="{225D784A-AE5D-48FF-B411-E8815F294229}" type="slidenum">
              <a:rPr lang="en-US" smtClean="0"/>
              <a:t>5</a:t>
            </a:fld>
            <a:endParaRPr lang="en-US"/>
          </a:p>
        </p:txBody>
      </p:sp>
    </p:spTree>
    <p:extLst>
      <p:ext uri="{BB962C8B-B14F-4D97-AF65-F5344CB8AC3E}">
        <p14:creationId xmlns:p14="http://schemas.microsoft.com/office/powerpoint/2010/main" val="41071345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Postman saw proven results by partnering with AWS with the partnership quickly becoming a key component of every sales motion to deliver results for customers. They are seeing deals close faster, convert better and expand in scope and size which has enabled them to grow faster. When we think about partner growth and partner profitability, we think about it in terms of the Partner Profitability Framework.</a:t>
            </a:r>
          </a:p>
          <a:p>
            <a:endParaRPr lang="en-US" dirty="0"/>
          </a:p>
        </p:txBody>
      </p:sp>
      <p:sp>
        <p:nvSpPr>
          <p:cNvPr id="4" name="Slide Number Placeholder 3"/>
          <p:cNvSpPr>
            <a:spLocks noGrp="1"/>
          </p:cNvSpPr>
          <p:nvPr>
            <p:ph type="sldNum" sz="quarter" idx="5"/>
          </p:nvPr>
        </p:nvSpPr>
        <p:spPr/>
        <p:txBody>
          <a:bodyPr/>
          <a:lstStyle/>
          <a:p>
            <a:fld id="{225D784A-AE5D-48FF-B411-E8815F294229}" type="slidenum">
              <a:rPr lang="en-US" smtClean="0"/>
              <a:t>6</a:t>
            </a:fld>
            <a:endParaRPr lang="en-US"/>
          </a:p>
        </p:txBody>
      </p:sp>
    </p:spTree>
    <p:extLst>
      <p:ext uri="{BB962C8B-B14F-4D97-AF65-F5344CB8AC3E}">
        <p14:creationId xmlns:p14="http://schemas.microsoft.com/office/powerpoint/2010/main" val="554921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6A3B5-A0D0-D540-6677-C81705B80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A97268-01AA-D4EC-E332-66935CF870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2A8982-0E31-AD2D-A093-B7667B1946A9}"/>
              </a:ext>
            </a:extLst>
          </p:cNvPr>
          <p:cNvSpPr>
            <a:spLocks noGrp="1"/>
          </p:cNvSpPr>
          <p:nvPr>
            <p:ph type="body" idx="1"/>
          </p:nvPr>
        </p:nvSpPr>
        <p:spPr/>
        <p:txBody>
          <a:bodyPr/>
          <a:lstStyle/>
          <a:p>
            <a:r>
              <a:rPr lang="en-US" sz="1200" dirty="0"/>
              <a:t>By now you know that the AWS ISV Accelerate Program enables technology partners to collaborate with our sales team on customer opportunities and drive customer outcomes and solutions via the AWS Marketplace. Its benefits include: </a:t>
            </a:r>
          </a:p>
          <a:p>
            <a:endParaRPr lang="en-US" sz="1200" dirty="0"/>
          </a:p>
          <a:p>
            <a:r>
              <a:rPr lang="en-US" sz="1200" b="1" dirty="0"/>
              <a:t>Incentives for AWS Sales teams:</a:t>
            </a:r>
            <a:r>
              <a:rPr lang="en-US" sz="1200" dirty="0"/>
              <a:t> AWS account managers who provide AWS ISV Accelerate Partners with co-sell support are eligible to receive sales compensation incentives, including the SaaS Co-Sell benefit that provides quota retirement to AWS end customer Account Managers when they co-sell SaaS solutions transacted as AWS Marketplace private offers with participating Partners.</a:t>
            </a:r>
          </a:p>
          <a:p>
            <a:endParaRPr lang="en-US" sz="1200" dirty="0"/>
          </a:p>
          <a:p>
            <a:r>
              <a:rPr lang="en-US" sz="1200" b="1" dirty="0"/>
              <a:t>Drive visibility with AWS Sales:</a:t>
            </a:r>
            <a:r>
              <a:rPr lang="en-US" sz="1200" dirty="0"/>
              <a:t> Participating Partner solutions are included in in AWS account manager-facing solution finder libraries and partner recommendation engines. Participation in the program is also highlighted to the AWS field within our Customer Relationship Management (CRM). </a:t>
            </a:r>
          </a:p>
          <a:p>
            <a:endParaRPr lang="en-US" sz="1200" dirty="0"/>
          </a:p>
          <a:p>
            <a:r>
              <a:rPr lang="en-US" sz="1200" b="1" dirty="0"/>
              <a:t>Focused co-sell support and resources: </a:t>
            </a:r>
            <a:r>
              <a:rPr lang="en-US" sz="1200" dirty="0"/>
              <a:t>Participating Partners gain prioritized access to AWS co-sell resources, including access to training, webinars, in person seminars, and best practices guides that provide guidance on how to successfully co-sell with AWS.</a:t>
            </a:r>
            <a:endParaRPr lang="en-US" dirty="0"/>
          </a:p>
          <a:p>
            <a:endParaRPr lang="en-US" dirty="0"/>
          </a:p>
          <a:p>
            <a:endParaRPr lang="en-US" dirty="0"/>
          </a:p>
          <a:p>
            <a:endParaRPr lang="en-US" i="0" dirty="0"/>
          </a:p>
        </p:txBody>
      </p:sp>
      <p:sp>
        <p:nvSpPr>
          <p:cNvPr id="4" name="Slide Number Placeholder 3">
            <a:extLst>
              <a:ext uri="{FF2B5EF4-FFF2-40B4-BE49-F238E27FC236}">
                <a16:creationId xmlns:a16="http://schemas.microsoft.com/office/drawing/2014/main" id="{2C181285-023B-ACCF-24E0-43D1CF931FC1}"/>
              </a:ext>
            </a:extLst>
          </p:cNvPr>
          <p:cNvSpPr>
            <a:spLocks noGrp="1"/>
          </p:cNvSpPr>
          <p:nvPr>
            <p:ph type="sldNum" sz="quarter" idx="5"/>
          </p:nvPr>
        </p:nvSpPr>
        <p:spPr/>
        <p:txBody>
          <a:bodyPr/>
          <a:lstStyle/>
          <a:p>
            <a:fld id="{225D784A-AE5D-48FF-B411-E8815F294229}" type="slidenum">
              <a:rPr lang="en-US" smtClean="0"/>
              <a:t>7</a:t>
            </a:fld>
            <a:endParaRPr lang="en-US"/>
          </a:p>
        </p:txBody>
      </p:sp>
    </p:spTree>
    <p:extLst>
      <p:ext uri="{BB962C8B-B14F-4D97-AF65-F5344CB8AC3E}">
        <p14:creationId xmlns:p14="http://schemas.microsoft.com/office/powerpoint/2010/main" val="21820289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61193-EC52-360D-175F-91B43E86FB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320345-1BF4-D59A-D642-CFE5B164C4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4B0E38-A9DE-4D44-49B1-855B570A0AED}"/>
              </a:ext>
            </a:extLst>
          </p:cNvPr>
          <p:cNvSpPr>
            <a:spLocks noGrp="1"/>
          </p:cNvSpPr>
          <p:nvPr>
            <p:ph type="body" idx="1"/>
          </p:nvPr>
        </p:nvSpPr>
        <p:spPr/>
        <p:txBody>
          <a:bodyPr/>
          <a:lstStyle/>
          <a:p>
            <a:r>
              <a:rPr lang="en-US" dirty="0"/>
              <a:t>The SaaS Co-Sell Benefit drives a higher level of AWS field engagement by providing quota retirement to AWS end-customer account managers when they co-sell SaaS solutions transacted as AWS Marketplace private offers with any AWS ISV Accelerate Partner.</a:t>
            </a:r>
          </a:p>
          <a:p>
            <a:endParaRPr lang="en-US" dirty="0"/>
          </a:p>
          <a:p>
            <a:r>
              <a:rPr lang="en-US" dirty="0"/>
              <a:t>The benefit is calculated on a deal-by-deal basis and rewards AWS account managers relative to the AWS revenue generated from eligible deals. In 2025, only AWS Marketplace private offers will be eligible for the SaaS co-sell benefit. There are limited exceptions for non-AWS Marketplace transactions in geographic regions where AWS Marketplace is not yet fully supported or blocked by regulatory constraints for public sector</a:t>
            </a:r>
          </a:p>
          <a:p>
            <a:r>
              <a:rPr lang="en-US" dirty="0"/>
              <a:t>end-customers.</a:t>
            </a:r>
          </a:p>
          <a:p>
            <a:endParaRPr lang="en-US" dirty="0"/>
          </a:p>
          <a:p>
            <a:endParaRPr lang="en-US" i="0" dirty="0"/>
          </a:p>
        </p:txBody>
      </p:sp>
      <p:sp>
        <p:nvSpPr>
          <p:cNvPr id="4" name="Slide Number Placeholder 3">
            <a:extLst>
              <a:ext uri="{FF2B5EF4-FFF2-40B4-BE49-F238E27FC236}">
                <a16:creationId xmlns:a16="http://schemas.microsoft.com/office/drawing/2014/main" id="{7DC000E9-2367-D61E-729D-97500F069FC5}"/>
              </a:ext>
            </a:extLst>
          </p:cNvPr>
          <p:cNvSpPr>
            <a:spLocks noGrp="1"/>
          </p:cNvSpPr>
          <p:nvPr>
            <p:ph type="sldNum" sz="quarter" idx="5"/>
          </p:nvPr>
        </p:nvSpPr>
        <p:spPr/>
        <p:txBody>
          <a:bodyPr/>
          <a:lstStyle/>
          <a:p>
            <a:fld id="{225D784A-AE5D-48FF-B411-E8815F294229}" type="slidenum">
              <a:rPr lang="en-US" smtClean="0"/>
              <a:t>8</a:t>
            </a:fld>
            <a:endParaRPr lang="en-US"/>
          </a:p>
        </p:txBody>
      </p:sp>
    </p:spTree>
    <p:extLst>
      <p:ext uri="{BB962C8B-B14F-4D97-AF65-F5344CB8AC3E}">
        <p14:creationId xmlns:p14="http://schemas.microsoft.com/office/powerpoint/2010/main" val="27259001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31B97-39C9-07C3-0218-BA62E7569B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FE7A1E-54A8-7F2E-3B03-63F181EE58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6CF736-FA01-37A7-0BDC-A2A366FAF471}"/>
              </a:ext>
            </a:extLst>
          </p:cNvPr>
          <p:cNvSpPr>
            <a:spLocks noGrp="1"/>
          </p:cNvSpPr>
          <p:nvPr>
            <p:ph type="body" idx="1"/>
          </p:nvPr>
        </p:nvSpPr>
        <p:spPr/>
        <p:txBody>
          <a:bodyPr/>
          <a:lstStyle/>
          <a:p>
            <a:r>
              <a:rPr lang="en-US" dirty="0"/>
              <a:t>To qualify for the AWS ISV Accelerate Program and unlock the SaaS Co-Sell Benefit, ASW Partners must meet and maintain the following requirements:</a:t>
            </a:r>
          </a:p>
          <a:p>
            <a:endParaRPr lang="en-US" dirty="0"/>
          </a:p>
          <a:p>
            <a:pPr lvl="0"/>
            <a:r>
              <a:rPr lang="en-US" sz="1200" u="sng" kern="1200" dirty="0">
                <a:solidFill>
                  <a:schemeClr val="tx1"/>
                </a:solidFill>
                <a:effectLst/>
                <a:latin typeface="+mn-lt"/>
                <a:ea typeface="+mn-ea"/>
                <a:cs typeface="+mn-cs"/>
                <a:hlinkClick r:id="rId3"/>
              </a:rPr>
              <a:t>One or more software product(s) listed as general availability (GA) on AWS Marketplace </a:t>
            </a:r>
            <a:endParaRPr lang="en-US" sz="1200" kern="1200" dirty="0">
              <a:solidFill>
                <a:schemeClr val="tx1"/>
              </a:solidFill>
              <a:effectLst/>
              <a:latin typeface="+mn-lt"/>
              <a:ea typeface="+mn-ea"/>
              <a:cs typeface="+mn-cs"/>
            </a:endParaRPr>
          </a:p>
          <a:p>
            <a:pPr lvl="0"/>
            <a:r>
              <a:rPr lang="en-US" sz="1200" u="sng" kern="1200" dirty="0">
                <a:solidFill>
                  <a:schemeClr val="tx1"/>
                </a:solidFill>
                <a:effectLst/>
                <a:latin typeface="+mn-lt"/>
                <a:ea typeface="+mn-ea"/>
                <a:cs typeface="+mn-cs"/>
                <a:hlinkClick r:id="rId4"/>
              </a:rPr>
              <a:t>Achieve APN Customer Engagements (ACE) program eligibility</a:t>
            </a:r>
            <a:endParaRPr lang="en-US" sz="1200" kern="1200" dirty="0">
              <a:solidFill>
                <a:schemeClr val="tx1"/>
              </a:solidFill>
              <a:effectLst/>
              <a:latin typeface="+mn-lt"/>
              <a:ea typeface="+mn-ea"/>
              <a:cs typeface="+mn-cs"/>
            </a:endParaRPr>
          </a:p>
          <a:p>
            <a:pPr lvl="0"/>
            <a:r>
              <a:rPr lang="en-US" sz="1200" u="sng" kern="1200" dirty="0">
                <a:solidFill>
                  <a:schemeClr val="tx1"/>
                </a:solidFill>
                <a:effectLst/>
                <a:latin typeface="+mn-lt"/>
                <a:ea typeface="+mn-ea"/>
                <a:cs typeface="+mn-cs"/>
                <a:hlinkClick r:id="rId5"/>
              </a:rPr>
              <a:t>Achieve Software Path status of Validated or Differentiated</a:t>
            </a:r>
            <a:endParaRPr lang="en-US" sz="1200" kern="1200" dirty="0">
              <a:solidFill>
                <a:schemeClr val="tx1"/>
              </a:solidFill>
              <a:effectLst/>
              <a:latin typeface="+mn-lt"/>
              <a:ea typeface="+mn-ea"/>
              <a:cs typeface="+mn-cs"/>
            </a:endParaRPr>
          </a:p>
          <a:p>
            <a:pPr lvl="0"/>
            <a:r>
              <a:rPr lang="en-US" sz="1200" u="sng" kern="1200" dirty="0">
                <a:solidFill>
                  <a:schemeClr val="tx1"/>
                </a:solidFill>
                <a:effectLst/>
                <a:latin typeface="+mn-lt"/>
                <a:ea typeface="+mn-ea"/>
                <a:cs typeface="+mn-cs"/>
                <a:hlinkClick r:id="rId6"/>
              </a:rPr>
              <a:t>Partner are required to have Payee Central setup</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Minimum of 5 launched opportunities (ACE or Marketplace Private Offers) transacted within the past 12 months (not FVO)</a:t>
            </a:r>
          </a:p>
          <a:p>
            <a:pPr lvl="0"/>
            <a:r>
              <a:rPr lang="en-US" sz="1200" kern="1200" dirty="0">
                <a:solidFill>
                  <a:schemeClr val="tx1"/>
                </a:solidFill>
                <a:effectLst/>
                <a:latin typeface="+mn-lt"/>
                <a:ea typeface="+mn-ea"/>
                <a:cs typeface="+mn-cs"/>
              </a:rPr>
              <a:t>Minimum of 15 qualified opportunities in ACE within the past 12 months </a:t>
            </a:r>
            <a:r>
              <a:rPr lang="en-US" sz="1200" i="1" kern="1200" dirty="0">
                <a:solidFill>
                  <a:schemeClr val="tx1"/>
                </a:solidFill>
                <a:effectLst/>
                <a:latin typeface="+mn-lt"/>
                <a:ea typeface="+mn-ea"/>
                <a:cs typeface="+mn-cs"/>
              </a:rPr>
              <a:t>(not FVO)</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Minimum of 1 individual having completed the </a:t>
            </a:r>
            <a:r>
              <a:rPr lang="en-US" sz="1200" u="sng" kern="1200" dirty="0">
                <a:solidFill>
                  <a:schemeClr val="tx1"/>
                </a:solidFill>
                <a:effectLst/>
                <a:latin typeface="+mn-lt"/>
                <a:ea typeface="+mn-ea"/>
                <a:cs typeface="+mn-cs"/>
                <a:hlinkClick r:id="rId7"/>
              </a:rPr>
              <a:t>Co-Selling with AWS</a:t>
            </a:r>
            <a:r>
              <a:rPr lang="en-US" sz="1200" kern="1200" dirty="0">
                <a:solidFill>
                  <a:schemeClr val="tx1"/>
                </a:solidFill>
                <a:effectLst/>
                <a:latin typeface="+mn-lt"/>
                <a:ea typeface="+mn-ea"/>
                <a:cs typeface="+mn-cs"/>
              </a:rPr>
              <a:t> learning module</a:t>
            </a:r>
          </a:p>
          <a:p>
            <a:pPr lvl="0"/>
            <a:r>
              <a:rPr lang="en-US" sz="1200" kern="1200" dirty="0">
                <a:solidFill>
                  <a:schemeClr val="tx1"/>
                </a:solidFill>
                <a:effectLst/>
                <a:latin typeface="+mn-lt"/>
                <a:ea typeface="+mn-ea"/>
                <a:cs typeface="+mn-cs"/>
              </a:rPr>
              <a:t>At the time of enrollment reporting ≥ $2,000 in recognized AWS Account revenue</a:t>
            </a:r>
          </a:p>
          <a:p>
            <a:endParaRPr lang="en-US" dirty="0"/>
          </a:p>
        </p:txBody>
      </p:sp>
      <p:sp>
        <p:nvSpPr>
          <p:cNvPr id="4" name="Slide Number Placeholder 3">
            <a:extLst>
              <a:ext uri="{FF2B5EF4-FFF2-40B4-BE49-F238E27FC236}">
                <a16:creationId xmlns:a16="http://schemas.microsoft.com/office/drawing/2014/main" id="{97AE6B82-6F6D-BA10-EF34-6C1251D00442}"/>
              </a:ext>
            </a:extLst>
          </p:cNvPr>
          <p:cNvSpPr>
            <a:spLocks noGrp="1"/>
          </p:cNvSpPr>
          <p:nvPr>
            <p:ph type="sldNum" sz="quarter" idx="5"/>
          </p:nvPr>
        </p:nvSpPr>
        <p:spPr/>
        <p:txBody>
          <a:bodyPr/>
          <a:lstStyle/>
          <a:p>
            <a:fld id="{225D784A-AE5D-48FF-B411-E8815F294229}" type="slidenum">
              <a:rPr lang="en-US" smtClean="0"/>
              <a:t>9</a:t>
            </a:fld>
            <a:endParaRPr lang="en-US"/>
          </a:p>
        </p:txBody>
      </p:sp>
    </p:spTree>
    <p:extLst>
      <p:ext uri="{BB962C8B-B14F-4D97-AF65-F5344CB8AC3E}">
        <p14:creationId xmlns:p14="http://schemas.microsoft.com/office/powerpoint/2010/main" val="11896271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t>
            </a:r>
            <a:r>
              <a:rPr lang="en-US" dirty="0" err="1"/>
              <a:t>Contentsquare</a:t>
            </a:r>
            <a:r>
              <a:rPr lang="en-US" dirty="0"/>
              <a:t>, j</a:t>
            </a:r>
            <a:r>
              <a:rPr lang="en-US" sz="1200" b="0" i="0" kern="1200" dirty="0">
                <a:solidFill>
                  <a:schemeClr val="tx1"/>
                </a:solidFill>
                <a:effectLst/>
                <a:latin typeface="+mn-lt"/>
                <a:ea typeface="+mn-ea"/>
                <a:cs typeface="+mn-cs"/>
              </a:rPr>
              <a:t>oining the AWS ISV Accelerate Program was transformative for enhancing their AWS co-selling capabilities. The SaaS Co-Sell Benefit created aligned incentives for field teams, fostering confidence in the mutual advantages of partnership between </a:t>
            </a:r>
            <a:r>
              <a:rPr lang="en-US" sz="1200" b="0" i="0" kern="1200" dirty="0" err="1">
                <a:solidFill>
                  <a:schemeClr val="tx1"/>
                </a:solidFill>
                <a:effectLst/>
                <a:latin typeface="+mn-lt"/>
                <a:ea typeface="+mn-ea"/>
                <a:cs typeface="+mn-cs"/>
              </a:rPr>
              <a:t>Contentsquare</a:t>
            </a:r>
            <a:r>
              <a:rPr lang="en-US" sz="1200" b="0" i="0" kern="1200" dirty="0">
                <a:solidFill>
                  <a:schemeClr val="tx1"/>
                </a:solidFill>
                <a:effectLst/>
                <a:latin typeface="+mn-lt"/>
                <a:ea typeface="+mn-ea"/>
                <a:cs typeface="+mn-cs"/>
              </a:rPr>
              <a:t>, AWS, and customers.</a:t>
            </a:r>
            <a:endParaRPr lang="en-US" b="0" dirty="0"/>
          </a:p>
        </p:txBody>
      </p:sp>
      <p:sp>
        <p:nvSpPr>
          <p:cNvPr id="4" name="Slide Number Placeholder 3"/>
          <p:cNvSpPr>
            <a:spLocks noGrp="1"/>
          </p:cNvSpPr>
          <p:nvPr>
            <p:ph type="sldNum" sz="quarter" idx="5"/>
          </p:nvPr>
        </p:nvSpPr>
        <p:spPr/>
        <p:txBody>
          <a:bodyPr/>
          <a:lstStyle/>
          <a:p>
            <a:fld id="{225D784A-AE5D-48FF-B411-E8815F294229}" type="slidenum">
              <a:rPr lang="en-US" smtClean="0"/>
              <a:t>10</a:t>
            </a:fld>
            <a:endParaRPr lang="en-US"/>
          </a:p>
        </p:txBody>
      </p:sp>
    </p:spTree>
    <p:extLst>
      <p:ext uri="{BB962C8B-B14F-4D97-AF65-F5344CB8AC3E}">
        <p14:creationId xmlns:p14="http://schemas.microsoft.com/office/powerpoint/2010/main" val="22187204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DAB8B-CE33-1718-D534-AAC128D910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A67A1C-6C29-DCC2-CEF5-659BBC4536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6E5A8B-7B3F-83EE-F66E-FB1012819C73}"/>
              </a:ext>
            </a:extLst>
          </p:cNvPr>
          <p:cNvSpPr>
            <a:spLocks noGrp="1"/>
          </p:cNvSpPr>
          <p:nvPr>
            <p:ph type="body" idx="1"/>
          </p:nvPr>
        </p:nvSpPr>
        <p:spPr/>
        <p:txBody>
          <a:bodyPr/>
          <a:lstStyle/>
          <a:p>
            <a:r>
              <a:rPr lang="en-US" i="0" dirty="0"/>
              <a:t>Here are some key resources to learn more and enroll in the AWS ISV Accelerate Program.</a:t>
            </a:r>
            <a:endParaRPr lang="en-US" dirty="0"/>
          </a:p>
        </p:txBody>
      </p:sp>
      <p:sp>
        <p:nvSpPr>
          <p:cNvPr id="4" name="Slide Number Placeholder 3">
            <a:extLst>
              <a:ext uri="{FF2B5EF4-FFF2-40B4-BE49-F238E27FC236}">
                <a16:creationId xmlns:a16="http://schemas.microsoft.com/office/drawing/2014/main" id="{E1404D2B-E15D-2D9A-758A-AC9C02AE53C0}"/>
              </a:ext>
            </a:extLst>
          </p:cNvPr>
          <p:cNvSpPr>
            <a:spLocks noGrp="1"/>
          </p:cNvSpPr>
          <p:nvPr>
            <p:ph type="sldNum" sz="quarter" idx="5"/>
          </p:nvPr>
        </p:nvSpPr>
        <p:spPr/>
        <p:txBody>
          <a:bodyPr/>
          <a:lstStyle/>
          <a:p>
            <a:fld id="{225D784A-AE5D-48FF-B411-E8815F294229}" type="slidenum">
              <a:rPr lang="en-US" smtClean="0"/>
              <a:t>11</a:t>
            </a:fld>
            <a:endParaRPr lang="en-US"/>
          </a:p>
        </p:txBody>
      </p:sp>
    </p:spTree>
    <p:extLst>
      <p:ext uri="{BB962C8B-B14F-4D97-AF65-F5344CB8AC3E}">
        <p14:creationId xmlns:p14="http://schemas.microsoft.com/office/powerpoint/2010/main" val="42174923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a:t>
            </a:r>
          </a:p>
        </p:txBody>
      </p:sp>
      <p:sp>
        <p:nvSpPr>
          <p:cNvPr id="4" name="Slide Number Placeholder 3"/>
          <p:cNvSpPr>
            <a:spLocks noGrp="1"/>
          </p:cNvSpPr>
          <p:nvPr>
            <p:ph type="sldNum" sz="quarter" idx="5"/>
          </p:nvPr>
        </p:nvSpPr>
        <p:spPr/>
        <p:txBody>
          <a:bodyPr/>
          <a:lstStyle/>
          <a:p>
            <a:fld id="{225D784A-AE5D-48FF-B411-E8815F294229}" type="slidenum">
              <a:rPr lang="en-US" smtClean="0"/>
              <a:t>12</a:t>
            </a:fld>
            <a:endParaRPr lang="en-US"/>
          </a:p>
        </p:txBody>
      </p:sp>
    </p:spTree>
    <p:extLst>
      <p:ext uri="{BB962C8B-B14F-4D97-AF65-F5344CB8AC3E}">
        <p14:creationId xmlns:p14="http://schemas.microsoft.com/office/powerpoint/2010/main" val="24683691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45FE8-687A-6FD4-0E66-1D21E07C2F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B37B6DB-B1B3-22DC-F5A9-2B30167700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5D24A4-D14F-8AC6-DE9F-40C9A2E13462}"/>
              </a:ext>
            </a:extLst>
          </p:cNvPr>
          <p:cNvSpPr>
            <a:spLocks noGrp="1"/>
          </p:cNvSpPr>
          <p:nvPr>
            <p:ph type="dt" sz="half" idx="10"/>
          </p:nvPr>
        </p:nvSpPr>
        <p:spPr/>
        <p:txBody>
          <a:bodyPr/>
          <a:lstStyle/>
          <a:p>
            <a:fld id="{7B5B99DC-BF88-4DE6-A919-C8CE8931EB84}" type="datetimeFigureOut">
              <a:rPr lang="en-US" smtClean="0"/>
              <a:t>2/6/2026</a:t>
            </a:fld>
            <a:endParaRPr lang="en-US"/>
          </a:p>
        </p:txBody>
      </p:sp>
      <p:sp>
        <p:nvSpPr>
          <p:cNvPr id="5" name="Footer Placeholder 4">
            <a:extLst>
              <a:ext uri="{FF2B5EF4-FFF2-40B4-BE49-F238E27FC236}">
                <a16:creationId xmlns:a16="http://schemas.microsoft.com/office/drawing/2014/main" id="{D0D4A915-CEC3-5CA7-6005-CDFA6E85B3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9ABDBA-F514-A866-68CE-1C7AC41F24E0}"/>
              </a:ext>
            </a:extLst>
          </p:cNvPr>
          <p:cNvSpPr>
            <a:spLocks noGrp="1"/>
          </p:cNvSpPr>
          <p:nvPr>
            <p:ph type="sldNum" sz="quarter" idx="12"/>
          </p:nvPr>
        </p:nvSpPr>
        <p:spPr/>
        <p:txBody>
          <a:bodyPr/>
          <a:lstStyle/>
          <a:p>
            <a:fld id="{D058E337-87E1-4445-99F1-5699C7141946}" type="slidenum">
              <a:rPr lang="en-US" smtClean="0"/>
              <a:t>‹#›</a:t>
            </a:fld>
            <a:endParaRPr lang="en-US"/>
          </a:p>
        </p:txBody>
      </p:sp>
    </p:spTree>
    <p:extLst>
      <p:ext uri="{BB962C8B-B14F-4D97-AF65-F5344CB8AC3E}">
        <p14:creationId xmlns:p14="http://schemas.microsoft.com/office/powerpoint/2010/main" val="3227230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780F9-B280-0DC3-3A29-C225387D7B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E2221D-1940-CC93-795D-0F137F22EC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FEC275-E63A-5B01-E92D-99F309D0C723}"/>
              </a:ext>
            </a:extLst>
          </p:cNvPr>
          <p:cNvSpPr>
            <a:spLocks noGrp="1"/>
          </p:cNvSpPr>
          <p:nvPr>
            <p:ph type="dt" sz="half" idx="10"/>
          </p:nvPr>
        </p:nvSpPr>
        <p:spPr/>
        <p:txBody>
          <a:bodyPr/>
          <a:lstStyle/>
          <a:p>
            <a:fld id="{7B5B99DC-BF88-4DE6-A919-C8CE8931EB84}" type="datetimeFigureOut">
              <a:rPr lang="en-US" smtClean="0"/>
              <a:t>2/6/2026</a:t>
            </a:fld>
            <a:endParaRPr lang="en-US"/>
          </a:p>
        </p:txBody>
      </p:sp>
      <p:sp>
        <p:nvSpPr>
          <p:cNvPr id="5" name="Footer Placeholder 4">
            <a:extLst>
              <a:ext uri="{FF2B5EF4-FFF2-40B4-BE49-F238E27FC236}">
                <a16:creationId xmlns:a16="http://schemas.microsoft.com/office/drawing/2014/main" id="{8FE60C66-4838-43A2-D961-01ECB7E53F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C448A1-6CA2-B150-BDD5-B5A8B13A8876}"/>
              </a:ext>
            </a:extLst>
          </p:cNvPr>
          <p:cNvSpPr>
            <a:spLocks noGrp="1"/>
          </p:cNvSpPr>
          <p:nvPr>
            <p:ph type="sldNum" sz="quarter" idx="12"/>
          </p:nvPr>
        </p:nvSpPr>
        <p:spPr/>
        <p:txBody>
          <a:bodyPr/>
          <a:lstStyle/>
          <a:p>
            <a:fld id="{D058E337-87E1-4445-99F1-5699C7141946}" type="slidenum">
              <a:rPr lang="en-US" smtClean="0"/>
              <a:t>‹#›</a:t>
            </a:fld>
            <a:endParaRPr lang="en-US"/>
          </a:p>
        </p:txBody>
      </p:sp>
    </p:spTree>
    <p:extLst>
      <p:ext uri="{BB962C8B-B14F-4D97-AF65-F5344CB8AC3E}">
        <p14:creationId xmlns:p14="http://schemas.microsoft.com/office/powerpoint/2010/main" val="3793719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86684-83FE-5312-9E8F-CAE143C725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BC42801-5B00-34F8-BD4C-6A4DB4A039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830E45-0916-14D5-0C2C-3DF160B25010}"/>
              </a:ext>
            </a:extLst>
          </p:cNvPr>
          <p:cNvSpPr>
            <a:spLocks noGrp="1"/>
          </p:cNvSpPr>
          <p:nvPr>
            <p:ph type="dt" sz="half" idx="10"/>
          </p:nvPr>
        </p:nvSpPr>
        <p:spPr/>
        <p:txBody>
          <a:bodyPr/>
          <a:lstStyle/>
          <a:p>
            <a:fld id="{7B5B99DC-BF88-4DE6-A919-C8CE8931EB84}" type="datetimeFigureOut">
              <a:rPr lang="en-US" smtClean="0"/>
              <a:t>2/6/2026</a:t>
            </a:fld>
            <a:endParaRPr lang="en-US"/>
          </a:p>
        </p:txBody>
      </p:sp>
      <p:sp>
        <p:nvSpPr>
          <p:cNvPr id="5" name="Footer Placeholder 4">
            <a:extLst>
              <a:ext uri="{FF2B5EF4-FFF2-40B4-BE49-F238E27FC236}">
                <a16:creationId xmlns:a16="http://schemas.microsoft.com/office/drawing/2014/main" id="{C4E70F09-4B8A-8200-6572-6F89E06320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A8465B-6E1B-C483-2ADF-7135734B5408}"/>
              </a:ext>
            </a:extLst>
          </p:cNvPr>
          <p:cNvSpPr>
            <a:spLocks noGrp="1"/>
          </p:cNvSpPr>
          <p:nvPr>
            <p:ph type="sldNum" sz="quarter" idx="12"/>
          </p:nvPr>
        </p:nvSpPr>
        <p:spPr/>
        <p:txBody>
          <a:bodyPr/>
          <a:lstStyle/>
          <a:p>
            <a:fld id="{D058E337-87E1-4445-99F1-5699C7141946}" type="slidenum">
              <a:rPr lang="en-US" smtClean="0"/>
              <a:t>‹#›</a:t>
            </a:fld>
            <a:endParaRPr lang="en-US"/>
          </a:p>
        </p:txBody>
      </p:sp>
    </p:spTree>
    <p:extLst>
      <p:ext uri="{BB962C8B-B14F-4D97-AF65-F5344CB8AC3E}">
        <p14:creationId xmlns:p14="http://schemas.microsoft.com/office/powerpoint/2010/main" val="3461146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5BAC4-FD43-D0BC-B0A0-F6644B76CA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BAE7D3-A1AD-9EAF-FF3E-26FAEEC827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7BA43C-8B84-DCF4-DC2C-28A23FD771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A93E8C-FD32-C5C4-446C-B0C0D8A8839E}"/>
              </a:ext>
            </a:extLst>
          </p:cNvPr>
          <p:cNvSpPr>
            <a:spLocks noGrp="1"/>
          </p:cNvSpPr>
          <p:nvPr>
            <p:ph type="dt" sz="half" idx="10"/>
          </p:nvPr>
        </p:nvSpPr>
        <p:spPr/>
        <p:txBody>
          <a:bodyPr/>
          <a:lstStyle/>
          <a:p>
            <a:fld id="{7B5B99DC-BF88-4DE6-A919-C8CE8931EB84}" type="datetimeFigureOut">
              <a:rPr lang="en-US" smtClean="0"/>
              <a:t>2/6/2026</a:t>
            </a:fld>
            <a:endParaRPr lang="en-US"/>
          </a:p>
        </p:txBody>
      </p:sp>
      <p:sp>
        <p:nvSpPr>
          <p:cNvPr id="6" name="Footer Placeholder 5">
            <a:extLst>
              <a:ext uri="{FF2B5EF4-FFF2-40B4-BE49-F238E27FC236}">
                <a16:creationId xmlns:a16="http://schemas.microsoft.com/office/drawing/2014/main" id="{13C78DA8-CB29-3F03-00FB-39D549A48D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5D085A-92C5-F226-EBAE-424804624402}"/>
              </a:ext>
            </a:extLst>
          </p:cNvPr>
          <p:cNvSpPr>
            <a:spLocks noGrp="1"/>
          </p:cNvSpPr>
          <p:nvPr>
            <p:ph type="sldNum" sz="quarter" idx="12"/>
          </p:nvPr>
        </p:nvSpPr>
        <p:spPr/>
        <p:txBody>
          <a:bodyPr/>
          <a:lstStyle/>
          <a:p>
            <a:fld id="{D058E337-87E1-4445-99F1-5699C7141946}" type="slidenum">
              <a:rPr lang="en-US" smtClean="0"/>
              <a:t>‹#›</a:t>
            </a:fld>
            <a:endParaRPr lang="en-US"/>
          </a:p>
        </p:txBody>
      </p:sp>
    </p:spTree>
    <p:extLst>
      <p:ext uri="{BB962C8B-B14F-4D97-AF65-F5344CB8AC3E}">
        <p14:creationId xmlns:p14="http://schemas.microsoft.com/office/powerpoint/2010/main" val="3118745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DDB08-F9FF-2F18-4AB7-25225ABFF94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8186D21-3005-F22F-2E15-21823C9635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34F992-87AC-8E5A-7D2E-A72B60608C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B488DE-C679-2CFD-0E78-8DE64060FF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DE83ED-A7AA-5CC5-2C39-DE656243FD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817CCA-FA7B-D5E9-740A-CE39C51C2F26}"/>
              </a:ext>
            </a:extLst>
          </p:cNvPr>
          <p:cNvSpPr>
            <a:spLocks noGrp="1"/>
          </p:cNvSpPr>
          <p:nvPr>
            <p:ph type="dt" sz="half" idx="10"/>
          </p:nvPr>
        </p:nvSpPr>
        <p:spPr/>
        <p:txBody>
          <a:bodyPr/>
          <a:lstStyle/>
          <a:p>
            <a:fld id="{7B5B99DC-BF88-4DE6-A919-C8CE8931EB84}" type="datetimeFigureOut">
              <a:rPr lang="en-US" smtClean="0"/>
              <a:t>2/6/2026</a:t>
            </a:fld>
            <a:endParaRPr lang="en-US"/>
          </a:p>
        </p:txBody>
      </p:sp>
      <p:sp>
        <p:nvSpPr>
          <p:cNvPr id="8" name="Footer Placeholder 7">
            <a:extLst>
              <a:ext uri="{FF2B5EF4-FFF2-40B4-BE49-F238E27FC236}">
                <a16:creationId xmlns:a16="http://schemas.microsoft.com/office/drawing/2014/main" id="{3BA2C833-5D40-FBB2-8370-9278E18941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61081C-15BD-B5C4-E1C1-E79DF994421E}"/>
              </a:ext>
            </a:extLst>
          </p:cNvPr>
          <p:cNvSpPr>
            <a:spLocks noGrp="1"/>
          </p:cNvSpPr>
          <p:nvPr>
            <p:ph type="sldNum" sz="quarter" idx="12"/>
          </p:nvPr>
        </p:nvSpPr>
        <p:spPr/>
        <p:txBody>
          <a:bodyPr/>
          <a:lstStyle/>
          <a:p>
            <a:fld id="{D058E337-87E1-4445-99F1-5699C7141946}" type="slidenum">
              <a:rPr lang="en-US" smtClean="0"/>
              <a:t>‹#›</a:t>
            </a:fld>
            <a:endParaRPr lang="en-US"/>
          </a:p>
        </p:txBody>
      </p:sp>
    </p:spTree>
    <p:extLst>
      <p:ext uri="{BB962C8B-B14F-4D97-AF65-F5344CB8AC3E}">
        <p14:creationId xmlns:p14="http://schemas.microsoft.com/office/powerpoint/2010/main" val="8731150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EA903-A6CF-7C8E-E128-9517299666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F7220A-EE09-1834-1C30-D5FA2410CA0B}"/>
              </a:ext>
            </a:extLst>
          </p:cNvPr>
          <p:cNvSpPr>
            <a:spLocks noGrp="1"/>
          </p:cNvSpPr>
          <p:nvPr>
            <p:ph type="dt" sz="half" idx="10"/>
          </p:nvPr>
        </p:nvSpPr>
        <p:spPr/>
        <p:txBody>
          <a:bodyPr/>
          <a:lstStyle/>
          <a:p>
            <a:fld id="{7B5B99DC-BF88-4DE6-A919-C8CE8931EB84}" type="datetimeFigureOut">
              <a:rPr lang="en-US" smtClean="0"/>
              <a:t>2/6/2026</a:t>
            </a:fld>
            <a:endParaRPr lang="en-US"/>
          </a:p>
        </p:txBody>
      </p:sp>
      <p:sp>
        <p:nvSpPr>
          <p:cNvPr id="4" name="Footer Placeholder 3">
            <a:extLst>
              <a:ext uri="{FF2B5EF4-FFF2-40B4-BE49-F238E27FC236}">
                <a16:creationId xmlns:a16="http://schemas.microsoft.com/office/drawing/2014/main" id="{C6FC1DF6-1720-313C-7F79-310438904B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B386D2-56ED-68E4-41DD-928859B7041A}"/>
              </a:ext>
            </a:extLst>
          </p:cNvPr>
          <p:cNvSpPr>
            <a:spLocks noGrp="1"/>
          </p:cNvSpPr>
          <p:nvPr>
            <p:ph type="sldNum" sz="quarter" idx="12"/>
          </p:nvPr>
        </p:nvSpPr>
        <p:spPr/>
        <p:txBody>
          <a:bodyPr/>
          <a:lstStyle/>
          <a:p>
            <a:fld id="{D058E337-87E1-4445-99F1-5699C7141946}" type="slidenum">
              <a:rPr lang="en-US" smtClean="0"/>
              <a:t>‹#›</a:t>
            </a:fld>
            <a:endParaRPr lang="en-US"/>
          </a:p>
        </p:txBody>
      </p:sp>
    </p:spTree>
    <p:extLst>
      <p:ext uri="{BB962C8B-B14F-4D97-AF65-F5344CB8AC3E}">
        <p14:creationId xmlns:p14="http://schemas.microsoft.com/office/powerpoint/2010/main" val="92140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7C92DD-DD2E-296B-CF15-2E7B4DFAD513}"/>
              </a:ext>
            </a:extLst>
          </p:cNvPr>
          <p:cNvSpPr>
            <a:spLocks noGrp="1"/>
          </p:cNvSpPr>
          <p:nvPr>
            <p:ph type="dt" sz="half" idx="10"/>
          </p:nvPr>
        </p:nvSpPr>
        <p:spPr/>
        <p:txBody>
          <a:bodyPr/>
          <a:lstStyle/>
          <a:p>
            <a:fld id="{7B5B99DC-BF88-4DE6-A919-C8CE8931EB84}" type="datetimeFigureOut">
              <a:rPr lang="en-US" smtClean="0"/>
              <a:t>2/6/2026</a:t>
            </a:fld>
            <a:endParaRPr lang="en-US"/>
          </a:p>
        </p:txBody>
      </p:sp>
      <p:sp>
        <p:nvSpPr>
          <p:cNvPr id="3" name="Footer Placeholder 2">
            <a:extLst>
              <a:ext uri="{FF2B5EF4-FFF2-40B4-BE49-F238E27FC236}">
                <a16:creationId xmlns:a16="http://schemas.microsoft.com/office/drawing/2014/main" id="{C84656A4-EF11-A61F-A2C7-E2DFFE241F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DF5B80-CC70-CCA6-828E-47877A3B480B}"/>
              </a:ext>
            </a:extLst>
          </p:cNvPr>
          <p:cNvSpPr>
            <a:spLocks noGrp="1"/>
          </p:cNvSpPr>
          <p:nvPr>
            <p:ph type="sldNum" sz="quarter" idx="12"/>
          </p:nvPr>
        </p:nvSpPr>
        <p:spPr/>
        <p:txBody>
          <a:bodyPr/>
          <a:lstStyle/>
          <a:p>
            <a:fld id="{D058E337-87E1-4445-99F1-5699C7141946}" type="slidenum">
              <a:rPr lang="en-US" smtClean="0"/>
              <a:t>‹#›</a:t>
            </a:fld>
            <a:endParaRPr lang="en-US"/>
          </a:p>
        </p:txBody>
      </p:sp>
    </p:spTree>
    <p:extLst>
      <p:ext uri="{BB962C8B-B14F-4D97-AF65-F5344CB8AC3E}">
        <p14:creationId xmlns:p14="http://schemas.microsoft.com/office/powerpoint/2010/main" val="1049871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261A9-B37E-FC44-3E1F-F6CE3C4A02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9005A1C-16A4-E280-87AA-2C35E2CBA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69180AD-0DC6-0136-4972-47389F8CDA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BB5CB3-DB22-A059-733B-EEDDFE8016C3}"/>
              </a:ext>
            </a:extLst>
          </p:cNvPr>
          <p:cNvSpPr>
            <a:spLocks noGrp="1"/>
          </p:cNvSpPr>
          <p:nvPr>
            <p:ph type="dt" sz="half" idx="10"/>
          </p:nvPr>
        </p:nvSpPr>
        <p:spPr/>
        <p:txBody>
          <a:bodyPr/>
          <a:lstStyle/>
          <a:p>
            <a:fld id="{7B5B99DC-BF88-4DE6-A919-C8CE8931EB84}" type="datetimeFigureOut">
              <a:rPr lang="en-US" smtClean="0"/>
              <a:t>2/6/2026</a:t>
            </a:fld>
            <a:endParaRPr lang="en-US"/>
          </a:p>
        </p:txBody>
      </p:sp>
      <p:sp>
        <p:nvSpPr>
          <p:cNvPr id="6" name="Footer Placeholder 5">
            <a:extLst>
              <a:ext uri="{FF2B5EF4-FFF2-40B4-BE49-F238E27FC236}">
                <a16:creationId xmlns:a16="http://schemas.microsoft.com/office/drawing/2014/main" id="{03C33A0C-4711-6791-CB06-2244690CE9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BE6FD8-180F-E07C-E9F9-3EE648E16D83}"/>
              </a:ext>
            </a:extLst>
          </p:cNvPr>
          <p:cNvSpPr>
            <a:spLocks noGrp="1"/>
          </p:cNvSpPr>
          <p:nvPr>
            <p:ph type="sldNum" sz="quarter" idx="12"/>
          </p:nvPr>
        </p:nvSpPr>
        <p:spPr/>
        <p:txBody>
          <a:bodyPr/>
          <a:lstStyle/>
          <a:p>
            <a:fld id="{D058E337-87E1-4445-99F1-5699C7141946}" type="slidenum">
              <a:rPr lang="en-US" smtClean="0"/>
              <a:t>‹#›</a:t>
            </a:fld>
            <a:endParaRPr lang="en-US"/>
          </a:p>
        </p:txBody>
      </p:sp>
    </p:spTree>
    <p:extLst>
      <p:ext uri="{BB962C8B-B14F-4D97-AF65-F5344CB8AC3E}">
        <p14:creationId xmlns:p14="http://schemas.microsoft.com/office/powerpoint/2010/main" val="3921375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6321F-3769-2856-47DB-46731085C3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65458D4-530C-90CC-5DA5-30D061F538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56454F-5936-D647-F6AB-1344BEA50F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36BF17-A0CE-DC36-39AE-71F11CC8B681}"/>
              </a:ext>
            </a:extLst>
          </p:cNvPr>
          <p:cNvSpPr>
            <a:spLocks noGrp="1"/>
          </p:cNvSpPr>
          <p:nvPr>
            <p:ph type="dt" sz="half" idx="10"/>
          </p:nvPr>
        </p:nvSpPr>
        <p:spPr/>
        <p:txBody>
          <a:bodyPr/>
          <a:lstStyle/>
          <a:p>
            <a:fld id="{7B5B99DC-BF88-4DE6-A919-C8CE8931EB84}" type="datetimeFigureOut">
              <a:rPr lang="en-US" smtClean="0"/>
              <a:t>2/6/2026</a:t>
            </a:fld>
            <a:endParaRPr lang="en-US"/>
          </a:p>
        </p:txBody>
      </p:sp>
      <p:sp>
        <p:nvSpPr>
          <p:cNvPr id="6" name="Footer Placeholder 5">
            <a:extLst>
              <a:ext uri="{FF2B5EF4-FFF2-40B4-BE49-F238E27FC236}">
                <a16:creationId xmlns:a16="http://schemas.microsoft.com/office/drawing/2014/main" id="{35E76591-935B-E0B1-6CDC-1B52A408C9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E29289-97B2-C48E-E4D3-02B23C0B4C61}"/>
              </a:ext>
            </a:extLst>
          </p:cNvPr>
          <p:cNvSpPr>
            <a:spLocks noGrp="1"/>
          </p:cNvSpPr>
          <p:nvPr>
            <p:ph type="sldNum" sz="quarter" idx="12"/>
          </p:nvPr>
        </p:nvSpPr>
        <p:spPr/>
        <p:txBody>
          <a:bodyPr/>
          <a:lstStyle/>
          <a:p>
            <a:fld id="{D058E337-87E1-4445-99F1-5699C7141946}" type="slidenum">
              <a:rPr lang="en-US" smtClean="0"/>
              <a:t>‹#›</a:t>
            </a:fld>
            <a:endParaRPr lang="en-US"/>
          </a:p>
        </p:txBody>
      </p:sp>
    </p:spTree>
    <p:extLst>
      <p:ext uri="{BB962C8B-B14F-4D97-AF65-F5344CB8AC3E}">
        <p14:creationId xmlns:p14="http://schemas.microsoft.com/office/powerpoint/2010/main" val="1215468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98220-C2CE-0E47-F6BC-E1BB07497CE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DFDFDE1-7A52-8332-363F-BC8EBD238E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FE022B-981E-0729-BF8B-71C4B75A03F6}"/>
              </a:ext>
            </a:extLst>
          </p:cNvPr>
          <p:cNvSpPr>
            <a:spLocks noGrp="1"/>
          </p:cNvSpPr>
          <p:nvPr>
            <p:ph type="dt" sz="half" idx="10"/>
          </p:nvPr>
        </p:nvSpPr>
        <p:spPr/>
        <p:txBody>
          <a:bodyPr/>
          <a:lstStyle/>
          <a:p>
            <a:fld id="{7B5B99DC-BF88-4DE6-A919-C8CE8931EB84}" type="datetimeFigureOut">
              <a:rPr lang="en-US" smtClean="0"/>
              <a:t>2/6/2026</a:t>
            </a:fld>
            <a:endParaRPr lang="en-US"/>
          </a:p>
        </p:txBody>
      </p:sp>
      <p:sp>
        <p:nvSpPr>
          <p:cNvPr id="5" name="Footer Placeholder 4">
            <a:extLst>
              <a:ext uri="{FF2B5EF4-FFF2-40B4-BE49-F238E27FC236}">
                <a16:creationId xmlns:a16="http://schemas.microsoft.com/office/drawing/2014/main" id="{5E8D0270-B943-A932-68FF-72D1C6B960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93ED53-9584-AF9F-9CF4-971CF88A48E9}"/>
              </a:ext>
            </a:extLst>
          </p:cNvPr>
          <p:cNvSpPr>
            <a:spLocks noGrp="1"/>
          </p:cNvSpPr>
          <p:nvPr>
            <p:ph type="sldNum" sz="quarter" idx="12"/>
          </p:nvPr>
        </p:nvSpPr>
        <p:spPr/>
        <p:txBody>
          <a:bodyPr/>
          <a:lstStyle/>
          <a:p>
            <a:fld id="{D058E337-87E1-4445-99F1-5699C7141946}" type="slidenum">
              <a:rPr lang="en-US" smtClean="0"/>
              <a:t>‹#›</a:t>
            </a:fld>
            <a:endParaRPr lang="en-US"/>
          </a:p>
        </p:txBody>
      </p:sp>
    </p:spTree>
    <p:extLst>
      <p:ext uri="{BB962C8B-B14F-4D97-AF65-F5344CB8AC3E}">
        <p14:creationId xmlns:p14="http://schemas.microsoft.com/office/powerpoint/2010/main" val="3750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3808B9-5B9D-E6E1-5206-A87536EC495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47F4781-EFBA-F794-6CF2-4B8ABBA126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F0D87A-B715-3C1E-24D2-8A5C4E125730}"/>
              </a:ext>
            </a:extLst>
          </p:cNvPr>
          <p:cNvSpPr>
            <a:spLocks noGrp="1"/>
          </p:cNvSpPr>
          <p:nvPr>
            <p:ph type="dt" sz="half" idx="10"/>
          </p:nvPr>
        </p:nvSpPr>
        <p:spPr/>
        <p:txBody>
          <a:bodyPr/>
          <a:lstStyle/>
          <a:p>
            <a:fld id="{7B5B99DC-BF88-4DE6-A919-C8CE8931EB84}" type="datetimeFigureOut">
              <a:rPr lang="en-US" smtClean="0"/>
              <a:t>2/6/2026</a:t>
            </a:fld>
            <a:endParaRPr lang="en-US"/>
          </a:p>
        </p:txBody>
      </p:sp>
      <p:sp>
        <p:nvSpPr>
          <p:cNvPr id="5" name="Footer Placeholder 4">
            <a:extLst>
              <a:ext uri="{FF2B5EF4-FFF2-40B4-BE49-F238E27FC236}">
                <a16:creationId xmlns:a16="http://schemas.microsoft.com/office/drawing/2014/main" id="{571571AD-DAC1-5F3A-477D-3933C8BE33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5DFAA1-C53B-3D1E-348F-16FFE1F6ABC8}"/>
              </a:ext>
            </a:extLst>
          </p:cNvPr>
          <p:cNvSpPr>
            <a:spLocks noGrp="1"/>
          </p:cNvSpPr>
          <p:nvPr>
            <p:ph type="sldNum" sz="quarter" idx="12"/>
          </p:nvPr>
        </p:nvSpPr>
        <p:spPr/>
        <p:txBody>
          <a:bodyPr/>
          <a:lstStyle/>
          <a:p>
            <a:fld id="{D058E337-87E1-4445-99F1-5699C7141946}" type="slidenum">
              <a:rPr lang="en-US" smtClean="0"/>
              <a:t>‹#›</a:t>
            </a:fld>
            <a:endParaRPr lang="en-US"/>
          </a:p>
        </p:txBody>
      </p:sp>
    </p:spTree>
    <p:extLst>
      <p:ext uri="{BB962C8B-B14F-4D97-AF65-F5344CB8AC3E}">
        <p14:creationId xmlns:p14="http://schemas.microsoft.com/office/powerpoint/2010/main" val="40679210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ide 1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C1902C-75F7-534A-DA79-C070E1D034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609598" y="4366830"/>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latin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latin typeface="Amazon Ember Display" panose="020F0603020204020204" pitchFamily="34" charset="0"/>
              </a:defRPr>
            </a:lvl1pPr>
          </a:lstStyle>
          <a:p>
            <a:pPr lvl="0"/>
            <a:r>
              <a:rPr lang="en-US" dirty="0"/>
              <a:t>Speaker name (pronouns)</a:t>
            </a:r>
          </a:p>
        </p:txBody>
      </p:sp>
      <p:sp>
        <p:nvSpPr>
          <p:cNvPr id="8" name="Text Placeholder 7">
            <a:extLst>
              <a:ext uri="{FF2B5EF4-FFF2-40B4-BE49-F238E27FC236}">
                <a16:creationId xmlns:a16="http://schemas.microsoft.com/office/drawing/2014/main" id="{B54CE4ED-4096-479A-AA41-A2286E854BFC}"/>
              </a:ext>
            </a:extLst>
          </p:cNvPr>
          <p:cNvSpPr>
            <a:spLocks noGrp="1"/>
          </p:cNvSpPr>
          <p:nvPr>
            <p:ph type="body" sz="quarter" idx="10" hasCustomPrompt="1"/>
          </p:nvPr>
        </p:nvSpPr>
        <p:spPr>
          <a:xfrm>
            <a:off x="609598" y="332014"/>
            <a:ext cx="6477002" cy="230832"/>
          </a:xfrm>
        </p:spPr>
        <p:txBody>
          <a:bodyPr wrap="square"/>
          <a:lstStyle>
            <a:lvl1pPr marL="0" indent="0">
              <a:spcAft>
                <a:spcPts val="0"/>
              </a:spcAft>
              <a:buNone/>
              <a:defRPr sz="10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 if required</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b="0" i="0">
                <a:solidFill>
                  <a:schemeClr val="tx2"/>
                </a:solidFill>
                <a:latin typeface="Amazon Ember Display" panose="020F0603020204020204" pitchFamily="34" charset="0"/>
              </a:defRPr>
            </a:lvl1pPr>
          </a:lstStyle>
          <a:p>
            <a:pPr lvl="0"/>
            <a:r>
              <a:rPr lang="en-US" dirty="0"/>
              <a:t>Speaker job title</a:t>
            </a:r>
            <a:br>
              <a:rPr lang="en-US" dirty="0"/>
            </a:br>
            <a:r>
              <a:rPr lang="en-US" dirty="0"/>
              <a:t>Speaker company</a:t>
            </a:r>
          </a:p>
        </p:txBody>
      </p:sp>
      <p:sp>
        <p:nvSpPr>
          <p:cNvPr id="11" name="TextBox 10">
            <a:extLst>
              <a:ext uri="{FF2B5EF4-FFF2-40B4-BE49-F238E27FC236}">
                <a16:creationId xmlns:a16="http://schemas.microsoft.com/office/drawing/2014/main" id="{F9CE4815-926B-43B6-82AB-971B1A89CEF6}"/>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7" name="Picture 6">
            <a:extLst>
              <a:ext uri="{FF2B5EF4-FFF2-40B4-BE49-F238E27FC236}">
                <a16:creationId xmlns:a16="http://schemas.microsoft.com/office/drawing/2014/main" id="{A3E43EBB-89F7-CE68-C5FA-E5E366904B2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Tree>
    <p:extLst>
      <p:ext uri="{BB962C8B-B14F-4D97-AF65-F5344CB8AC3E}">
        <p14:creationId xmlns:p14="http://schemas.microsoft.com/office/powerpoint/2010/main" val="2297238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Slid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D9356ED-54C0-AD03-2028-FEFC88C137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714500"/>
            <a:ext cx="10972800" cy="3293209"/>
          </a:xfrm>
        </p:spPr>
        <p:txBody>
          <a:bodyPr/>
          <a:lstStyle>
            <a:lvl1pPr marL="0" indent="0">
              <a:spcAft>
                <a:spcPts val="3000"/>
              </a:spcAft>
              <a:buNone/>
              <a:defRPr sz="2400" b="0" i="0">
                <a:latin typeface="Amazon Ember Display" panose="020F0603020204020204" pitchFamily="34" charset="0"/>
              </a:defRPr>
            </a:lvl1pPr>
            <a:lvl2pPr marL="0" indent="0">
              <a:spcAft>
                <a:spcPts val="3000"/>
              </a:spcAft>
              <a:buNone/>
              <a:defRPr sz="2400" b="0" i="0">
                <a:latin typeface="Amazon Ember Display" panose="020F0603020204020204" pitchFamily="34" charset="0"/>
              </a:defRPr>
            </a:lvl2pPr>
            <a:lvl3pPr marL="0" indent="0">
              <a:spcAft>
                <a:spcPts val="3000"/>
              </a:spcAft>
              <a:buNone/>
              <a:defRPr sz="2400" b="0" i="0">
                <a:latin typeface="Amazon Ember Display" panose="020F0603020204020204" pitchFamily="34" charset="0"/>
              </a:defRPr>
            </a:lvl3pPr>
            <a:lvl4pPr marL="0" indent="0">
              <a:spcAft>
                <a:spcPts val="3000"/>
              </a:spcAft>
              <a:buNone/>
              <a:defRPr sz="2400" b="0" i="0">
                <a:latin typeface="Amazon Ember Display" panose="020F0603020204020204" pitchFamily="34" charset="0"/>
              </a:defRPr>
            </a:lvl4pPr>
            <a:lvl5pPr marL="0" indent="0">
              <a:spcAft>
                <a:spcPts val="3000"/>
              </a:spcAft>
              <a:buNone/>
              <a:defRPr sz="2400" b="0" i="0">
                <a:latin typeface="Amazon Ember Display" panose="020F0603020204020204" pitchFamily="34" charset="0"/>
              </a:defRPr>
            </a:lvl5pPr>
          </a:lstStyle>
          <a:p>
            <a:pPr lvl="0"/>
            <a:r>
              <a:rPr lang="en-US" dirty="0"/>
              <a:t>Enter high-level agenda items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lvl1pPr>
              <a:defRPr b="0" i="0">
                <a:latin typeface="Amazon Ember Display" panose="020F0603020204020204" pitchFamily="34" charset="0"/>
              </a:defRPr>
            </a:lvl1pPr>
          </a:lstStyle>
          <a:p>
            <a:fld id="{06736434-7E81-994B-854B-1BF33F160A0D}" type="datetime1">
              <a:rPr lang="en-US" smtClean="0"/>
              <a:pPr/>
              <a:t>2/6/2026</a:t>
            </a:fld>
            <a:endParaRPr lang="en-US" dirty="0"/>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2" name="Title 1">
            <a:extLst>
              <a:ext uri="{FF2B5EF4-FFF2-40B4-BE49-F238E27FC236}">
                <a16:creationId xmlns:a16="http://schemas.microsoft.com/office/drawing/2014/main" id="{E9F3380B-4C2C-4CFA-5735-2689C62E6B51}"/>
              </a:ext>
            </a:extLst>
          </p:cNvPr>
          <p:cNvSpPr>
            <a:spLocks noGrp="1"/>
          </p:cNvSpPr>
          <p:nvPr>
            <p:ph type="title" hasCustomPrompt="1"/>
          </p:nvPr>
        </p:nvSpPr>
        <p:spPr>
          <a:xfrm>
            <a:off x="525376" y="914401"/>
            <a:ext cx="10972800" cy="5909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Agenda layout</a:t>
            </a:r>
          </a:p>
        </p:txBody>
      </p:sp>
    </p:spTree>
    <p:extLst>
      <p:ext uri="{BB962C8B-B14F-4D97-AF65-F5344CB8AC3E}">
        <p14:creationId xmlns:p14="http://schemas.microsoft.com/office/powerpoint/2010/main" val="1197815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Quote Gradient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BC6D9BD-DEEA-4A7B-C871-4536799F03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lIns="91440" anchor="b" anchorCtr="0"/>
          <a:lstStyle>
            <a:lvl1pPr>
              <a:defRPr sz="4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369332"/>
          </a:xfrm>
        </p:spPr>
        <p:txBody>
          <a:bodyPr/>
          <a:lstStyle>
            <a:lvl1pPr marL="0" indent="0">
              <a:spcAft>
                <a:spcPts val="0"/>
              </a:spcAft>
              <a:buNone/>
              <a:defRPr sz="2000" b="0" i="0">
                <a:latin typeface="Amazon Ember Display" panose="020F0603020204020204" pitchFamily="34" charset="0"/>
              </a:defRPr>
            </a:lvl1pPr>
          </a:lstStyle>
          <a:p>
            <a:pPr lvl="0"/>
            <a:r>
              <a:rPr lang="en-US" dirty="0"/>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13932"/>
          </a:xfrm>
        </p:spPr>
        <p:txBody>
          <a:bodyPr/>
          <a:lstStyle>
            <a:lvl1pPr marL="0" indent="0">
              <a:buNone/>
              <a:defRPr sz="1600" b="0" i="0">
                <a:latin typeface="Amazon Ember Display" panose="020F0603020204020204" pitchFamily="34" charset="0"/>
              </a:defRPr>
            </a:lvl1pPr>
          </a:lstStyle>
          <a:p>
            <a:pPr lvl="0"/>
            <a:r>
              <a:rPr lang="en-US" dirty="0"/>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lvl1pPr>
              <a:defRPr b="0" i="0">
                <a:latin typeface="Amazon Ember Display" panose="020F0603020204020204" pitchFamily="34" charset="0"/>
              </a:defRPr>
            </a:lvl1pPr>
          </a:lstStyle>
          <a:p>
            <a:fld id="{82BEA218-CD6F-B44E-B26C-C64BF244E0F0}" type="datetime1">
              <a:rPr lang="en-US" smtClean="0"/>
              <a:pPr/>
              <a:t>2/6/2026</a:t>
            </a:fld>
            <a:endParaRPr lang="en-US" dirty="0"/>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12" name="TextBox 11">
            <a:extLst>
              <a:ext uri="{FF2B5EF4-FFF2-40B4-BE49-F238E27FC236}">
                <a16:creationId xmlns:a16="http://schemas.microsoft.com/office/drawing/2014/main" id="{59FA2AE2-2071-6FBA-C0DF-DC91D9C45E81}"/>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13" name="Picture 12">
            <a:extLst>
              <a:ext uri="{FF2B5EF4-FFF2-40B4-BE49-F238E27FC236}">
                <a16:creationId xmlns:a16="http://schemas.microsoft.com/office/drawing/2014/main" id="{40CE3C06-636B-539A-57AF-295DAA75FF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pic>
        <p:nvPicPr>
          <p:cNvPr id="16" name="Picture 15">
            <a:extLst>
              <a:ext uri="{FF2B5EF4-FFF2-40B4-BE49-F238E27FC236}">
                <a16:creationId xmlns:a16="http://schemas.microsoft.com/office/drawing/2014/main" id="{C6B17F81-88A9-5971-99D1-BBD6A8A8BDED}"/>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5928" y="1942480"/>
            <a:ext cx="398998" cy="338710"/>
          </a:xfrm>
          <a:prstGeom prst="rect">
            <a:avLst/>
          </a:prstGeom>
        </p:spPr>
      </p:pic>
    </p:spTree>
    <p:extLst>
      <p:ext uri="{BB962C8B-B14F-4D97-AF65-F5344CB8AC3E}">
        <p14:creationId xmlns:p14="http://schemas.microsoft.com/office/powerpoint/2010/main" val="3802308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p15:clr>
            <a:srgbClr val="FBAE40"/>
          </p15:clr>
        </p15:guide>
        <p15:guide id="2" orient="horz" pos="25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3F42D78-4FDD-B0C9-152C-CDB935C38171}"/>
              </a:ext>
            </a:extLst>
          </p:cNvPr>
          <p:cNvPicPr>
            <a:picLocks noChangeAspect="1"/>
          </p:cNvPicPr>
          <p:nvPr userDrawn="1"/>
        </p:nvPicPr>
        <p:blipFill>
          <a:blip r:embed="rId2">
            <a:extLst>
              <a:ext uri="{28A0092B-C50C-407E-A947-70E740481C1C}">
                <a14:useLocalDpi xmlns:a14="http://schemas.microsoft.com/office/drawing/2010/main" val="0"/>
              </a:ext>
            </a:extLst>
          </a:blip>
          <a:srcRect l="7" t="21169" r="21177"/>
          <a:stretch>
            <a:fillRect/>
          </a:stretch>
        </p:blipFill>
        <p:spPr>
          <a:xfrm>
            <a:off x="0" y="0"/>
            <a:ext cx="12189743" cy="6858000"/>
          </a:xfrm>
          <a:prstGeom prst="rect">
            <a:avLst/>
          </a:prstGeom>
        </p:spPr>
      </p:pic>
      <p:sp>
        <p:nvSpPr>
          <p:cNvPr id="7" name="TextBox 6">
            <a:extLst>
              <a:ext uri="{FF2B5EF4-FFF2-40B4-BE49-F238E27FC236}">
                <a16:creationId xmlns:a16="http://schemas.microsoft.com/office/drawing/2014/main" id="{AE485F52-4DA6-486C-5B7A-DEFA4B8CE82B}"/>
              </a:ext>
            </a:extLst>
          </p:cNvPr>
          <p:cNvSpPr txBox="1"/>
          <p:nvPr userDrawn="1"/>
        </p:nvSpPr>
        <p:spPr>
          <a:xfrm>
            <a:off x="609600" y="6140529"/>
            <a:ext cx="5031827" cy="123111"/>
          </a:xfrm>
          <a:prstGeom prst="rect">
            <a:avLst/>
          </a:prstGeom>
          <a:noFill/>
        </p:spPr>
        <p:txBody>
          <a:bodyPr wrap="none" lIns="0" tIns="0" rIns="0" bIns="0" rtlCol="0" anchor="b">
            <a:spAutoFit/>
          </a:bodyPr>
          <a:lstStyle/>
          <a:p>
            <a:r>
              <a:rPr lang="en-US" sz="80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2025, Amazon Web Services, Inc. or its affiliates. All rights reserved. Amazon Confidential and Trademark.</a:t>
            </a:r>
          </a:p>
        </p:txBody>
      </p:sp>
      <p:pic>
        <p:nvPicPr>
          <p:cNvPr id="8" name="Picture 7">
            <a:extLst>
              <a:ext uri="{FF2B5EF4-FFF2-40B4-BE49-F238E27FC236}">
                <a16:creationId xmlns:a16="http://schemas.microsoft.com/office/drawing/2014/main" id="{5AB77471-B5A9-58D9-D66D-4776651164BB}"/>
              </a:ext>
            </a:extLst>
          </p:cNvPr>
          <p:cNvPicPr>
            <a:picLocks noChangeAspect="1"/>
          </p:cNvPicPr>
          <p:nvPr userDrawn="1"/>
        </p:nvPicPr>
        <p:blipFill>
          <a:blip r:embed="rId3">
            <a:extLst>
              <a:ext uri="{28A0092B-C50C-407E-A947-70E740481C1C}">
                <a14:useLocalDpi xmlns:a14="http://schemas.microsoft.com/office/drawing/2010/main"/>
              </a:ext>
            </a:extLst>
          </a:blip>
          <a:srcRect/>
          <a:stretch/>
        </p:blipFill>
        <p:spPr>
          <a:xfrm>
            <a:off x="609600" y="594360"/>
            <a:ext cx="990109" cy="59436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4078357"/>
            <a:ext cx="8489506" cy="1107996"/>
          </a:xfrm>
          <a:prstGeom prst="rect">
            <a:avLst/>
          </a:prstGeom>
        </p:spPr>
        <p:txBody>
          <a:bodyPr wrap="square" lIns="0" tIns="0" rIns="0" bIns="0" anchor="t" anchorCtr="0">
            <a:spAutoFit/>
          </a:bodyPr>
          <a:lstStyle>
            <a:lvl1pPr>
              <a:lnSpc>
                <a:spcPct val="100000"/>
              </a:lnSpc>
              <a:defRPr sz="7200" b="0"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Title Slide</a:t>
            </a:r>
          </a:p>
        </p:txBody>
      </p:sp>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lvl1pPr>
              <a:defRPr b="0" i="0">
                <a:latin typeface="Amazon Ember Display" panose="020F0603020204020204" pitchFamily="34" charset="0"/>
              </a:defRPr>
            </a:lvl1pPr>
          </a:lstStyle>
          <a:p>
            <a:fld id="{9600D62F-E191-C046-B6EA-E79BE99AA24A}" type="datetime1">
              <a:rPr lang="en-US" smtClean="0"/>
              <a:pPr/>
              <a:t>2/6/2026</a:t>
            </a:fld>
            <a:endParaRPr lang="en-US" dirty="0"/>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10" name="Rounded Rectangle 9">
            <a:extLst>
              <a:ext uri="{FF2B5EF4-FFF2-40B4-BE49-F238E27FC236}">
                <a16:creationId xmlns:a16="http://schemas.microsoft.com/office/drawing/2014/main" id="{3E278E90-F7AB-0663-366E-5B0C4DCC3B88}"/>
              </a:ext>
            </a:extLst>
          </p:cNvPr>
          <p:cNvSpPr/>
          <p:nvPr userDrawn="1"/>
        </p:nvSpPr>
        <p:spPr>
          <a:xfrm>
            <a:off x="609600" y="3606513"/>
            <a:ext cx="2093052" cy="23836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rtlCol="0" anchor="ctr">
            <a:spAutoFit/>
          </a:bodyPr>
          <a:lstStyle/>
          <a:p>
            <a:pPr algn="ctr"/>
            <a:r>
              <a:rPr lang="en-US" sz="800" spc="300" dirty="0">
                <a:solidFill>
                  <a:schemeClr val="tx1"/>
                </a:solidFill>
                <a:latin typeface="Amazon Ember Mono" panose="020B0509020204020204" pitchFamily="49" charset="0"/>
                <a:ea typeface="Amazon Ember Mono" panose="020B0509020204020204" pitchFamily="49" charset="0"/>
                <a:cs typeface="Amazon Ember Mono" panose="020B0509020204020204" pitchFamily="49" charset="0"/>
              </a:rPr>
              <a:t>AWS PARTNER NETWORK</a:t>
            </a:r>
          </a:p>
        </p:txBody>
      </p:sp>
    </p:spTree>
    <p:extLst>
      <p:ext uri="{BB962C8B-B14F-4D97-AF65-F5344CB8AC3E}">
        <p14:creationId xmlns:p14="http://schemas.microsoft.com/office/powerpoint/2010/main" val="1869267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594360" y="832723"/>
            <a:ext cx="11003280" cy="646331"/>
          </a:xfrm>
          <a:prstGeom prst="rect">
            <a:avLst/>
          </a:prstGeom>
        </p:spPr>
        <p:txBody>
          <a:bodyPr wrap="square" lIns="0" tIns="91440" rIns="0" bIns="0" anchor="t" anchorCtr="0">
            <a:spAutoFit/>
          </a:bodyPr>
          <a:lstStyle>
            <a:lvl1pPr>
              <a:lnSpc>
                <a:spcPct val="100000"/>
              </a:lnSpc>
              <a:defRPr sz="3600" b="0" i="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Title only layout</a:t>
            </a:r>
          </a:p>
        </p:txBody>
      </p:sp>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lvl1pPr>
              <a:defRPr b="0" i="0">
                <a:latin typeface="Amazon Ember Display" panose="020F0603020204020204" pitchFamily="34" charset="0"/>
              </a:defRPr>
            </a:lvl1pPr>
          </a:lstStyle>
          <a:p>
            <a:fld id="{9600D62F-E191-C046-B6EA-E79BE99AA24A}" type="datetime1">
              <a:rPr lang="en-US" smtClean="0"/>
              <a:pPr/>
              <a:t>2/6/2026</a:t>
            </a:fld>
            <a:endParaRPr lang="en-US" dirty="0"/>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a:xfrm>
            <a:off x="8854440" y="6289500"/>
            <a:ext cx="2743200" cy="365125"/>
          </a:xfrm>
        </p:spPr>
        <p:txBody>
          <a:bodyPr lIns="0" rIns="0"/>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7" name="Rounded Rectangle 6">
            <a:extLst>
              <a:ext uri="{FF2B5EF4-FFF2-40B4-BE49-F238E27FC236}">
                <a16:creationId xmlns:a16="http://schemas.microsoft.com/office/drawing/2014/main" id="{3EE6AF68-453D-F645-32C4-D232ED95B4A5}"/>
              </a:ext>
            </a:extLst>
          </p:cNvPr>
          <p:cNvSpPr/>
          <p:nvPr userDrawn="1"/>
        </p:nvSpPr>
        <p:spPr>
          <a:xfrm>
            <a:off x="594360" y="594360"/>
            <a:ext cx="2093053" cy="23836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rtlCol="0" anchor="ctr">
            <a:spAutoFit/>
          </a:bodyPr>
          <a:lstStyle/>
          <a:p>
            <a:pPr algn="ctr"/>
            <a:r>
              <a:rPr lang="en-US" sz="800" spc="300" dirty="0">
                <a:solidFill>
                  <a:schemeClr val="tx1"/>
                </a:solidFill>
                <a:latin typeface="Amazon Ember Mono" panose="020B0509020204020204" pitchFamily="49" charset="0"/>
                <a:ea typeface="Amazon Ember Mono" panose="020B0509020204020204" pitchFamily="49" charset="0"/>
                <a:cs typeface="Amazon Ember Mono" panose="020B0509020204020204" pitchFamily="49" charset="0"/>
              </a:rPr>
              <a:t>CO-SELLING WITH AWS</a:t>
            </a:r>
          </a:p>
        </p:txBody>
      </p:sp>
    </p:spTree>
    <p:extLst>
      <p:ext uri="{BB962C8B-B14F-4D97-AF65-F5344CB8AC3E}">
        <p14:creationId xmlns:p14="http://schemas.microsoft.com/office/powerpoint/2010/main" val="396913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Divider 1">
    <p:bg>
      <p:bgPr>
        <a:solidFill>
          <a:schemeClr val="bg2"/>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C355493-513F-F558-5186-94F001931DF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594360" y="3132683"/>
            <a:ext cx="11003280" cy="830997"/>
          </a:xfrm>
          <a:prstGeom prst="rect">
            <a:avLst/>
          </a:prstGeom>
        </p:spPr>
        <p:txBody>
          <a:bodyPr wrap="square" lIns="0" tIns="91440" rIns="0" bIns="0" anchor="t" anchorCtr="0">
            <a:spAutoFit/>
          </a:bodyPr>
          <a:lstStyle>
            <a:lvl1pPr>
              <a:lnSpc>
                <a:spcPct val="100000"/>
              </a:lnSpc>
              <a:defRPr sz="4800" b="0" i="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Title only layout</a:t>
            </a:r>
          </a:p>
        </p:txBody>
      </p:sp>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lvl1pPr>
              <a:defRPr b="0" i="0">
                <a:latin typeface="Amazon Ember Display" panose="020F0603020204020204" pitchFamily="34" charset="0"/>
              </a:defRPr>
            </a:lvl1pPr>
          </a:lstStyle>
          <a:p>
            <a:fld id="{9600D62F-E191-C046-B6EA-E79BE99AA24A}" type="datetime1">
              <a:rPr lang="en-US" smtClean="0"/>
              <a:pPr/>
              <a:t>2/6/2026</a:t>
            </a:fld>
            <a:endParaRPr lang="en-US" dirty="0"/>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a:xfrm>
            <a:off x="8854440" y="6289500"/>
            <a:ext cx="2743200" cy="365125"/>
          </a:xfrm>
        </p:spPr>
        <p:txBody>
          <a:bodyPr lIns="0" rIns="0"/>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7" name="Rounded Rectangle 6">
            <a:extLst>
              <a:ext uri="{FF2B5EF4-FFF2-40B4-BE49-F238E27FC236}">
                <a16:creationId xmlns:a16="http://schemas.microsoft.com/office/drawing/2014/main" id="{3EE6AF68-453D-F645-32C4-D232ED95B4A5}"/>
              </a:ext>
            </a:extLst>
          </p:cNvPr>
          <p:cNvSpPr/>
          <p:nvPr userDrawn="1"/>
        </p:nvSpPr>
        <p:spPr>
          <a:xfrm>
            <a:off x="594360" y="2894320"/>
            <a:ext cx="2093053" cy="23836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rtlCol="0" anchor="ctr">
            <a:spAutoFit/>
          </a:bodyPr>
          <a:lstStyle/>
          <a:p>
            <a:pPr algn="ctr"/>
            <a:r>
              <a:rPr lang="en-US" sz="800" spc="300" dirty="0">
                <a:solidFill>
                  <a:schemeClr val="tx1"/>
                </a:solidFill>
                <a:latin typeface="Amazon Ember Mono" panose="020B0509020204020204" pitchFamily="49" charset="0"/>
                <a:ea typeface="Amazon Ember Mono" panose="020B0509020204020204" pitchFamily="49" charset="0"/>
                <a:cs typeface="Amazon Ember Mono" panose="020B0509020204020204" pitchFamily="49" charset="0"/>
              </a:rPr>
              <a:t>CO-SELLING WITH AWS</a:t>
            </a:r>
          </a:p>
        </p:txBody>
      </p:sp>
      <p:sp>
        <p:nvSpPr>
          <p:cNvPr id="12" name="TextBox 11">
            <a:extLst>
              <a:ext uri="{FF2B5EF4-FFF2-40B4-BE49-F238E27FC236}">
                <a16:creationId xmlns:a16="http://schemas.microsoft.com/office/drawing/2014/main" id="{41958E35-0BAF-5B71-DA78-19BB455CCD47}"/>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13" name="Picture 12">
            <a:extLst>
              <a:ext uri="{FF2B5EF4-FFF2-40B4-BE49-F238E27FC236}">
                <a16:creationId xmlns:a16="http://schemas.microsoft.com/office/drawing/2014/main" id="{00CF0FBD-8BF0-D98F-EECD-E128D29C2004}"/>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4283099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Divider 2">
    <p:bg>
      <p:bgPr>
        <a:solidFill>
          <a:schemeClr val="bg2"/>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62D6F72D-27E0-604E-D3CA-0242D560239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
            <a:ext cx="12192000" cy="685800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594360" y="3132683"/>
            <a:ext cx="11003280" cy="830997"/>
          </a:xfrm>
          <a:prstGeom prst="rect">
            <a:avLst/>
          </a:prstGeom>
        </p:spPr>
        <p:txBody>
          <a:bodyPr wrap="square" lIns="0" tIns="91440" rIns="0" bIns="0" anchor="t" anchorCtr="0">
            <a:spAutoFit/>
          </a:bodyPr>
          <a:lstStyle>
            <a:lvl1pPr>
              <a:lnSpc>
                <a:spcPct val="100000"/>
              </a:lnSpc>
              <a:defRPr sz="4800" b="0" i="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Title only layout</a:t>
            </a:r>
          </a:p>
        </p:txBody>
      </p:sp>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lvl1pPr>
              <a:defRPr b="0" i="0">
                <a:latin typeface="Amazon Ember Display" panose="020F0603020204020204" pitchFamily="34" charset="0"/>
              </a:defRPr>
            </a:lvl1pPr>
          </a:lstStyle>
          <a:p>
            <a:fld id="{9600D62F-E191-C046-B6EA-E79BE99AA24A}" type="datetime1">
              <a:rPr lang="en-US" smtClean="0"/>
              <a:pPr/>
              <a:t>2/6/2026</a:t>
            </a:fld>
            <a:endParaRPr lang="en-US" dirty="0"/>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a:xfrm>
            <a:off x="8854440" y="6289500"/>
            <a:ext cx="2743200" cy="365125"/>
          </a:xfrm>
        </p:spPr>
        <p:txBody>
          <a:bodyPr lIns="0" rIns="0"/>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7" name="Rounded Rectangle 6">
            <a:extLst>
              <a:ext uri="{FF2B5EF4-FFF2-40B4-BE49-F238E27FC236}">
                <a16:creationId xmlns:a16="http://schemas.microsoft.com/office/drawing/2014/main" id="{3EE6AF68-453D-F645-32C4-D232ED95B4A5}"/>
              </a:ext>
            </a:extLst>
          </p:cNvPr>
          <p:cNvSpPr/>
          <p:nvPr userDrawn="1"/>
        </p:nvSpPr>
        <p:spPr>
          <a:xfrm>
            <a:off x="594360" y="2894320"/>
            <a:ext cx="2093053" cy="23836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rtlCol="0" anchor="ctr">
            <a:spAutoFit/>
          </a:bodyPr>
          <a:lstStyle/>
          <a:p>
            <a:pPr algn="ctr"/>
            <a:r>
              <a:rPr lang="en-US" sz="800" spc="300" dirty="0">
                <a:solidFill>
                  <a:schemeClr val="tx1"/>
                </a:solidFill>
                <a:latin typeface="Amazon Ember Mono" panose="020B0509020204020204" pitchFamily="49" charset="0"/>
                <a:ea typeface="Amazon Ember Mono" panose="020B0509020204020204" pitchFamily="49" charset="0"/>
                <a:cs typeface="Amazon Ember Mono" panose="020B0509020204020204" pitchFamily="49" charset="0"/>
              </a:rPr>
              <a:t>CO-SELLING WITH AWS</a:t>
            </a:r>
          </a:p>
        </p:txBody>
      </p:sp>
      <p:sp>
        <p:nvSpPr>
          <p:cNvPr id="12" name="TextBox 11">
            <a:extLst>
              <a:ext uri="{FF2B5EF4-FFF2-40B4-BE49-F238E27FC236}">
                <a16:creationId xmlns:a16="http://schemas.microsoft.com/office/drawing/2014/main" id="{41958E35-0BAF-5B71-DA78-19BB455CCD47}"/>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13" name="Picture 12">
            <a:extLst>
              <a:ext uri="{FF2B5EF4-FFF2-40B4-BE49-F238E27FC236}">
                <a16:creationId xmlns:a16="http://schemas.microsoft.com/office/drawing/2014/main" id="{00CF0FBD-8BF0-D98F-EECD-E128D29C2004}"/>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3502796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Divider 3">
    <p:bg>
      <p:bgPr>
        <a:solidFill>
          <a:schemeClr val="bg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D2E8D8F-C654-5A06-9813-21EA3A47DD48}"/>
              </a:ext>
            </a:extLst>
          </p:cNvPr>
          <p:cNvPicPr>
            <a:picLocks noChangeAspect="1"/>
          </p:cNvPicPr>
          <p:nvPr userDrawn="1"/>
        </p:nvPicPr>
        <p:blipFill>
          <a:blip r:embed="rId2">
            <a:extLst>
              <a:ext uri="{28A0092B-C50C-407E-A947-70E740481C1C}">
                <a14:useLocalDpi xmlns:a14="http://schemas.microsoft.com/office/drawing/2010/main" val="0"/>
              </a:ext>
            </a:extLst>
          </a:blip>
          <a:srcRect l="-1" t="28595" r="47038" b="1844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594360" y="3132683"/>
            <a:ext cx="11003280" cy="830997"/>
          </a:xfrm>
          <a:prstGeom prst="rect">
            <a:avLst/>
          </a:prstGeom>
        </p:spPr>
        <p:txBody>
          <a:bodyPr wrap="square" lIns="0" tIns="91440" rIns="0" bIns="0" anchor="t" anchorCtr="0">
            <a:spAutoFit/>
          </a:bodyPr>
          <a:lstStyle>
            <a:lvl1pPr>
              <a:lnSpc>
                <a:spcPct val="100000"/>
              </a:lnSpc>
              <a:defRPr sz="4800" b="0" i="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Title only layout</a:t>
            </a:r>
          </a:p>
        </p:txBody>
      </p:sp>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lvl1pPr>
              <a:defRPr b="0" i="0">
                <a:latin typeface="Amazon Ember Display" panose="020F0603020204020204" pitchFamily="34" charset="0"/>
              </a:defRPr>
            </a:lvl1pPr>
          </a:lstStyle>
          <a:p>
            <a:fld id="{9600D62F-E191-C046-B6EA-E79BE99AA24A}" type="datetime1">
              <a:rPr lang="en-US" smtClean="0"/>
              <a:pPr/>
              <a:t>2/6/2026</a:t>
            </a:fld>
            <a:endParaRPr lang="en-US" dirty="0"/>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a:xfrm>
            <a:off x="8854440" y="6289500"/>
            <a:ext cx="2743200" cy="365125"/>
          </a:xfrm>
        </p:spPr>
        <p:txBody>
          <a:bodyPr lIns="0" rIns="0"/>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7" name="Rounded Rectangle 6">
            <a:extLst>
              <a:ext uri="{FF2B5EF4-FFF2-40B4-BE49-F238E27FC236}">
                <a16:creationId xmlns:a16="http://schemas.microsoft.com/office/drawing/2014/main" id="{3EE6AF68-453D-F645-32C4-D232ED95B4A5}"/>
              </a:ext>
            </a:extLst>
          </p:cNvPr>
          <p:cNvSpPr/>
          <p:nvPr userDrawn="1"/>
        </p:nvSpPr>
        <p:spPr>
          <a:xfrm>
            <a:off x="594360" y="2894320"/>
            <a:ext cx="2093053" cy="23836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rtlCol="0" anchor="ctr">
            <a:spAutoFit/>
          </a:bodyPr>
          <a:lstStyle/>
          <a:p>
            <a:pPr algn="ctr"/>
            <a:r>
              <a:rPr lang="en-US" sz="800" spc="300" dirty="0">
                <a:solidFill>
                  <a:schemeClr val="tx1"/>
                </a:solidFill>
                <a:latin typeface="Amazon Ember Mono" panose="020B0509020204020204" pitchFamily="49" charset="0"/>
                <a:ea typeface="Amazon Ember Mono" panose="020B0509020204020204" pitchFamily="49" charset="0"/>
                <a:cs typeface="Amazon Ember Mono" panose="020B0509020204020204" pitchFamily="49" charset="0"/>
              </a:rPr>
              <a:t>CO-SELLING WITH AWS</a:t>
            </a:r>
          </a:p>
        </p:txBody>
      </p:sp>
      <p:sp>
        <p:nvSpPr>
          <p:cNvPr id="12" name="TextBox 11">
            <a:extLst>
              <a:ext uri="{FF2B5EF4-FFF2-40B4-BE49-F238E27FC236}">
                <a16:creationId xmlns:a16="http://schemas.microsoft.com/office/drawing/2014/main" id="{41958E35-0BAF-5B71-DA78-19BB455CCD47}"/>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13" name="Picture 12">
            <a:extLst>
              <a:ext uri="{FF2B5EF4-FFF2-40B4-BE49-F238E27FC236}">
                <a16:creationId xmlns:a16="http://schemas.microsoft.com/office/drawing/2014/main" id="{00CF0FBD-8BF0-D98F-EECD-E128D29C2004}"/>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2610249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Divider 4">
    <p:bg>
      <p:bgPr>
        <a:solidFill>
          <a:schemeClr val="bg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D2E8D8F-C654-5A06-9813-21EA3A47DD48}"/>
              </a:ext>
            </a:extLst>
          </p:cNvPr>
          <p:cNvPicPr>
            <a:picLocks noChangeAspect="1"/>
          </p:cNvPicPr>
          <p:nvPr userDrawn="1"/>
        </p:nvPicPr>
        <p:blipFill>
          <a:blip r:embed="rId2">
            <a:extLst>
              <a:ext uri="{28A0092B-C50C-407E-A947-70E740481C1C}">
                <a14:useLocalDpi xmlns:a14="http://schemas.microsoft.com/office/drawing/2010/main" val="0"/>
              </a:ext>
            </a:extLst>
          </a:blip>
          <a:srcRect l="14543" t="54497" r="41725" b="1771"/>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594360" y="3132683"/>
            <a:ext cx="11003280" cy="830997"/>
          </a:xfrm>
          <a:prstGeom prst="rect">
            <a:avLst/>
          </a:prstGeom>
        </p:spPr>
        <p:txBody>
          <a:bodyPr wrap="square" lIns="0" tIns="91440" rIns="0" bIns="0" anchor="t" anchorCtr="0">
            <a:spAutoFit/>
          </a:bodyPr>
          <a:lstStyle>
            <a:lvl1pPr>
              <a:lnSpc>
                <a:spcPct val="100000"/>
              </a:lnSpc>
              <a:defRPr sz="4800" b="0" i="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Title only layout</a:t>
            </a:r>
          </a:p>
        </p:txBody>
      </p:sp>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lvl1pPr>
              <a:defRPr b="0" i="0">
                <a:latin typeface="Amazon Ember Display" panose="020F0603020204020204" pitchFamily="34" charset="0"/>
              </a:defRPr>
            </a:lvl1pPr>
          </a:lstStyle>
          <a:p>
            <a:fld id="{9600D62F-E191-C046-B6EA-E79BE99AA24A}" type="datetime1">
              <a:rPr lang="en-US" smtClean="0"/>
              <a:pPr/>
              <a:t>2/6/2026</a:t>
            </a:fld>
            <a:endParaRPr lang="en-US" dirty="0"/>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a:xfrm>
            <a:off x="8854440" y="6289500"/>
            <a:ext cx="2743200" cy="365125"/>
          </a:xfrm>
        </p:spPr>
        <p:txBody>
          <a:bodyPr lIns="0" rIns="0"/>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7" name="Rounded Rectangle 6">
            <a:extLst>
              <a:ext uri="{FF2B5EF4-FFF2-40B4-BE49-F238E27FC236}">
                <a16:creationId xmlns:a16="http://schemas.microsoft.com/office/drawing/2014/main" id="{3EE6AF68-453D-F645-32C4-D232ED95B4A5}"/>
              </a:ext>
            </a:extLst>
          </p:cNvPr>
          <p:cNvSpPr/>
          <p:nvPr userDrawn="1"/>
        </p:nvSpPr>
        <p:spPr>
          <a:xfrm>
            <a:off x="594360" y="2894320"/>
            <a:ext cx="2093053" cy="23836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rtlCol="0" anchor="ctr">
            <a:spAutoFit/>
          </a:bodyPr>
          <a:lstStyle/>
          <a:p>
            <a:pPr algn="ctr"/>
            <a:r>
              <a:rPr lang="en-US" sz="800" spc="300" dirty="0">
                <a:solidFill>
                  <a:schemeClr val="tx1"/>
                </a:solidFill>
                <a:latin typeface="Amazon Ember Mono" panose="020B0509020204020204" pitchFamily="49" charset="0"/>
                <a:ea typeface="Amazon Ember Mono" panose="020B0509020204020204" pitchFamily="49" charset="0"/>
                <a:cs typeface="Amazon Ember Mono" panose="020B0509020204020204" pitchFamily="49" charset="0"/>
              </a:rPr>
              <a:t>CO-SELLING WITH AWS</a:t>
            </a:r>
          </a:p>
        </p:txBody>
      </p:sp>
      <p:sp>
        <p:nvSpPr>
          <p:cNvPr id="12" name="TextBox 11">
            <a:extLst>
              <a:ext uri="{FF2B5EF4-FFF2-40B4-BE49-F238E27FC236}">
                <a16:creationId xmlns:a16="http://schemas.microsoft.com/office/drawing/2014/main" id="{41958E35-0BAF-5B71-DA78-19BB455CCD47}"/>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13" name="Picture 12">
            <a:extLst>
              <a:ext uri="{FF2B5EF4-FFF2-40B4-BE49-F238E27FC236}">
                <a16:creationId xmlns:a16="http://schemas.microsoft.com/office/drawing/2014/main" id="{00CF0FBD-8BF0-D98F-EECD-E128D29C2004}"/>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4092265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Title and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2511457"/>
          </a:xfrm>
        </p:spPr>
        <p:txBody>
          <a:bodyPr/>
          <a:lstStyle>
            <a:lvl1pPr marL="0" indent="0">
              <a:spcAft>
                <a:spcPts val="1800"/>
              </a:spcAft>
              <a:buNone/>
              <a:defRPr b="0" i="0">
                <a:latin typeface="Amazon Ember Display" panose="020F0603020204020204" pitchFamily="34" charset="0"/>
              </a:defRPr>
            </a:lvl1pPr>
            <a:lvl2pPr marL="285750" indent="0">
              <a:spcAft>
                <a:spcPts val="1800"/>
              </a:spcAft>
              <a:buNone/>
              <a:defRPr b="0" i="0">
                <a:latin typeface="Amazon Ember Display" panose="020F0603020204020204" pitchFamily="34" charset="0"/>
              </a:defRPr>
            </a:lvl2pPr>
            <a:lvl3pPr marL="628650" indent="0">
              <a:spcAft>
                <a:spcPts val="1800"/>
              </a:spcAft>
              <a:buNone/>
              <a:defRPr b="0" i="0">
                <a:latin typeface="Amazon Ember Display" panose="020F0603020204020204" pitchFamily="34" charset="0"/>
              </a:defRPr>
            </a:lvl3pPr>
            <a:lvl4pPr marL="914400" indent="0">
              <a:spcAft>
                <a:spcPts val="1800"/>
              </a:spcAft>
              <a:buNone/>
              <a:defRPr b="0" i="0">
                <a:latin typeface="Amazon Ember Display" panose="020F0603020204020204" pitchFamily="34" charset="0"/>
              </a:defRPr>
            </a:lvl4pPr>
            <a:lvl5pPr marL="1143000" indent="0">
              <a:spcAft>
                <a:spcPts val="1800"/>
              </a:spcAft>
              <a:buNone/>
              <a:defRPr b="0" i="0">
                <a:latin typeface="Amazon Ember Display" panose="020F0603020204020204" pitchFamily="34" charset="0"/>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B02A07-9279-4389-95B8-CFF5307F9EBB}"/>
              </a:ext>
            </a:extLst>
          </p:cNvPr>
          <p:cNvSpPr>
            <a:spLocks noGrp="1"/>
          </p:cNvSpPr>
          <p:nvPr>
            <p:ph type="dt" sz="half" idx="10"/>
          </p:nvPr>
        </p:nvSpPr>
        <p:spPr/>
        <p:txBody>
          <a:bodyPr/>
          <a:lstStyle>
            <a:lvl1pPr>
              <a:defRPr b="0" i="0">
                <a:latin typeface="Amazon Ember Display" panose="020F0603020204020204" pitchFamily="34" charset="0"/>
              </a:defRPr>
            </a:lvl1pPr>
          </a:lstStyle>
          <a:p>
            <a:fld id="{B9026E32-37D5-A446-8A01-9B6BBEB5E690}" type="datetime1">
              <a:rPr lang="en-US" smtClean="0"/>
              <a:pPr/>
              <a:t>2/6/2026</a:t>
            </a:fld>
            <a:endParaRPr lang="en-US" dirty="0"/>
          </a:p>
        </p:txBody>
      </p:sp>
      <p:sp>
        <p:nvSpPr>
          <p:cNvPr id="5" name="Footer Placeholder 4">
            <a:extLst>
              <a:ext uri="{FF2B5EF4-FFF2-40B4-BE49-F238E27FC236}">
                <a16:creationId xmlns:a16="http://schemas.microsoft.com/office/drawing/2014/main" id="{5D24D072-A634-4E51-88E3-AFF4BBF53F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6" name="Slide Number Placeholder 5">
            <a:extLst>
              <a:ext uri="{FF2B5EF4-FFF2-40B4-BE49-F238E27FC236}">
                <a16:creationId xmlns:a16="http://schemas.microsoft.com/office/drawing/2014/main" id="{02391B74-659E-4EB1-8DB0-B962093F0B4C}"/>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Tree>
    <p:extLst>
      <p:ext uri="{BB962C8B-B14F-4D97-AF65-F5344CB8AC3E}">
        <p14:creationId xmlns:p14="http://schemas.microsoft.com/office/powerpoint/2010/main" val="2701662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hank You Option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3FEA24-4BB1-51F6-D1A3-1CDE18E45E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6191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619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7146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7146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dirty="0"/>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48101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dirty="0"/>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4810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userDrawn="1"/>
        </p:nvSpPr>
        <p:spPr>
          <a:xfrm>
            <a:off x="609599" y="2461211"/>
            <a:ext cx="6867525" cy="923330"/>
          </a:xfrm>
          <a:prstGeom prst="rect">
            <a:avLst/>
          </a:prstGeom>
          <a:noFill/>
        </p:spPr>
        <p:txBody>
          <a:bodyPr wrap="square" lIns="0" rtlCol="0">
            <a:noAutofit/>
          </a:bodyPr>
          <a:lstStyle/>
          <a:p>
            <a:r>
              <a:rPr lang="en-US" sz="4800" b="0" i="0" dirty="0">
                <a:solidFill>
                  <a:schemeClr val="tx2"/>
                </a:solidFill>
                <a:latin typeface="Amazon Ember Display" panose="020F0603020204020204" pitchFamily="34" charset="0"/>
              </a:rPr>
              <a:t>Thank you!</a:t>
            </a:r>
          </a:p>
        </p:txBody>
      </p:sp>
      <p:pic>
        <p:nvPicPr>
          <p:cNvPr id="5" name="Picture 4">
            <a:extLst>
              <a:ext uri="{FF2B5EF4-FFF2-40B4-BE49-F238E27FC236}">
                <a16:creationId xmlns:a16="http://schemas.microsoft.com/office/drawing/2014/main" id="{C0B9A91F-2413-643E-00B4-F93DC225552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
        <p:nvSpPr>
          <p:cNvPr id="3" name="TextBox 2">
            <a:extLst>
              <a:ext uri="{FF2B5EF4-FFF2-40B4-BE49-F238E27FC236}">
                <a16:creationId xmlns:a16="http://schemas.microsoft.com/office/drawing/2014/main" id="{0902F78A-89C5-9A95-F0BE-08B93E2052E0}"/>
              </a:ext>
            </a:extLst>
          </p:cNvPr>
          <p:cNvSpPr txBox="1"/>
          <p:nvPr userDrawn="1"/>
        </p:nvSpPr>
        <p:spPr>
          <a:xfrm>
            <a:off x="527766" y="6025634"/>
            <a:ext cx="3937296"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 Amazon Confidential and Trademark.</a:t>
            </a:r>
          </a:p>
        </p:txBody>
      </p:sp>
    </p:spTree>
    <p:extLst>
      <p:ext uri="{BB962C8B-B14F-4D97-AF65-F5344CB8AC3E}">
        <p14:creationId xmlns:p14="http://schemas.microsoft.com/office/powerpoint/2010/main" val="3085388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10" Type="http://schemas.openxmlformats.org/officeDocument/2006/relationships/image" Target="../media/image5.png"/><Relationship Id="rId4" Type="http://schemas.openxmlformats.org/officeDocument/2006/relationships/slideLayout" Target="../slideLayouts/slideLayout18.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A012CB-9486-4E35-8EE8-00E9F5D738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A7E80AF-6026-B3E2-91FA-738D9081A1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C9D63D-99F3-7F4F-9A54-E48D11F3F0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5B99DC-BF88-4DE6-A919-C8CE8931EB84}" type="datetimeFigureOut">
              <a:rPr lang="en-US" smtClean="0"/>
              <a:t>2/6/2026</a:t>
            </a:fld>
            <a:endParaRPr lang="en-US"/>
          </a:p>
        </p:txBody>
      </p:sp>
      <p:sp>
        <p:nvSpPr>
          <p:cNvPr id="5" name="Footer Placeholder 4">
            <a:extLst>
              <a:ext uri="{FF2B5EF4-FFF2-40B4-BE49-F238E27FC236}">
                <a16:creationId xmlns:a16="http://schemas.microsoft.com/office/drawing/2014/main" id="{FC556615-A8C1-209D-39D6-05C1E83EE3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69867EA-87EB-E964-1211-E0EDDF7E47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058E337-87E1-4445-99F1-5699C7141946}" type="slidenum">
              <a:rPr lang="en-US" smtClean="0"/>
              <a:t>‹#›</a:t>
            </a:fld>
            <a:endParaRPr lang="en-US"/>
          </a:p>
        </p:txBody>
      </p:sp>
    </p:spTree>
    <p:extLst>
      <p:ext uri="{BB962C8B-B14F-4D97-AF65-F5344CB8AC3E}">
        <p14:creationId xmlns:p14="http://schemas.microsoft.com/office/powerpoint/2010/main" val="2083459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4928EF9-1BCD-42D2-8B21-6150BBD86FBB}"/>
              </a:ext>
            </a:extLst>
          </p:cNvPr>
          <p:cNvSpPr>
            <a:spLocks noGrp="1"/>
          </p:cNvSpPr>
          <p:nvPr>
            <p:ph type="body" idx="1"/>
          </p:nvPr>
        </p:nvSpPr>
        <p:spPr>
          <a:xfrm>
            <a:off x="609600" y="1718983"/>
            <a:ext cx="10972800" cy="2203680"/>
          </a:xfrm>
          <a:prstGeom prst="rect">
            <a:avLst/>
          </a:prstGeom>
        </p:spPr>
        <p:txBody>
          <a:bodyPr vert="horz" wrap="square"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F484D14-2EC8-4252-96DA-F75A75EAF30C}"/>
              </a:ext>
            </a:extLst>
          </p:cNvPr>
          <p:cNvSpPr>
            <a:spLocks noGrp="1"/>
          </p:cNvSpPr>
          <p:nvPr>
            <p:ph type="dt" sz="half" idx="2"/>
          </p:nvPr>
        </p:nvSpPr>
        <p:spPr>
          <a:xfrm>
            <a:off x="838200" y="6953250"/>
            <a:ext cx="2743200"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Display" panose="020F0603020204020204" pitchFamily="34" charset="0"/>
              </a:defRPr>
            </a:lvl1pPr>
          </a:lstStyle>
          <a:p>
            <a:fld id="{3B1EF3D5-2436-9240-B6D0-2048A71FFF33}" type="datetime1">
              <a:rPr lang="en-US" smtClean="0"/>
              <a:pPr/>
              <a:t>2/6/2026</a:t>
            </a:fld>
            <a:endParaRPr lang="en-US" dirty="0"/>
          </a:p>
        </p:txBody>
      </p:sp>
      <p:sp>
        <p:nvSpPr>
          <p:cNvPr id="5" name="Footer Placeholder 4">
            <a:extLst>
              <a:ext uri="{FF2B5EF4-FFF2-40B4-BE49-F238E27FC236}">
                <a16:creationId xmlns:a16="http://schemas.microsoft.com/office/drawing/2014/main" id="{125B18F2-2506-4A8B-983C-1A77A245E650}"/>
              </a:ext>
            </a:extLst>
          </p:cNvPr>
          <p:cNvSpPr>
            <a:spLocks noGrp="1"/>
          </p:cNvSpPr>
          <p:nvPr>
            <p:ph type="ftr" sz="quarter" idx="3"/>
          </p:nvPr>
        </p:nvSpPr>
        <p:spPr>
          <a:xfrm>
            <a:off x="4038600" y="6953250"/>
            <a:ext cx="4114800" cy="365125"/>
          </a:xfrm>
          <a:prstGeom prst="rect">
            <a:avLst/>
          </a:prstGeom>
        </p:spPr>
        <p:txBody>
          <a:bodyPr vert="horz" lIns="91440" tIns="45720" rIns="91440" bIns="45720" rtlCol="0" anchor="ctr"/>
          <a:lstStyle>
            <a:lvl1pPr algn="ctr">
              <a:defRPr sz="900" b="0" i="0">
                <a:solidFill>
                  <a:schemeClr val="tx1">
                    <a:tint val="75000"/>
                  </a:schemeClr>
                </a:solidFill>
                <a:latin typeface="Amazon Ember Display" panose="020F0603020204020204" pitchFamily="34" charset="0"/>
              </a:defRPr>
            </a:lvl1pPr>
          </a:lstStyle>
          <a:p>
            <a:endParaRPr lang="en-US" dirty="0"/>
          </a:p>
        </p:txBody>
      </p:sp>
      <p:sp>
        <p:nvSpPr>
          <p:cNvPr id="6" name="Slide Number Placeholder 5">
            <a:extLst>
              <a:ext uri="{FF2B5EF4-FFF2-40B4-BE49-F238E27FC236}">
                <a16:creationId xmlns:a16="http://schemas.microsoft.com/office/drawing/2014/main" id="{09925A29-F4EF-4A12-9095-1B88A1BDDE58}"/>
              </a:ext>
            </a:extLst>
          </p:cNvPr>
          <p:cNvSpPr>
            <a:spLocks noGrp="1"/>
          </p:cNvSpPr>
          <p:nvPr>
            <p:ph type="sldNum" sz="quarter" idx="4"/>
          </p:nvPr>
        </p:nvSpPr>
        <p:spPr>
          <a:xfrm>
            <a:off x="8929200" y="6289500"/>
            <a:ext cx="2743200" cy="365125"/>
          </a:xfrm>
          <a:prstGeom prst="rect">
            <a:avLst/>
          </a:prstGeom>
        </p:spPr>
        <p:txBody>
          <a:bodyPr vert="horz" lIns="91440" tIns="45720" rIns="91440" bIns="45720" rtlCol="0" anchor="ctr"/>
          <a:lstStyle>
            <a:lvl1pPr algn="r">
              <a:defRPr sz="900" b="0" i="0">
                <a:solidFill>
                  <a:schemeClr val="tx2"/>
                </a:solidFill>
                <a:latin typeface="Amazon Ember Display" panose="020F0603020204020204" pitchFamily="34" charset="0"/>
              </a:defRPr>
            </a:lvl1pPr>
          </a:lstStyle>
          <a:p>
            <a:fld id="{EB4B8DE2-A4E8-46E4-8BBF-D75455EFF32C}" type="slidenum">
              <a:rPr lang="en-US" smtClean="0"/>
              <a:pPr/>
              <a:t>‹#›</a:t>
            </a:fld>
            <a:endParaRPr lang="en-US" dirty="0"/>
          </a:p>
        </p:txBody>
      </p:sp>
      <p:sp>
        <p:nvSpPr>
          <p:cNvPr id="13" name="TextBox 12">
            <a:extLst>
              <a:ext uri="{FF2B5EF4-FFF2-40B4-BE49-F238E27FC236}">
                <a16:creationId xmlns:a16="http://schemas.microsoft.com/office/drawing/2014/main" id="{123D8171-6606-4DC3-AA28-D2EE5F0EC812}"/>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8" name="Picture 7">
            <a:extLst>
              <a:ext uri="{FF2B5EF4-FFF2-40B4-BE49-F238E27FC236}">
                <a16:creationId xmlns:a16="http://schemas.microsoft.com/office/drawing/2014/main" id="{467F50F9-4909-422B-A8DD-8362E9484737}"/>
              </a:ext>
            </a:extLst>
          </p:cNvPr>
          <p:cNvPicPr>
            <a:picLocks noChangeAspect="1"/>
          </p:cNvPicPr>
          <p:nvPr userDrawn="1"/>
        </p:nvPicPr>
        <p:blipFill>
          <a:blip r:embed="rId10">
            <a:extLst>
              <a:ext uri="{28A0092B-C50C-407E-A947-70E740481C1C}">
                <a14:useLocalDpi xmlns:a14="http://schemas.microsoft.com/office/drawing/2010/main"/>
              </a:ext>
            </a:extLst>
          </a:blip>
          <a:stretch>
            <a:fillRect/>
          </a:stretch>
        </p:blipFill>
        <p:spPr>
          <a:xfrm>
            <a:off x="595295" y="6338002"/>
            <a:ext cx="365760" cy="219048"/>
          </a:xfrm>
          <a:prstGeom prst="rect">
            <a:avLst/>
          </a:prstGeom>
        </p:spPr>
      </p:pic>
      <p:sp>
        <p:nvSpPr>
          <p:cNvPr id="20" name="Title Placeholder 19">
            <a:extLst>
              <a:ext uri="{FF2B5EF4-FFF2-40B4-BE49-F238E27FC236}">
                <a16:creationId xmlns:a16="http://schemas.microsoft.com/office/drawing/2014/main" id="{4797D856-648E-41D7-7250-C248B908D216}"/>
              </a:ext>
            </a:extLst>
          </p:cNvPr>
          <p:cNvSpPr>
            <a:spLocks noGrp="1"/>
          </p:cNvSpPr>
          <p:nvPr>
            <p:ph type="title"/>
          </p:nvPr>
        </p:nvSpPr>
        <p:spPr>
          <a:xfrm>
            <a:off x="609600" y="304800"/>
            <a:ext cx="10515600" cy="1325563"/>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4103034516"/>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1" r:id="rId7"/>
    <p:sldLayoutId id="2147483672"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600" b="0" i="0" kern="1200" baseline="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p:titleStyle>
    <p:bodyStyle>
      <a:lvl1pPr marL="457200" indent="-457200" algn="l" defTabSz="914400" rtl="0" eaLnBrk="1" latinLnBrk="0" hangingPunct="1">
        <a:lnSpc>
          <a:spcPct val="90000"/>
        </a:lnSpc>
        <a:spcBef>
          <a:spcPts val="0"/>
        </a:spcBef>
        <a:spcAft>
          <a:spcPts val="1200"/>
        </a:spcAft>
        <a:buSzPct val="90000"/>
        <a:buFont typeface="Arial" panose="020B0604020202020204" pitchFamily="34" charset="0"/>
        <a:buChar char="•"/>
        <a:defRPr sz="2800" b="0" i="0" kern="1200" baseline="0">
          <a:solidFill>
            <a:schemeClr val="tx1"/>
          </a:solidFill>
          <a:latin typeface="Amazon Ember Display" panose="020F0603020204020204" pitchFamily="34" charset="0"/>
          <a:ea typeface="+mn-ea"/>
          <a:cs typeface="+mn-cs"/>
        </a:defRPr>
      </a:lvl1pPr>
      <a:lvl2pPr marL="628650" indent="-342900" algn="l" defTabSz="914400" rtl="0" eaLnBrk="1" latinLnBrk="0" hangingPunct="1">
        <a:lnSpc>
          <a:spcPct val="90000"/>
        </a:lnSpc>
        <a:spcBef>
          <a:spcPts val="0"/>
        </a:spcBef>
        <a:spcAft>
          <a:spcPts val="1200"/>
        </a:spcAft>
        <a:buSzPct val="90000"/>
        <a:buFont typeface="Arial" panose="020B0604020202020204" pitchFamily="34" charset="0"/>
        <a:buChar char="•"/>
        <a:defRPr sz="2400" b="0" i="0" kern="1200" baseline="0">
          <a:solidFill>
            <a:schemeClr val="tx1"/>
          </a:solidFill>
          <a:latin typeface="Amazon Ember Display" panose="020F0603020204020204" pitchFamily="34" charset="0"/>
          <a:ea typeface="+mn-ea"/>
          <a:cs typeface="+mn-cs"/>
        </a:defRPr>
      </a:lvl2pPr>
      <a:lvl3pPr marL="971550" indent="-342900" algn="l" defTabSz="914400" rtl="0" eaLnBrk="1" latinLnBrk="0" hangingPunct="1">
        <a:lnSpc>
          <a:spcPct val="90000"/>
        </a:lnSpc>
        <a:spcBef>
          <a:spcPts val="0"/>
        </a:spcBef>
        <a:spcAft>
          <a:spcPts val="1200"/>
        </a:spcAft>
        <a:buFont typeface="Arial" panose="020B0604020202020204" pitchFamily="34" charset="0"/>
        <a:buChar char="•"/>
        <a:defRPr sz="2000" b="0" i="0" kern="1200" baseline="0">
          <a:solidFill>
            <a:schemeClr val="tx1"/>
          </a:solidFill>
          <a:latin typeface="Amazon Ember Display" panose="020F0603020204020204" pitchFamily="34" charset="0"/>
          <a:ea typeface="+mn-ea"/>
          <a:cs typeface="+mn-cs"/>
        </a:defRPr>
      </a:lvl3pPr>
      <a:lvl4pPr marL="1144588" indent="-285750" algn="l" defTabSz="914400" rtl="0" eaLnBrk="1" latinLnBrk="0" hangingPunct="1">
        <a:lnSpc>
          <a:spcPct val="90000"/>
        </a:lnSpc>
        <a:spcBef>
          <a:spcPts val="0"/>
        </a:spcBef>
        <a:spcAft>
          <a:spcPts val="1200"/>
        </a:spcAft>
        <a:buFont typeface="Arial" panose="020B0604020202020204" pitchFamily="34" charset="0"/>
        <a:buChar char="•"/>
        <a:defRPr sz="1800" b="0" i="0" kern="1200" baseline="0">
          <a:solidFill>
            <a:schemeClr val="tx1"/>
          </a:solidFill>
          <a:latin typeface="Amazon Ember Display" panose="020F0603020204020204" pitchFamily="34" charset="0"/>
          <a:ea typeface="+mn-ea"/>
          <a:cs typeface="+mn-cs"/>
        </a:defRPr>
      </a:lvl4pPr>
      <a:lvl5pPr marL="1316038" indent="-285750" algn="l" defTabSz="914400" rtl="0" eaLnBrk="1" latinLnBrk="0" hangingPunct="1">
        <a:lnSpc>
          <a:spcPct val="90000"/>
        </a:lnSpc>
        <a:spcBef>
          <a:spcPts val="0"/>
        </a:spcBef>
        <a:spcAft>
          <a:spcPts val="1200"/>
        </a:spcAft>
        <a:buFont typeface="Arial" panose="020B0604020202020204" pitchFamily="34" charset="0"/>
        <a:buChar char="•"/>
        <a:defRPr sz="1800" b="0" i="0" kern="1200" baseline="0">
          <a:solidFill>
            <a:schemeClr val="tx1"/>
          </a:solidFill>
          <a:latin typeface="Amazon Ember Display" panose="020F06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p15:clr>
            <a:srgbClr val="F26B43"/>
          </p15:clr>
        </p15:guide>
        <p15:guide id="2" pos="7296">
          <p15:clr>
            <a:srgbClr val="F26B43"/>
          </p15:clr>
        </p15:guide>
        <p15:guide id="3" orient="horz" pos="192">
          <p15:clr>
            <a:srgbClr val="F26B43"/>
          </p15:clr>
        </p15:guide>
        <p15:guide id="4" orient="horz" pos="3912">
          <p15:clr>
            <a:srgbClr val="F26B43"/>
          </p15:clr>
        </p15:guide>
        <p15:guide id="5" orient="horz" pos="1080">
          <p15:clr>
            <a:srgbClr val="F26B43"/>
          </p15:clr>
        </p15:guide>
        <p15:guide id="6" orient="horz" pos="57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hyperlink" Target="https://aws.amazon.com/partners/programs/isv-accelerate/#Success_Stories"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hyperlink" Target="https://aws.amazon.com/partners/programs/ace/" TargetMode="External"/><Relationship Id="rId2" Type="http://schemas.openxmlformats.org/officeDocument/2006/relationships/notesSlide" Target="../notesSlides/notesSlide9.xml"/><Relationship Id="rId1" Type="http://schemas.openxmlformats.org/officeDocument/2006/relationships/slideLayout" Target="../slideLayouts/slideLayout21.xml"/><Relationship Id="rId5" Type="http://schemas.openxmlformats.org/officeDocument/2006/relationships/hyperlink" Target="https://skillbuilder.aws/learn/R5ZV5XXW99/aws-partner-coselling-with-aws/JNWX9WJRBG" TargetMode="External"/><Relationship Id="rId4" Type="http://schemas.openxmlformats.org/officeDocument/2006/relationships/hyperlink" Target="https://payeecentral.amazon.com/"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hyperlink" Target="https://partnercentral.awspartner.com/partnercentral2/s/article?category=AWS_ISV_Accelerate" TargetMode="External"/><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1.xml"/><Relationship Id="rId6" Type="http://schemas.openxmlformats.org/officeDocument/2006/relationships/hyperlink" Target="http://aws.amazon.com/blogs/apn" TargetMode="External"/><Relationship Id="rId11" Type="http://schemas.openxmlformats.org/officeDocument/2006/relationships/image" Target="../media/image19.svg"/><Relationship Id="rId5" Type="http://schemas.openxmlformats.org/officeDocument/2006/relationships/hyperlink" Target="https://aws.amazon.com/blogs/awsmarketplace/best-practices-guide-to-successfully-list-your-saas-contract-solution-in-aws-marketplace/" TargetMode="External"/><Relationship Id="rId10" Type="http://schemas.openxmlformats.org/officeDocument/2006/relationships/image" Target="../media/image18.png"/><Relationship Id="rId4" Type="http://schemas.openxmlformats.org/officeDocument/2006/relationships/hyperlink" Target="https://www.youtube.com/watch?v=w6XECzZOfXY" TargetMode="External"/><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7BBC1B8-F49A-D043-88BC-0DEAB503685D}"/>
              </a:ext>
            </a:extLst>
          </p:cNvPr>
          <p:cNvSpPr>
            <a:spLocks noGrp="1"/>
          </p:cNvSpPr>
          <p:nvPr>
            <p:ph type="ctrTitle"/>
          </p:nvPr>
        </p:nvSpPr>
        <p:spPr>
          <a:xfrm>
            <a:off x="609598" y="2153039"/>
            <a:ext cx="9169804" cy="923330"/>
          </a:xfrm>
        </p:spPr>
        <p:txBody>
          <a:bodyPr>
            <a:normAutofit fontScale="90000"/>
          </a:bodyPr>
          <a:lstStyle/>
          <a:p>
            <a:r>
              <a:rPr lang="en-US" dirty="0"/>
              <a:t>AWS ISV Accelerate Program</a:t>
            </a:r>
          </a:p>
        </p:txBody>
      </p:sp>
      <p:sp>
        <p:nvSpPr>
          <p:cNvPr id="12" name="Subtitle 11">
            <a:extLst>
              <a:ext uri="{FF2B5EF4-FFF2-40B4-BE49-F238E27FC236}">
                <a16:creationId xmlns:a16="http://schemas.microsoft.com/office/drawing/2014/main" id="{89367611-A332-024D-B05D-77BB188371AA}"/>
              </a:ext>
            </a:extLst>
          </p:cNvPr>
          <p:cNvSpPr>
            <a:spLocks noGrp="1"/>
          </p:cNvSpPr>
          <p:nvPr>
            <p:ph type="subTitle" idx="1"/>
          </p:nvPr>
        </p:nvSpPr>
        <p:spPr>
          <a:xfrm>
            <a:off x="755902" y="3101548"/>
            <a:ext cx="6460998" cy="535531"/>
          </a:xfrm>
        </p:spPr>
        <p:txBody>
          <a:bodyPr/>
          <a:lstStyle/>
          <a:p>
            <a:r>
              <a:rPr lang="en-US" dirty="0"/>
              <a:t>First Call Deck – [Month] 2026</a:t>
            </a:r>
          </a:p>
        </p:txBody>
      </p:sp>
      <p:sp>
        <p:nvSpPr>
          <p:cNvPr id="14" name="Text Placeholder 13">
            <a:extLst>
              <a:ext uri="{FF2B5EF4-FFF2-40B4-BE49-F238E27FC236}">
                <a16:creationId xmlns:a16="http://schemas.microsoft.com/office/drawing/2014/main" id="{75D601D1-1C04-E24E-BE14-6D579B531472}"/>
              </a:ext>
            </a:extLst>
          </p:cNvPr>
          <p:cNvSpPr>
            <a:spLocks noGrp="1"/>
          </p:cNvSpPr>
          <p:nvPr>
            <p:ph type="body" sz="quarter" idx="11"/>
          </p:nvPr>
        </p:nvSpPr>
        <p:spPr/>
        <p:txBody>
          <a:bodyPr/>
          <a:lstStyle/>
          <a:p>
            <a:endParaRPr lang="en-US" dirty="0"/>
          </a:p>
        </p:txBody>
      </p:sp>
      <p:sp>
        <p:nvSpPr>
          <p:cNvPr id="15" name="Text Placeholder 14">
            <a:extLst>
              <a:ext uri="{FF2B5EF4-FFF2-40B4-BE49-F238E27FC236}">
                <a16:creationId xmlns:a16="http://schemas.microsoft.com/office/drawing/2014/main" id="{05D6FCF4-47A1-BE45-B2A0-B49AEDCB0B86}"/>
              </a:ext>
            </a:extLst>
          </p:cNvPr>
          <p:cNvSpPr>
            <a:spLocks noGrp="1"/>
          </p:cNvSpPr>
          <p:nvPr>
            <p:ph type="body" sz="quarter" idx="12"/>
          </p:nvPr>
        </p:nvSpPr>
        <p:spPr>
          <a:xfrm>
            <a:off x="609598" y="5674769"/>
            <a:ext cx="3797302" cy="715398"/>
          </a:xfrm>
        </p:spPr>
        <p:txBody>
          <a:bodyPr/>
          <a:lstStyle/>
          <a:p>
            <a:endParaRPr lang="en-US" dirty="0"/>
          </a:p>
        </p:txBody>
      </p:sp>
    </p:spTree>
    <p:extLst>
      <p:ext uri="{BB962C8B-B14F-4D97-AF65-F5344CB8AC3E}">
        <p14:creationId xmlns:p14="http://schemas.microsoft.com/office/powerpoint/2010/main" val="379353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51A9D39-A558-B5DA-39F6-2C49B4360A04}"/>
              </a:ext>
            </a:extLst>
          </p:cNvPr>
          <p:cNvSpPr>
            <a:spLocks noGrp="1"/>
          </p:cNvSpPr>
          <p:nvPr>
            <p:ph type="sldNum" sz="quarter" idx="13"/>
          </p:nvPr>
        </p:nvSpPr>
        <p:spPr/>
        <p:txBody>
          <a:bodyPr/>
          <a:lstStyle/>
          <a:p>
            <a:fld id="{EB4B8DE2-A4E8-46E4-8BBF-D75455EFF32C}" type="slidenum">
              <a:rPr lang="en-US" smtClean="0"/>
              <a:pPr/>
              <a:t>2</a:t>
            </a:fld>
            <a:endParaRPr lang="en-US" dirty="0"/>
          </a:p>
        </p:txBody>
      </p:sp>
      <p:sp>
        <p:nvSpPr>
          <p:cNvPr id="4" name="Title 3">
            <a:extLst>
              <a:ext uri="{FF2B5EF4-FFF2-40B4-BE49-F238E27FC236}">
                <a16:creationId xmlns:a16="http://schemas.microsoft.com/office/drawing/2014/main" id="{4B4ED2A1-B1EB-11F4-73BF-4D9734EBCF89}"/>
              </a:ext>
            </a:extLst>
          </p:cNvPr>
          <p:cNvSpPr>
            <a:spLocks noGrp="1"/>
          </p:cNvSpPr>
          <p:nvPr>
            <p:ph type="title"/>
          </p:nvPr>
        </p:nvSpPr>
        <p:spPr/>
        <p:txBody>
          <a:bodyPr/>
          <a:lstStyle/>
          <a:p>
            <a:r>
              <a:rPr lang="en-US" dirty="0"/>
              <a:t>Agenda</a:t>
            </a:r>
          </a:p>
        </p:txBody>
      </p:sp>
      <p:sp>
        <p:nvSpPr>
          <p:cNvPr id="5" name="Rounded Rectangle 3">
            <a:extLst>
              <a:ext uri="{FF2B5EF4-FFF2-40B4-BE49-F238E27FC236}">
                <a16:creationId xmlns:a16="http://schemas.microsoft.com/office/drawing/2014/main" id="{2F679155-464D-CE6D-B333-560D1D29C754}"/>
              </a:ext>
            </a:extLst>
          </p:cNvPr>
          <p:cNvSpPr>
            <a:spLocks noChangeAspect="1"/>
          </p:cNvSpPr>
          <p:nvPr/>
        </p:nvSpPr>
        <p:spPr>
          <a:xfrm>
            <a:off x="588608" y="1822881"/>
            <a:ext cx="457200" cy="457200"/>
          </a:xfrm>
          <a:prstGeom prst="roundRect">
            <a:avLst/>
          </a:prstGeom>
          <a:solidFill>
            <a:srgbClr val="5327F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sz="2000" b="1" dirty="0">
                <a:solidFill>
                  <a:schemeClr val="bg1"/>
                </a:solidFill>
                <a:latin typeface="Amazon Ember Mono" panose="020B0509020204020204" pitchFamily="49" charset="0"/>
                <a:ea typeface="Amazon Ember Mono" panose="020B0509020204020204" pitchFamily="49" charset="0"/>
                <a:cs typeface="Amazon Ember Mono" panose="020B0509020204020204" pitchFamily="49" charset="0"/>
              </a:rPr>
              <a:t>1</a:t>
            </a:r>
          </a:p>
        </p:txBody>
      </p:sp>
      <p:sp>
        <p:nvSpPr>
          <p:cNvPr id="6" name="TextBox 5">
            <a:extLst>
              <a:ext uri="{FF2B5EF4-FFF2-40B4-BE49-F238E27FC236}">
                <a16:creationId xmlns:a16="http://schemas.microsoft.com/office/drawing/2014/main" id="{2F6A35B5-1A72-F7C2-52C2-FD22A314C9AF}"/>
              </a:ext>
            </a:extLst>
          </p:cNvPr>
          <p:cNvSpPr txBox="1"/>
          <p:nvPr/>
        </p:nvSpPr>
        <p:spPr>
          <a:xfrm>
            <a:off x="1045808" y="1843860"/>
            <a:ext cx="2786340" cy="415242"/>
          </a:xfrm>
          <a:prstGeom prst="rect">
            <a:avLst/>
          </a:prstGeom>
          <a:noFill/>
        </p:spPr>
        <p:txBody>
          <a:bodyPr wrap="none" lIns="182880" tIns="0" rIns="0" bIns="0" rtlCol="0" anchor="ctr">
            <a:spAutoFit/>
          </a:bodyPr>
          <a:lstStyle/>
          <a:p>
            <a:pPr algn="l">
              <a:lnSpc>
                <a:spcPct val="120000"/>
              </a:lnSpc>
              <a:spcAft>
                <a:spcPts val="1200"/>
              </a:spcAft>
              <a:buClr>
                <a:srgbClr val="B2008F"/>
              </a:buClr>
            </a:pPr>
            <a:r>
              <a:rPr lang="en-US" sz="2400" dirty="0">
                <a:latin typeface="Amazon Ember Display" panose="020F0603020204020204" pitchFamily="34" charset="0"/>
                <a:ea typeface="Amazon Ember Display" panose="020F0603020204020204" pitchFamily="34" charset="0"/>
                <a:cs typeface="Amazon Ember Display" panose="020F0603020204020204" pitchFamily="34" charset="0"/>
              </a:rPr>
              <a:t>Program Overview</a:t>
            </a:r>
          </a:p>
        </p:txBody>
      </p:sp>
      <p:sp>
        <p:nvSpPr>
          <p:cNvPr id="7" name="Rounded Rectangle 8">
            <a:extLst>
              <a:ext uri="{FF2B5EF4-FFF2-40B4-BE49-F238E27FC236}">
                <a16:creationId xmlns:a16="http://schemas.microsoft.com/office/drawing/2014/main" id="{8F02A330-6F23-0F88-E684-E1408DA86C66}"/>
              </a:ext>
            </a:extLst>
          </p:cNvPr>
          <p:cNvSpPr>
            <a:spLocks noChangeAspect="1"/>
          </p:cNvSpPr>
          <p:nvPr/>
        </p:nvSpPr>
        <p:spPr>
          <a:xfrm>
            <a:off x="588608" y="2737281"/>
            <a:ext cx="457200" cy="457200"/>
          </a:xfrm>
          <a:prstGeom prst="roundRect">
            <a:avLst/>
          </a:prstGeom>
          <a:solidFill>
            <a:srgbClr val="5327F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sz="2000" b="1" dirty="0">
                <a:solidFill>
                  <a:schemeClr val="bg1"/>
                </a:solidFill>
                <a:latin typeface="Amazon Ember Mono" panose="020B0509020204020204" pitchFamily="49" charset="0"/>
                <a:ea typeface="Amazon Ember Mono" panose="020B0509020204020204" pitchFamily="49" charset="0"/>
                <a:cs typeface="Amazon Ember Mono" panose="020B0509020204020204" pitchFamily="49" charset="0"/>
              </a:rPr>
              <a:t>2</a:t>
            </a:r>
          </a:p>
        </p:txBody>
      </p:sp>
      <p:sp>
        <p:nvSpPr>
          <p:cNvPr id="8" name="TextBox 7">
            <a:extLst>
              <a:ext uri="{FF2B5EF4-FFF2-40B4-BE49-F238E27FC236}">
                <a16:creationId xmlns:a16="http://schemas.microsoft.com/office/drawing/2014/main" id="{6B982A8F-AC29-FEF6-34AC-0B7A8F35D23F}"/>
              </a:ext>
            </a:extLst>
          </p:cNvPr>
          <p:cNvSpPr txBox="1"/>
          <p:nvPr/>
        </p:nvSpPr>
        <p:spPr>
          <a:xfrm>
            <a:off x="1045808" y="2758260"/>
            <a:ext cx="3013967" cy="415242"/>
          </a:xfrm>
          <a:prstGeom prst="rect">
            <a:avLst/>
          </a:prstGeom>
          <a:noFill/>
        </p:spPr>
        <p:txBody>
          <a:bodyPr wrap="none" lIns="182880" tIns="0" rIns="0" bIns="0" rtlCol="0" anchor="ctr">
            <a:spAutoFit/>
          </a:bodyPr>
          <a:lstStyle/>
          <a:p>
            <a:pPr algn="l">
              <a:lnSpc>
                <a:spcPct val="120000"/>
              </a:lnSpc>
              <a:spcAft>
                <a:spcPts val="1200"/>
              </a:spcAft>
              <a:buClr>
                <a:srgbClr val="B2008F"/>
              </a:buClr>
            </a:pPr>
            <a:r>
              <a:rPr lang="en-US" sz="2400" dirty="0">
                <a:latin typeface="Amazon Ember Display" panose="020F0603020204020204" pitchFamily="34" charset="0"/>
                <a:ea typeface="Amazon Ember Display" panose="020F0603020204020204" pitchFamily="34" charset="0"/>
                <a:cs typeface="Amazon Ember Display" panose="020F0603020204020204" pitchFamily="34" charset="0"/>
              </a:rPr>
              <a:t>Co-selling with AWS</a:t>
            </a:r>
          </a:p>
        </p:txBody>
      </p:sp>
      <p:sp>
        <p:nvSpPr>
          <p:cNvPr id="9" name="TextBox 8">
            <a:extLst>
              <a:ext uri="{FF2B5EF4-FFF2-40B4-BE49-F238E27FC236}">
                <a16:creationId xmlns:a16="http://schemas.microsoft.com/office/drawing/2014/main" id="{61B417E8-2977-BEF0-B854-CB496E0904F8}"/>
              </a:ext>
            </a:extLst>
          </p:cNvPr>
          <p:cNvSpPr txBox="1"/>
          <p:nvPr/>
        </p:nvSpPr>
        <p:spPr>
          <a:xfrm>
            <a:off x="1045808" y="3694139"/>
            <a:ext cx="2608406" cy="415242"/>
          </a:xfrm>
          <a:prstGeom prst="rect">
            <a:avLst/>
          </a:prstGeom>
          <a:noFill/>
        </p:spPr>
        <p:txBody>
          <a:bodyPr wrap="none" lIns="182880" tIns="0" rIns="0" bIns="0" rtlCol="0" anchor="ctr">
            <a:spAutoFit/>
          </a:bodyPr>
          <a:lstStyle/>
          <a:p>
            <a:pPr algn="l">
              <a:lnSpc>
                <a:spcPct val="120000"/>
              </a:lnSpc>
              <a:spcAft>
                <a:spcPts val="1200"/>
              </a:spcAft>
              <a:buClr>
                <a:srgbClr val="B2008F"/>
              </a:buClr>
            </a:pPr>
            <a:r>
              <a:rPr lang="en-US" sz="2400" dirty="0">
                <a:latin typeface="Amazon Ember Display" panose="020F0603020204020204" pitchFamily="34" charset="0"/>
                <a:ea typeface="Amazon Ember Display" panose="020F0603020204020204" pitchFamily="34" charset="0"/>
                <a:cs typeface="Amazon Ember Display" panose="020F0603020204020204" pitchFamily="34" charset="0"/>
              </a:rPr>
              <a:t>Program Benefits</a:t>
            </a:r>
          </a:p>
        </p:txBody>
      </p:sp>
      <p:sp>
        <p:nvSpPr>
          <p:cNvPr id="10" name="Rounded Rectangle 14">
            <a:extLst>
              <a:ext uri="{FF2B5EF4-FFF2-40B4-BE49-F238E27FC236}">
                <a16:creationId xmlns:a16="http://schemas.microsoft.com/office/drawing/2014/main" id="{4A444144-69E0-7702-B54C-7D6D95B07266}"/>
              </a:ext>
            </a:extLst>
          </p:cNvPr>
          <p:cNvSpPr>
            <a:spLocks noChangeAspect="1"/>
          </p:cNvSpPr>
          <p:nvPr/>
        </p:nvSpPr>
        <p:spPr>
          <a:xfrm>
            <a:off x="588608" y="3651681"/>
            <a:ext cx="457200" cy="457200"/>
          </a:xfrm>
          <a:prstGeom prst="roundRect">
            <a:avLst/>
          </a:prstGeom>
          <a:solidFill>
            <a:srgbClr val="5327F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sz="2000" b="1" dirty="0">
                <a:solidFill>
                  <a:schemeClr val="bg1"/>
                </a:solidFill>
                <a:latin typeface="Amazon Ember Mono" panose="020B0509020204020204" pitchFamily="49" charset="0"/>
                <a:ea typeface="Amazon Ember Mono" panose="020B0509020204020204" pitchFamily="49" charset="0"/>
                <a:cs typeface="Amazon Ember Mono" panose="020B0509020204020204" pitchFamily="49" charset="0"/>
              </a:rPr>
              <a:t>3</a:t>
            </a:r>
          </a:p>
        </p:txBody>
      </p:sp>
      <p:sp>
        <p:nvSpPr>
          <p:cNvPr id="11" name="Rounded Rectangle 16">
            <a:extLst>
              <a:ext uri="{FF2B5EF4-FFF2-40B4-BE49-F238E27FC236}">
                <a16:creationId xmlns:a16="http://schemas.microsoft.com/office/drawing/2014/main" id="{C531B47D-82CD-EE03-BAC9-E8A782A7E31B}"/>
              </a:ext>
            </a:extLst>
          </p:cNvPr>
          <p:cNvSpPr>
            <a:spLocks noChangeAspect="1"/>
          </p:cNvSpPr>
          <p:nvPr/>
        </p:nvSpPr>
        <p:spPr>
          <a:xfrm>
            <a:off x="588608" y="4566081"/>
            <a:ext cx="457200" cy="457200"/>
          </a:xfrm>
          <a:prstGeom prst="roundRect">
            <a:avLst/>
          </a:prstGeom>
          <a:solidFill>
            <a:srgbClr val="5327F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sz="2000" b="1" dirty="0">
                <a:solidFill>
                  <a:schemeClr val="bg1"/>
                </a:solidFill>
                <a:latin typeface="Amazon Ember Mono" panose="020B0509020204020204" pitchFamily="49" charset="0"/>
                <a:ea typeface="Amazon Ember Mono" panose="020B0509020204020204" pitchFamily="49" charset="0"/>
                <a:cs typeface="Amazon Ember Mono" panose="020B0509020204020204" pitchFamily="49" charset="0"/>
              </a:rPr>
              <a:t>4</a:t>
            </a:r>
          </a:p>
        </p:txBody>
      </p:sp>
      <p:sp>
        <p:nvSpPr>
          <p:cNvPr id="12" name="Rounded Rectangle 18">
            <a:extLst>
              <a:ext uri="{FF2B5EF4-FFF2-40B4-BE49-F238E27FC236}">
                <a16:creationId xmlns:a16="http://schemas.microsoft.com/office/drawing/2014/main" id="{60D0DC78-3CA0-0800-E5C2-0039F6C9B72A}"/>
              </a:ext>
            </a:extLst>
          </p:cNvPr>
          <p:cNvSpPr>
            <a:spLocks noChangeAspect="1"/>
          </p:cNvSpPr>
          <p:nvPr/>
        </p:nvSpPr>
        <p:spPr>
          <a:xfrm>
            <a:off x="588608" y="5480013"/>
            <a:ext cx="457200" cy="457200"/>
          </a:xfrm>
          <a:prstGeom prst="roundRect">
            <a:avLst/>
          </a:prstGeom>
          <a:solidFill>
            <a:srgbClr val="5327F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sz="2000" b="1" dirty="0">
                <a:solidFill>
                  <a:schemeClr val="bg1"/>
                </a:solidFill>
                <a:latin typeface="Amazon Ember Mono" panose="020B0509020204020204" pitchFamily="49" charset="0"/>
                <a:ea typeface="Amazon Ember Mono" panose="020B0509020204020204" pitchFamily="49" charset="0"/>
                <a:cs typeface="Amazon Ember Mono" panose="020B0509020204020204" pitchFamily="49" charset="0"/>
              </a:rPr>
              <a:t>5</a:t>
            </a:r>
          </a:p>
        </p:txBody>
      </p:sp>
      <p:sp>
        <p:nvSpPr>
          <p:cNvPr id="14" name="TextBox 13">
            <a:extLst>
              <a:ext uri="{FF2B5EF4-FFF2-40B4-BE49-F238E27FC236}">
                <a16:creationId xmlns:a16="http://schemas.microsoft.com/office/drawing/2014/main" id="{347DA90C-0ADB-0111-0AF6-ABAF56EE29F3}"/>
              </a:ext>
            </a:extLst>
          </p:cNvPr>
          <p:cNvSpPr txBox="1"/>
          <p:nvPr/>
        </p:nvSpPr>
        <p:spPr>
          <a:xfrm>
            <a:off x="1045808" y="4587060"/>
            <a:ext cx="3432350" cy="415242"/>
          </a:xfrm>
          <a:prstGeom prst="rect">
            <a:avLst/>
          </a:prstGeom>
          <a:noFill/>
        </p:spPr>
        <p:txBody>
          <a:bodyPr wrap="none" lIns="182880" tIns="0" rIns="0" bIns="0" rtlCol="0" anchor="ctr">
            <a:spAutoFit/>
          </a:bodyPr>
          <a:lstStyle/>
          <a:p>
            <a:pPr algn="l">
              <a:lnSpc>
                <a:spcPct val="120000"/>
              </a:lnSpc>
              <a:spcAft>
                <a:spcPts val="1200"/>
              </a:spcAft>
              <a:buClr>
                <a:srgbClr val="B2008F"/>
              </a:buClr>
            </a:pPr>
            <a:r>
              <a:rPr lang="en-US" sz="2400" dirty="0">
                <a:latin typeface="Amazon Ember Display" panose="020F0603020204020204" pitchFamily="34" charset="0"/>
                <a:ea typeface="Amazon Ember Display" panose="020F0603020204020204" pitchFamily="34" charset="0"/>
                <a:cs typeface="Amazon Ember Display" panose="020F0603020204020204" pitchFamily="34" charset="0"/>
              </a:rPr>
              <a:t>Entrance Requirements</a:t>
            </a:r>
          </a:p>
        </p:txBody>
      </p:sp>
      <p:sp>
        <p:nvSpPr>
          <p:cNvPr id="15" name="TextBox 14">
            <a:extLst>
              <a:ext uri="{FF2B5EF4-FFF2-40B4-BE49-F238E27FC236}">
                <a16:creationId xmlns:a16="http://schemas.microsoft.com/office/drawing/2014/main" id="{F85849EC-9ED1-749E-FE7F-157859DB01FA}"/>
              </a:ext>
            </a:extLst>
          </p:cNvPr>
          <p:cNvSpPr txBox="1"/>
          <p:nvPr/>
        </p:nvSpPr>
        <p:spPr>
          <a:xfrm>
            <a:off x="1045808" y="5500992"/>
            <a:ext cx="1579278" cy="415242"/>
          </a:xfrm>
          <a:prstGeom prst="rect">
            <a:avLst/>
          </a:prstGeom>
          <a:noFill/>
        </p:spPr>
        <p:txBody>
          <a:bodyPr wrap="none" lIns="182880" tIns="0" rIns="0" bIns="0" rtlCol="0" anchor="ctr">
            <a:spAutoFit/>
          </a:bodyPr>
          <a:lstStyle/>
          <a:p>
            <a:pPr algn="l">
              <a:lnSpc>
                <a:spcPct val="120000"/>
              </a:lnSpc>
              <a:spcAft>
                <a:spcPts val="1200"/>
              </a:spcAft>
              <a:buClr>
                <a:srgbClr val="B2008F"/>
              </a:buClr>
            </a:pPr>
            <a:r>
              <a:rPr lang="en-US" sz="2400" dirty="0">
                <a:latin typeface="Amazon Ember Display" panose="020F0603020204020204" pitchFamily="34" charset="0"/>
                <a:ea typeface="Amazon Ember Display" panose="020F0603020204020204" pitchFamily="34" charset="0"/>
                <a:cs typeface="Amazon Ember Display" panose="020F0603020204020204" pitchFamily="34" charset="0"/>
              </a:rPr>
              <a:t>Resources</a:t>
            </a:r>
          </a:p>
        </p:txBody>
      </p:sp>
    </p:spTree>
    <p:extLst>
      <p:ext uri="{BB962C8B-B14F-4D97-AF65-F5344CB8AC3E}">
        <p14:creationId xmlns:p14="http://schemas.microsoft.com/office/powerpoint/2010/main" val="2506341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620824-C348-D905-53B5-87A50316D738}"/>
              </a:ext>
            </a:extLst>
          </p:cNvPr>
          <p:cNvSpPr/>
          <p:nvPr/>
        </p:nvSpPr>
        <p:spPr>
          <a:xfrm>
            <a:off x="6167120" y="0"/>
            <a:ext cx="6096000" cy="6858000"/>
          </a:xfrm>
          <a:prstGeom prst="rect">
            <a:avLst/>
          </a:prstGeom>
          <a:gradFill>
            <a:gsLst>
              <a:gs pos="100000">
                <a:srgbClr val="5327F5"/>
              </a:gs>
              <a:gs pos="37000">
                <a:srgbClr val="D3C8FC"/>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54C21E43-9099-E9F3-FAD4-0AB0FAB24B0F}"/>
              </a:ext>
            </a:extLst>
          </p:cNvPr>
          <p:cNvSpPr>
            <a:spLocks noGrp="1"/>
          </p:cNvSpPr>
          <p:nvPr>
            <p:ph type="title"/>
          </p:nvPr>
        </p:nvSpPr>
        <p:spPr>
          <a:xfrm>
            <a:off x="594360" y="832723"/>
            <a:ext cx="11003280" cy="1200329"/>
          </a:xfrm>
        </p:spPr>
        <p:txBody>
          <a:bodyPr>
            <a:normAutofit/>
          </a:bodyPr>
          <a:lstStyle/>
          <a:p>
            <a:r>
              <a:rPr lang="en-US" sz="3600" dirty="0">
                <a:latin typeface="Amazon Ember Display" panose="020F0603020204020204" pitchFamily="34" charset="0"/>
                <a:ea typeface="Amazon Ember Display" panose="020F0603020204020204" pitchFamily="34" charset="0"/>
                <a:cs typeface="Amazon Ember Display" panose="020F0603020204020204" pitchFamily="34" charset="0"/>
              </a:rPr>
              <a:t>AWS ISV </a:t>
            </a:r>
            <a:br>
              <a:rPr lang="en-US" sz="3600" dirty="0">
                <a:latin typeface="Amazon Ember Display" panose="020F0603020204020204" pitchFamily="34" charset="0"/>
                <a:ea typeface="Amazon Ember Display" panose="020F0603020204020204" pitchFamily="34" charset="0"/>
                <a:cs typeface="Amazon Ember Display" panose="020F0603020204020204" pitchFamily="34" charset="0"/>
              </a:rPr>
            </a:br>
            <a:r>
              <a:rPr lang="en-US" sz="3600" dirty="0">
                <a:latin typeface="Amazon Ember Display" panose="020F0603020204020204" pitchFamily="34" charset="0"/>
                <a:ea typeface="Amazon Ember Display" panose="020F0603020204020204" pitchFamily="34" charset="0"/>
                <a:cs typeface="Amazon Ember Display" panose="020F0603020204020204" pitchFamily="34" charset="0"/>
              </a:rPr>
              <a:t>Accelerate Program </a:t>
            </a:r>
          </a:p>
        </p:txBody>
      </p:sp>
      <p:sp>
        <p:nvSpPr>
          <p:cNvPr id="3" name="Slide Number Placeholder 2">
            <a:extLst>
              <a:ext uri="{FF2B5EF4-FFF2-40B4-BE49-F238E27FC236}">
                <a16:creationId xmlns:a16="http://schemas.microsoft.com/office/drawing/2014/main" id="{75F8FFEC-F425-BA7C-9B22-0602B65C4D7B}"/>
              </a:ext>
            </a:extLst>
          </p:cNvPr>
          <p:cNvSpPr>
            <a:spLocks noGrp="1"/>
          </p:cNvSpPr>
          <p:nvPr>
            <p:ph type="sldNum" sz="quarter" idx="12"/>
          </p:nvPr>
        </p:nvSpPr>
        <p:spPr/>
        <p:txBody>
          <a:bodyPr/>
          <a:lstStyle/>
          <a:p>
            <a:fld id="{EB4B8DE2-A4E8-46E4-8BBF-D75455EFF32C}" type="slidenum">
              <a:rPr lang="en-US" smtClean="0"/>
              <a:pPr/>
              <a:t>3</a:t>
            </a:fld>
            <a:endParaRPr lang="en-US" dirty="0"/>
          </a:p>
        </p:txBody>
      </p:sp>
      <p:sp>
        <p:nvSpPr>
          <p:cNvPr id="5" name="Rectangle 4">
            <a:extLst>
              <a:ext uri="{FF2B5EF4-FFF2-40B4-BE49-F238E27FC236}">
                <a16:creationId xmlns:a16="http://schemas.microsoft.com/office/drawing/2014/main" id="{FF1CF5C5-98A7-98A7-564D-C4536CBECB88}"/>
              </a:ext>
            </a:extLst>
          </p:cNvPr>
          <p:cNvSpPr/>
          <p:nvPr/>
        </p:nvSpPr>
        <p:spPr>
          <a:xfrm>
            <a:off x="609600" y="2222812"/>
            <a:ext cx="10972800" cy="1077218"/>
          </a:xfrm>
          <a:prstGeom prst="rect">
            <a:avLst/>
          </a:prstGeom>
        </p:spPr>
        <p:txBody>
          <a:bodyPr wrap="square">
            <a:spAutoFit/>
          </a:bodyPr>
          <a:lstStyle/>
          <a:p>
            <a:pPr marL="514350" indent="-514350">
              <a:buFont typeface="+mj-lt"/>
              <a:buAutoNum type="arabicPeriod"/>
            </a:pPr>
            <a:endParaRPr lang="en-US" sz="3200" dirty="0"/>
          </a:p>
          <a:p>
            <a:endParaRPr lang="en-US" sz="3200" dirty="0"/>
          </a:p>
        </p:txBody>
      </p:sp>
      <p:sp>
        <p:nvSpPr>
          <p:cNvPr id="6" name="TextBox 5">
            <a:extLst>
              <a:ext uri="{FF2B5EF4-FFF2-40B4-BE49-F238E27FC236}">
                <a16:creationId xmlns:a16="http://schemas.microsoft.com/office/drawing/2014/main" id="{3D5520F6-9D7C-BB34-13D5-51554222F637}"/>
              </a:ext>
            </a:extLst>
          </p:cNvPr>
          <p:cNvSpPr txBox="1"/>
          <p:nvPr/>
        </p:nvSpPr>
        <p:spPr>
          <a:xfrm>
            <a:off x="594360" y="4540618"/>
            <a:ext cx="4525033" cy="1200329"/>
          </a:xfrm>
          <a:prstGeom prst="rect">
            <a:avLst/>
          </a:prstGeom>
          <a:noFill/>
        </p:spPr>
        <p:txBody>
          <a:bodyPr wrap="square" lIns="0" rIns="0" rtlCol="0">
            <a:spAutoFit/>
          </a:bodyPr>
          <a:lstStyle/>
          <a:p>
            <a:r>
              <a:rPr lang="en-US" dirty="0">
                <a:latin typeface="Amazon Ember Display" panose="020F0603020204020204" pitchFamily="34" charset="0"/>
                <a:ea typeface="Amazon Ember Display" panose="020F0603020204020204" pitchFamily="34" charset="0"/>
                <a:cs typeface="Amazon Ember Display" panose="020F0603020204020204" pitchFamily="34" charset="0"/>
              </a:rPr>
              <a:t>Designed for AWS Partners who provide software solutions that run on or integrate with AWS and sell through the AWS Marketplace</a:t>
            </a:r>
          </a:p>
        </p:txBody>
      </p:sp>
      <p:sp>
        <p:nvSpPr>
          <p:cNvPr id="7" name="TextBox 6">
            <a:extLst>
              <a:ext uri="{FF2B5EF4-FFF2-40B4-BE49-F238E27FC236}">
                <a16:creationId xmlns:a16="http://schemas.microsoft.com/office/drawing/2014/main" id="{B3C89DB8-98BE-0115-2904-E7C3D03F749B}"/>
              </a:ext>
            </a:extLst>
          </p:cNvPr>
          <p:cNvSpPr txBox="1"/>
          <p:nvPr/>
        </p:nvSpPr>
        <p:spPr>
          <a:xfrm>
            <a:off x="594360" y="2908392"/>
            <a:ext cx="4431899" cy="1200329"/>
          </a:xfrm>
          <a:prstGeom prst="rect">
            <a:avLst/>
          </a:prstGeom>
          <a:noFill/>
        </p:spPr>
        <p:txBody>
          <a:bodyPr wrap="square" lIns="0" rIns="0" rtlCol="0">
            <a:spAutoFit/>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Provides co-sell support and benefits to encourage AWS Sellers to engage with participating Partners and enable Partners to grow revenue by selling with AWS</a:t>
            </a:r>
          </a:p>
        </p:txBody>
      </p:sp>
      <p:cxnSp>
        <p:nvCxnSpPr>
          <p:cNvPr id="8" name="Straight Connector 7">
            <a:extLst>
              <a:ext uri="{FF2B5EF4-FFF2-40B4-BE49-F238E27FC236}">
                <a16:creationId xmlns:a16="http://schemas.microsoft.com/office/drawing/2014/main" id="{E4554395-2C4D-054C-347A-F0C12877567D}"/>
              </a:ext>
            </a:extLst>
          </p:cNvPr>
          <p:cNvCxnSpPr>
            <a:cxnSpLocks/>
          </p:cNvCxnSpPr>
          <p:nvPr/>
        </p:nvCxnSpPr>
        <p:spPr>
          <a:xfrm>
            <a:off x="594360" y="4315833"/>
            <a:ext cx="4924425" cy="0"/>
          </a:xfrm>
          <a:prstGeom prst="line">
            <a:avLst/>
          </a:prstGeom>
          <a:ln w="19050" cap="rnd">
            <a:solidFill>
              <a:srgbClr val="5327F5"/>
            </a:solidFill>
            <a:round/>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93CB73FB-CEAA-4C0B-14FE-060EFF943830}"/>
              </a:ext>
            </a:extLst>
          </p:cNvPr>
          <p:cNvSpPr/>
          <p:nvPr/>
        </p:nvSpPr>
        <p:spPr>
          <a:xfrm>
            <a:off x="594360" y="2365224"/>
            <a:ext cx="3494546" cy="369332"/>
          </a:xfrm>
          <a:prstGeom prst="rect">
            <a:avLst/>
          </a:prstGeom>
        </p:spPr>
        <p:txBody>
          <a:bodyPr wrap="none" lIns="0" tIns="0" rIns="0" bIns="0">
            <a:spAutoFit/>
          </a:bodyPr>
          <a:lstStyle/>
          <a:p>
            <a:r>
              <a:rPr lang="en-US" sz="2400" b="1" dirty="0">
                <a:solidFill>
                  <a:srgbClr val="5327F5"/>
                </a:solidFill>
                <a:latin typeface="Amazon Ember Display" panose="020F0603020204020204" pitchFamily="34" charset="0"/>
                <a:ea typeface="Amazon Ember Display" panose="020F0603020204020204" pitchFamily="34" charset="0"/>
                <a:cs typeface="Amazon Ember Display" panose="020F0603020204020204" pitchFamily="34" charset="0"/>
              </a:rPr>
              <a:t>Global Co-Sell Program </a:t>
            </a:r>
          </a:p>
        </p:txBody>
      </p:sp>
      <p:sp>
        <p:nvSpPr>
          <p:cNvPr id="15" name="TextBox 14">
            <a:extLst>
              <a:ext uri="{FF2B5EF4-FFF2-40B4-BE49-F238E27FC236}">
                <a16:creationId xmlns:a16="http://schemas.microsoft.com/office/drawing/2014/main" id="{DB571203-A1E5-7E6F-6150-CA163332C3DF}"/>
              </a:ext>
            </a:extLst>
          </p:cNvPr>
          <p:cNvSpPr txBox="1"/>
          <p:nvPr/>
        </p:nvSpPr>
        <p:spPr>
          <a:xfrm>
            <a:off x="7035788" y="6340815"/>
            <a:ext cx="5156212" cy="276999"/>
          </a:xfrm>
          <a:prstGeom prst="rect">
            <a:avLst/>
          </a:prstGeom>
          <a:noFill/>
        </p:spPr>
        <p:txBody>
          <a:bodyPr wrap="square" lIns="0" rIns="0" rtlCol="0">
            <a:spAutoFit/>
          </a:bodyPr>
          <a:lstStyle/>
          <a:p>
            <a:r>
              <a:rPr lang="en-US" sz="1200" dirty="0">
                <a:hlinkClick r:id="rId3"/>
              </a:rPr>
              <a:t>Learn More / Become an AWS Partner / Enroll in ISV Accelerate </a:t>
            </a:r>
            <a:endParaRPr lang="en-US" sz="1200" dirty="0"/>
          </a:p>
        </p:txBody>
      </p:sp>
      <p:sp>
        <p:nvSpPr>
          <p:cNvPr id="17" name="Rounded Rectangle 3">
            <a:extLst>
              <a:ext uri="{FF2B5EF4-FFF2-40B4-BE49-F238E27FC236}">
                <a16:creationId xmlns:a16="http://schemas.microsoft.com/office/drawing/2014/main" id="{3FFCF31D-F227-E687-61F0-E2A4A1B12E24}"/>
              </a:ext>
            </a:extLst>
          </p:cNvPr>
          <p:cNvSpPr/>
          <p:nvPr/>
        </p:nvSpPr>
        <p:spPr>
          <a:xfrm rot="16200000">
            <a:off x="4510649" y="3558293"/>
            <a:ext cx="4916868" cy="388122"/>
          </a:xfrm>
          <a:prstGeom prst="roundRect">
            <a:avLst>
              <a:gd name="adj" fmla="val 14913"/>
            </a:avLst>
          </a:prstGeom>
          <a:solidFill>
            <a:schemeClr val="accent2">
              <a:alpha val="30000"/>
            </a:scheme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latin typeface="Amazon Ember Mono" panose="020B0509020204020204" pitchFamily="49" charset="0"/>
              <a:ea typeface="Amazon Ember Mono" panose="020B0509020204020204" pitchFamily="49" charset="0"/>
              <a:cs typeface="Amazon Ember Mono" panose="020B0509020204020204" pitchFamily="49" charset="0"/>
            </a:endParaRPr>
          </a:p>
        </p:txBody>
      </p:sp>
      <p:sp>
        <p:nvSpPr>
          <p:cNvPr id="18" name="Rounded Rectangle 5">
            <a:extLst>
              <a:ext uri="{FF2B5EF4-FFF2-40B4-BE49-F238E27FC236}">
                <a16:creationId xmlns:a16="http://schemas.microsoft.com/office/drawing/2014/main" id="{CFCC1A3C-6C57-C0A3-70BC-1564F3A6A1C8}"/>
              </a:ext>
            </a:extLst>
          </p:cNvPr>
          <p:cNvSpPr/>
          <p:nvPr/>
        </p:nvSpPr>
        <p:spPr>
          <a:xfrm rot="16200000">
            <a:off x="4644789" y="3695585"/>
            <a:ext cx="4648590" cy="312977"/>
          </a:xfrm>
          <a:prstGeom prst="roundRect">
            <a:avLst>
              <a:gd name="adj" fmla="val 14913"/>
            </a:avLst>
          </a:prstGeom>
          <a:solidFill>
            <a:schemeClr val="accent4">
              <a:alpha val="66057"/>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latin typeface="Amazon Ember Mono" panose="020B0509020204020204" pitchFamily="49" charset="0"/>
              <a:ea typeface="Amazon Ember Mono" panose="020B0509020204020204" pitchFamily="49" charset="0"/>
              <a:cs typeface="Amazon Ember Mono" panose="020B0509020204020204" pitchFamily="49" charset="0"/>
            </a:endParaRPr>
          </a:p>
        </p:txBody>
      </p:sp>
      <p:sp>
        <p:nvSpPr>
          <p:cNvPr id="19" name="Text Placeholder 9">
            <a:extLst>
              <a:ext uri="{FF2B5EF4-FFF2-40B4-BE49-F238E27FC236}">
                <a16:creationId xmlns:a16="http://schemas.microsoft.com/office/drawing/2014/main" id="{77B972C2-F396-181D-63C9-869C24869009}"/>
              </a:ext>
            </a:extLst>
          </p:cNvPr>
          <p:cNvSpPr txBox="1">
            <a:spLocks/>
          </p:cNvSpPr>
          <p:nvPr/>
        </p:nvSpPr>
        <p:spPr>
          <a:xfrm>
            <a:off x="8105141" y="1735625"/>
            <a:ext cx="3492500" cy="1421928"/>
          </a:xfrm>
          <a:prstGeom prst="rect">
            <a:avLst/>
          </a:prstGeom>
        </p:spPr>
        <p:txBody>
          <a:bodyPr vert="horz" wrap="square" lIns="0" tIns="45720" rIns="0" bIns="45720" rtlCol="0">
            <a:spAutoFit/>
          </a:bodyPr>
          <a:lstStyle>
            <a:lvl1pPr marL="0" indent="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None/>
              <a:tabLst/>
              <a:defRPr sz="1200" b="1" kern="1200" cap="all" spc="300" baseline="0">
                <a:solidFill>
                  <a:schemeClr val="accent1">
                    <a:lumMod val="60000"/>
                    <a:lumOff val="4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None/>
              <a:tabLst/>
              <a:defRPr sz="2400" kern="1200">
                <a:solidFill>
                  <a:schemeClr val="tx1"/>
                </a:solidFill>
                <a:latin typeface="+mn-lt"/>
                <a:ea typeface="+mn-ea"/>
                <a:cs typeface="+mn-cs"/>
              </a:defRPr>
            </a:lvl2pPr>
            <a:lvl3pPr marL="457200" indent="0" algn="l" defTabSz="914400" rtl="0" eaLnBrk="1" latinLnBrk="0" hangingPunct="1">
              <a:lnSpc>
                <a:spcPct val="90000"/>
              </a:lnSpc>
              <a:spcBef>
                <a:spcPts val="0"/>
              </a:spcBef>
              <a:spcAft>
                <a:spcPts val="600"/>
              </a:spcAft>
              <a:buClr>
                <a:schemeClr val="tx1"/>
              </a:buClr>
              <a:buFont typeface="Amazon Ember Display" panose="020F0603020204020204" pitchFamily="34" charset="0"/>
              <a:buNone/>
              <a:tabLst/>
              <a:defRPr sz="2000" kern="1200">
                <a:solidFill>
                  <a:schemeClr val="tx1"/>
                </a:solidFill>
                <a:latin typeface="+mn-lt"/>
                <a:ea typeface="+mn-ea"/>
                <a:cs typeface="+mn-cs"/>
              </a:defRPr>
            </a:lvl3pPr>
            <a:lvl4pPr marL="685800" indent="0" algn="l" defTabSz="914400" rtl="0" eaLnBrk="1" latinLnBrk="0" hangingPunct="1">
              <a:lnSpc>
                <a:spcPct val="90000"/>
              </a:lnSpc>
              <a:spcBef>
                <a:spcPts val="0"/>
              </a:spcBef>
              <a:spcAft>
                <a:spcPts val="600"/>
              </a:spcAft>
              <a:buClr>
                <a:schemeClr val="tx1"/>
              </a:buClr>
              <a:buFont typeface="Amazon Ember Display" panose="020F0603020204020204" pitchFamily="34" charset="0"/>
              <a:buNone/>
              <a:tabLst/>
              <a:defRPr sz="1800" kern="1200">
                <a:solidFill>
                  <a:schemeClr val="tx1"/>
                </a:solidFill>
                <a:latin typeface="+mn-lt"/>
                <a:ea typeface="+mn-ea"/>
                <a:cs typeface="+mn-cs"/>
              </a:defRPr>
            </a:lvl4pPr>
            <a:lvl5pPr marL="685800" indent="0" algn="l" defTabSz="914400" rtl="0" eaLnBrk="1" latinLnBrk="0" hangingPunct="1">
              <a:lnSpc>
                <a:spcPct val="90000"/>
              </a:lnSpc>
              <a:spcBef>
                <a:spcPts val="0"/>
              </a:spcBef>
              <a:buClr>
                <a:schemeClr val="tx1"/>
              </a:buClr>
              <a:buFont typeface="Amazon Ember Display" panose="020F0603020204020204" pitchFamily="34" charset="0"/>
              <a:buNone/>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0"/>
              </a:spcBef>
              <a:spcAft>
                <a:spcPts val="1200"/>
              </a:spcAft>
              <a:buClr>
                <a:srgbClr val="FFFFFF"/>
              </a:buClr>
              <a:buSzPct val="90000"/>
              <a:buFont typeface="Amazon Ember Display" panose="020F0603020204020204" pitchFamily="34" charset="0"/>
              <a:buNone/>
              <a:tabLst/>
              <a:defRPr/>
            </a:pPr>
            <a:r>
              <a:rPr lang="en-US" sz="9600" b="0" dirty="0">
                <a:solidFill>
                  <a:schemeClr val="bg1"/>
                </a:solidFill>
              </a:rPr>
              <a:t>94%</a:t>
            </a:r>
            <a:endParaRPr kumimoji="0" lang="en-US" sz="9600" b="0" i="0" u="none" strike="noStrike" kern="1200" cap="all" spc="300" normalizeH="0" baseline="0" noProof="0" dirty="0">
              <a:ln>
                <a:noFill/>
              </a:ln>
              <a:solidFill>
                <a:schemeClr val="bg1"/>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endParaRPr>
          </a:p>
        </p:txBody>
      </p:sp>
      <p:sp>
        <p:nvSpPr>
          <p:cNvPr id="20" name="Title 6">
            <a:extLst>
              <a:ext uri="{FF2B5EF4-FFF2-40B4-BE49-F238E27FC236}">
                <a16:creationId xmlns:a16="http://schemas.microsoft.com/office/drawing/2014/main" id="{293631F2-D8E2-09D4-CE9C-14C51A0F7482}"/>
              </a:ext>
            </a:extLst>
          </p:cNvPr>
          <p:cNvSpPr txBox="1">
            <a:spLocks/>
          </p:cNvSpPr>
          <p:nvPr/>
        </p:nvSpPr>
        <p:spPr>
          <a:xfrm>
            <a:off x="8105141" y="2953817"/>
            <a:ext cx="2476989" cy="1148774"/>
          </a:xfrm>
          <a:prstGeom prst="rect">
            <a:avLst/>
          </a:prstGeom>
        </p:spPr>
        <p:txBody>
          <a:bodyPr vert="horz" lIns="0" tIns="146304" rIns="0" bIns="146304" rtlCol="0" anchor="t">
            <a:noAutofit/>
          </a:bodyPr>
          <a:lstStyle>
            <a:lvl1pPr algn="l" defTabSz="914400" rtl="0" eaLnBrk="1" latinLnBrk="0" hangingPunct="1">
              <a:lnSpc>
                <a:spcPct val="90000"/>
              </a:lnSpc>
              <a:spcBef>
                <a:spcPct val="0"/>
              </a:spcBef>
              <a:buNone/>
              <a:defRPr sz="4400" b="1" kern="1200" spc="0" baseline="0">
                <a:solidFill>
                  <a:schemeClr val="tx1"/>
                </a:solidFill>
                <a:latin typeface="+mj-lt"/>
                <a:ea typeface="+mj-ea"/>
                <a:cs typeface="+mj-cs"/>
              </a:defRPr>
            </a:lvl1pPr>
          </a:lstStyle>
          <a:p>
            <a:pPr marL="0" marR="0" lvl="0" indent="0" defTabSz="914400" rtl="0" eaLnBrk="1" fontAlgn="auto" latinLnBrk="0" hangingPunct="1">
              <a:lnSpc>
                <a:spcPts val="2000"/>
              </a:lnSpc>
              <a:spcBef>
                <a:spcPct val="0"/>
              </a:spcBef>
              <a:spcAft>
                <a:spcPts val="0"/>
              </a:spcAft>
              <a:buClrTx/>
              <a:buSzTx/>
              <a:buFontTx/>
              <a:buNone/>
              <a:tabLst/>
              <a:defRPr/>
            </a:pPr>
            <a:r>
              <a:rPr lang="en-US" sz="1600" b="0" dirty="0">
                <a:latin typeface="Amazon Ember Display" panose="020F0603020204020204" pitchFamily="34" charset="0"/>
                <a:ea typeface="Amazon Ember Display" panose="020F0603020204020204" pitchFamily="34" charset="0"/>
                <a:cs typeface="Amazon Ember Display" panose="020F0603020204020204" pitchFamily="34" charset="0"/>
              </a:rPr>
              <a:t>o</a:t>
            </a:r>
            <a:r>
              <a:rPr kumimoji="0" lang="en-US" sz="1600" b="0" u="none" strike="noStrike" kern="1200" cap="none" spc="0" normalizeH="0" baseline="0" noProof="0" dirty="0">
                <a:ln>
                  <a:noFill/>
                </a:ln>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f ISV AWS Co-Selling occurs through ISVA enrolled Partners</a:t>
            </a:r>
          </a:p>
          <a:p>
            <a:pPr marL="0" marR="0" lvl="0" indent="0" defTabSz="914400" rtl="0" eaLnBrk="1" fontAlgn="auto" latinLnBrk="0" hangingPunct="1">
              <a:lnSpc>
                <a:spcPct val="90000"/>
              </a:lnSpc>
              <a:spcBef>
                <a:spcPct val="0"/>
              </a:spcBef>
              <a:spcAft>
                <a:spcPts val="0"/>
              </a:spcAft>
              <a:buClrTx/>
              <a:buSzTx/>
              <a:buFontTx/>
              <a:buNone/>
              <a:tabLst/>
              <a:defRPr/>
            </a:pPr>
            <a:endParaRPr kumimoji="0" lang="en-US" sz="1600" b="0" u="none" strike="noStrike" kern="1200" cap="none" spc="0" normalizeH="0" baseline="0" noProof="0" dirty="0">
              <a:ln>
                <a:noFill/>
              </a:ln>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cxnSp>
        <p:nvCxnSpPr>
          <p:cNvPr id="21" name="Straight Connector 20">
            <a:extLst>
              <a:ext uri="{FF2B5EF4-FFF2-40B4-BE49-F238E27FC236}">
                <a16:creationId xmlns:a16="http://schemas.microsoft.com/office/drawing/2014/main" id="{256C5C3F-4F20-CBF4-7EAB-34E5F8A23118}"/>
              </a:ext>
            </a:extLst>
          </p:cNvPr>
          <p:cNvCxnSpPr>
            <a:cxnSpLocks/>
          </p:cNvCxnSpPr>
          <p:nvPr/>
        </p:nvCxnSpPr>
        <p:spPr>
          <a:xfrm>
            <a:off x="6775022" y="1527779"/>
            <a:ext cx="1424601" cy="0"/>
          </a:xfrm>
          <a:prstGeom prst="line">
            <a:avLst/>
          </a:prstGeom>
          <a:ln>
            <a:solidFill>
              <a:schemeClr val="bg1"/>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5357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 Same Side Corner Rectangle 37">
            <a:extLst>
              <a:ext uri="{FF2B5EF4-FFF2-40B4-BE49-F238E27FC236}">
                <a16:creationId xmlns:a16="http://schemas.microsoft.com/office/drawing/2014/main" id="{52A67994-A621-7F62-E7BB-A2FF2FBBEE8C}"/>
              </a:ext>
            </a:extLst>
          </p:cNvPr>
          <p:cNvSpPr/>
          <p:nvPr/>
        </p:nvSpPr>
        <p:spPr>
          <a:xfrm rot="5400000">
            <a:off x="672038" y="1951355"/>
            <a:ext cx="2802264" cy="3489960"/>
          </a:xfrm>
          <a:prstGeom prst="round2SameRect">
            <a:avLst>
              <a:gd name="adj1" fmla="val 5396"/>
              <a:gd name="adj2" fmla="val 0"/>
            </a:avLst>
          </a:prstGeom>
          <a:solidFill>
            <a:schemeClr val="bg1"/>
          </a:solidFill>
          <a:ln>
            <a:noFill/>
          </a:ln>
          <a:effectLst>
            <a:outerShdw blurRad="2032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161D26"/>
              </a:solidFill>
              <a:effectLst/>
              <a:uLnTx/>
              <a:uFillTx/>
              <a:latin typeface="Amazon Ember Display"/>
              <a:ea typeface="+mn-ea"/>
              <a:cs typeface="+mn-cs"/>
            </a:endParaRPr>
          </a:p>
        </p:txBody>
      </p:sp>
      <p:sp>
        <p:nvSpPr>
          <p:cNvPr id="9" name="Rounded Rectangle 6">
            <a:extLst>
              <a:ext uri="{FF2B5EF4-FFF2-40B4-BE49-F238E27FC236}">
                <a16:creationId xmlns:a16="http://schemas.microsoft.com/office/drawing/2014/main" id="{103C3F47-4738-BC64-FCDC-1D9A92B914F9}"/>
              </a:ext>
            </a:extLst>
          </p:cNvPr>
          <p:cNvSpPr/>
          <p:nvPr/>
        </p:nvSpPr>
        <p:spPr>
          <a:xfrm>
            <a:off x="5134318" y="3437701"/>
            <a:ext cx="4896282" cy="1097280"/>
          </a:xfrm>
          <a:prstGeom prst="roundRect">
            <a:avLst>
              <a:gd name="adj" fmla="val 9202"/>
            </a:avLst>
          </a:prstGeom>
          <a:solidFill>
            <a:schemeClr val="bg1"/>
          </a:solidFill>
          <a:ln>
            <a:noFill/>
          </a:ln>
          <a:effectLst>
            <a:outerShdw blurRad="2032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365760" tIns="137160" rIns="182880" bIns="137160" rtlCol="0" anchor="ctr" anchorCtr="0">
            <a:no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5327F5"/>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Partners</a:t>
            </a:r>
            <a:r>
              <a:rPr kumimoji="0" lang="en-US" sz="1800" b="0" i="0" u="none" strike="noStrike" kern="1200" cap="none" spc="0" normalizeH="0" baseline="0" noProof="0" dirty="0">
                <a:ln>
                  <a:noFill/>
                </a:ln>
                <a:solidFill>
                  <a:srgbClr val="8F0071"/>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1800" b="0" i="0" u="none" strike="noStrike" kern="1200" cap="none" spc="0" normalizeH="0" baseline="0" noProof="0" dirty="0">
                <a:ln>
                  <a:noFill/>
                </a:ln>
                <a:solidFill>
                  <a:srgbClr val="161D26"/>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accelerate growth of their AWS business and </a:t>
            </a:r>
            <a:r>
              <a:rPr kumimoji="0" lang="en-US" sz="1800" b="1" i="0" u="none" strike="noStrike" kern="1200" cap="none" spc="0" normalizeH="0" baseline="0" noProof="0" dirty="0">
                <a:ln>
                  <a:noFill/>
                </a:ln>
                <a:solidFill>
                  <a:srgbClr val="5327F5"/>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earn customer trust</a:t>
            </a:r>
          </a:p>
        </p:txBody>
      </p:sp>
      <p:sp>
        <p:nvSpPr>
          <p:cNvPr id="10" name="TextBox 9">
            <a:extLst>
              <a:ext uri="{FF2B5EF4-FFF2-40B4-BE49-F238E27FC236}">
                <a16:creationId xmlns:a16="http://schemas.microsoft.com/office/drawing/2014/main" id="{F54BAE60-E42C-F5AF-E385-A379AD4BAF33}"/>
              </a:ext>
            </a:extLst>
          </p:cNvPr>
          <p:cNvSpPr txBox="1"/>
          <p:nvPr/>
        </p:nvSpPr>
        <p:spPr>
          <a:xfrm>
            <a:off x="564159" y="2523802"/>
            <a:ext cx="3116051" cy="2345066"/>
          </a:xfrm>
          <a:prstGeom prst="rect">
            <a:avLst/>
          </a:prstGeom>
          <a:noFill/>
        </p:spPr>
        <p:txBody>
          <a:bodyPr wrap="square" lIns="0" tIns="0" rIns="0" bIns="0" rtlCol="0">
            <a:spAutoFit/>
          </a:bodyPr>
          <a:lstStyle/>
          <a:p>
            <a:pPr marL="0" marR="0" lvl="0" indent="0" defTabSz="914400" rtl="0" eaLnBrk="1" fontAlgn="auto" latinLnBrk="0" hangingPunct="1">
              <a:lnSpc>
                <a:spcPct val="12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61D26"/>
                </a:solidFill>
                <a:effectLst/>
                <a:uLnTx/>
                <a:uFillTx/>
                <a:latin typeface="Amazon Ember" panose="020B0603020204020204" pitchFamily="34" charset="0"/>
                <a:ea typeface="Amazon Ember" panose="020B0603020204020204" pitchFamily="34" charset="0"/>
                <a:cs typeface="Amazon Ember" panose="020B0603020204020204" pitchFamily="34" charset="0"/>
              </a:rPr>
              <a:t>Co-sell is a collaborative sales approach where AWS and</a:t>
            </a:r>
            <a:br>
              <a:rPr kumimoji="0" lang="en-US" sz="1600" b="0" i="0" u="none" strike="noStrike" kern="1200" cap="none" spc="0" normalizeH="0" baseline="0" noProof="0" dirty="0">
                <a:ln>
                  <a:noFill/>
                </a:ln>
                <a:solidFill>
                  <a:srgbClr val="161D26"/>
                </a:solidFill>
                <a:effectLst/>
                <a:uLnTx/>
                <a:uFillTx/>
                <a:latin typeface="Amazon Ember" panose="020B0603020204020204" pitchFamily="34" charset="0"/>
                <a:ea typeface="Amazon Ember" panose="020B0603020204020204" pitchFamily="34" charset="0"/>
                <a:cs typeface="Amazon Ember" panose="020B0603020204020204" pitchFamily="34" charset="0"/>
              </a:rPr>
            </a:br>
            <a:r>
              <a:rPr kumimoji="0" lang="en-US" sz="1600" b="0" i="0" u="none" strike="noStrike" kern="1200" cap="none" spc="0" normalizeH="0" baseline="0" noProof="0" dirty="0">
                <a:ln>
                  <a:noFill/>
                </a:ln>
                <a:solidFill>
                  <a:srgbClr val="161D26"/>
                </a:solidFill>
                <a:effectLst/>
                <a:uLnTx/>
                <a:uFillTx/>
                <a:latin typeface="Amazon Ember" panose="020B0603020204020204" pitchFamily="34" charset="0"/>
                <a:ea typeface="Amazon Ember" panose="020B0603020204020204" pitchFamily="34" charset="0"/>
                <a:cs typeface="Amazon Ember" panose="020B0603020204020204" pitchFamily="34" charset="0"/>
              </a:rPr>
              <a:t>AWS Partners work together to</a:t>
            </a:r>
            <a:br>
              <a:rPr kumimoji="0" lang="en-US" sz="1600" b="0" i="0" u="none" strike="noStrike" kern="1200" cap="none" spc="0" normalizeH="0" baseline="0" noProof="0" dirty="0">
                <a:ln>
                  <a:noFill/>
                </a:ln>
                <a:solidFill>
                  <a:srgbClr val="161D26"/>
                </a:solidFill>
                <a:effectLst/>
                <a:uLnTx/>
                <a:uFillTx/>
                <a:latin typeface="Amazon Ember" panose="020B0603020204020204" pitchFamily="34" charset="0"/>
                <a:ea typeface="Amazon Ember" panose="020B0603020204020204" pitchFamily="34" charset="0"/>
                <a:cs typeface="Amazon Ember" panose="020B0603020204020204" pitchFamily="34" charset="0"/>
              </a:rPr>
            </a:br>
            <a:r>
              <a:rPr kumimoji="0" lang="en-US" sz="1600" b="0" i="0" u="none" strike="noStrike" kern="1200" cap="none" spc="0" normalizeH="0" baseline="0" noProof="0" dirty="0">
                <a:ln>
                  <a:noFill/>
                </a:ln>
                <a:solidFill>
                  <a:srgbClr val="161D26"/>
                </a:solidFill>
                <a:effectLst/>
                <a:uLnTx/>
                <a:uFillTx/>
                <a:latin typeface="Amazon Ember" panose="020B0603020204020204" pitchFamily="34" charset="0"/>
                <a:ea typeface="Amazon Ember" panose="020B0603020204020204" pitchFamily="34" charset="0"/>
                <a:cs typeface="Amazon Ember" panose="020B0603020204020204" pitchFamily="34" charset="0"/>
              </a:rPr>
              <a:t>deliver customer value through complementary services and solutions, integrated processes</a:t>
            </a:r>
            <a:br>
              <a:rPr kumimoji="0" lang="en-US" sz="1600" b="0" i="0" u="none" strike="noStrike" kern="1200" cap="none" spc="0" normalizeH="0" baseline="0" noProof="0" dirty="0">
                <a:ln>
                  <a:noFill/>
                </a:ln>
                <a:solidFill>
                  <a:srgbClr val="161D26"/>
                </a:solidFill>
                <a:effectLst/>
                <a:uLnTx/>
                <a:uFillTx/>
                <a:latin typeface="Amazon Ember" panose="020B0603020204020204" pitchFamily="34" charset="0"/>
                <a:ea typeface="Amazon Ember" panose="020B0603020204020204" pitchFamily="34" charset="0"/>
                <a:cs typeface="Amazon Ember" panose="020B0603020204020204" pitchFamily="34" charset="0"/>
              </a:rPr>
            </a:br>
            <a:r>
              <a:rPr kumimoji="0" lang="en-US" sz="1600" b="0" i="0" u="none" strike="noStrike" kern="1200" cap="none" spc="0" normalizeH="0" baseline="0" noProof="0" dirty="0">
                <a:ln>
                  <a:noFill/>
                </a:ln>
                <a:solidFill>
                  <a:srgbClr val="161D26"/>
                </a:solidFill>
                <a:effectLst/>
                <a:uLnTx/>
                <a:uFillTx/>
                <a:latin typeface="Amazon Ember" panose="020B0603020204020204" pitchFamily="34" charset="0"/>
                <a:ea typeface="Amazon Ember" panose="020B0603020204020204" pitchFamily="34" charset="0"/>
                <a:cs typeface="Amazon Ember" panose="020B0603020204020204" pitchFamily="34" charset="0"/>
              </a:rPr>
              <a:t>and tools, and aligned programs</a:t>
            </a:r>
            <a:br>
              <a:rPr kumimoji="0" lang="en-US" sz="1600" b="0" i="0" u="none" strike="noStrike" kern="1200" cap="none" spc="0" normalizeH="0" baseline="0" noProof="0" dirty="0">
                <a:ln>
                  <a:noFill/>
                </a:ln>
                <a:solidFill>
                  <a:srgbClr val="161D26"/>
                </a:solidFill>
                <a:effectLst/>
                <a:uLnTx/>
                <a:uFillTx/>
                <a:latin typeface="Amazon Ember" panose="020B0603020204020204" pitchFamily="34" charset="0"/>
                <a:ea typeface="Amazon Ember" panose="020B0603020204020204" pitchFamily="34" charset="0"/>
                <a:cs typeface="Amazon Ember" panose="020B0603020204020204" pitchFamily="34" charset="0"/>
              </a:rPr>
            </a:br>
            <a:r>
              <a:rPr kumimoji="0" lang="en-US" sz="1600" b="0" i="0" u="none" strike="noStrike" kern="1200" cap="none" spc="0" normalizeH="0" baseline="0" noProof="0" dirty="0">
                <a:ln>
                  <a:noFill/>
                </a:ln>
                <a:solidFill>
                  <a:srgbClr val="161D26"/>
                </a:solidFill>
                <a:effectLst/>
                <a:uLnTx/>
                <a:uFillTx/>
                <a:latin typeface="Amazon Ember" panose="020B0603020204020204" pitchFamily="34" charset="0"/>
                <a:ea typeface="Amazon Ember" panose="020B0603020204020204" pitchFamily="34" charset="0"/>
                <a:cs typeface="Amazon Ember" panose="020B0603020204020204" pitchFamily="34" charset="0"/>
              </a:rPr>
              <a:t>and incentives.</a:t>
            </a:r>
          </a:p>
        </p:txBody>
      </p:sp>
      <p:sp>
        <p:nvSpPr>
          <p:cNvPr id="11" name="Rounded Rectangle 10">
            <a:extLst>
              <a:ext uri="{FF2B5EF4-FFF2-40B4-BE49-F238E27FC236}">
                <a16:creationId xmlns:a16="http://schemas.microsoft.com/office/drawing/2014/main" id="{8FA94655-5E78-6E5D-9AA0-397F0B308BAE}"/>
              </a:ext>
            </a:extLst>
          </p:cNvPr>
          <p:cNvSpPr/>
          <p:nvPr/>
        </p:nvSpPr>
        <p:spPr>
          <a:xfrm>
            <a:off x="4456346" y="3529141"/>
            <a:ext cx="914400" cy="914400"/>
          </a:xfrm>
          <a:prstGeom prst="roundRect">
            <a:avLst>
              <a:gd name="adj" fmla="val 15273"/>
            </a:avLst>
          </a:prstGeom>
          <a:solidFill>
            <a:srgbClr val="5327F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161D26"/>
              </a:solidFill>
              <a:effectLst/>
              <a:uLnTx/>
              <a:uFillTx/>
              <a:latin typeface="Amazon Ember Display"/>
              <a:ea typeface="+mn-ea"/>
              <a:cs typeface="+mn-cs"/>
            </a:endParaRPr>
          </a:p>
        </p:txBody>
      </p:sp>
      <p:sp>
        <p:nvSpPr>
          <p:cNvPr id="12" name="Rounded Rectangle 5">
            <a:extLst>
              <a:ext uri="{FF2B5EF4-FFF2-40B4-BE49-F238E27FC236}">
                <a16:creationId xmlns:a16="http://schemas.microsoft.com/office/drawing/2014/main" id="{95D8B0D5-08DB-1EB9-5B8D-AEB13E808FB6}"/>
              </a:ext>
            </a:extLst>
          </p:cNvPr>
          <p:cNvSpPr/>
          <p:nvPr/>
        </p:nvSpPr>
        <p:spPr>
          <a:xfrm>
            <a:off x="5142273" y="2073496"/>
            <a:ext cx="4896282" cy="1097280"/>
          </a:xfrm>
          <a:prstGeom prst="roundRect">
            <a:avLst>
              <a:gd name="adj" fmla="val 6508"/>
            </a:avLst>
          </a:prstGeom>
          <a:solidFill>
            <a:schemeClr val="bg1"/>
          </a:solidFill>
          <a:ln>
            <a:noFill/>
          </a:ln>
          <a:effectLst>
            <a:outerShdw blurRad="2032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365760" tIns="137160" rIns="182880" bIns="137160" rtlCol="0" anchor="ctr" anchorCtr="0">
            <a:no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5327F5"/>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Customers</a:t>
            </a:r>
            <a:r>
              <a:rPr kumimoji="0" lang="en-US" sz="1800" b="0" i="0" u="none" strike="noStrike" kern="1200" cap="none" spc="0" normalizeH="0" baseline="0" noProof="0" dirty="0">
                <a:ln>
                  <a:noFill/>
                </a:ln>
                <a:solidFill>
                  <a:srgbClr val="8F0071"/>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 </a:t>
            </a:r>
            <a:r>
              <a:rPr kumimoji="0" lang="en-US" sz="1800" b="0" i="0" u="none" strike="noStrike" kern="1200" cap="none" spc="0" normalizeH="0" baseline="0" noProof="0" dirty="0">
                <a:ln>
                  <a:noFill/>
                </a:ln>
                <a:solidFill>
                  <a:srgbClr val="161D26"/>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accelerate the value realization of their AWS investments</a:t>
            </a:r>
          </a:p>
        </p:txBody>
      </p:sp>
      <p:sp>
        <p:nvSpPr>
          <p:cNvPr id="13" name="Rounded Rectangle 9">
            <a:extLst>
              <a:ext uri="{FF2B5EF4-FFF2-40B4-BE49-F238E27FC236}">
                <a16:creationId xmlns:a16="http://schemas.microsoft.com/office/drawing/2014/main" id="{747A461D-6B42-D935-D287-8FDE6B63B178}"/>
              </a:ext>
            </a:extLst>
          </p:cNvPr>
          <p:cNvSpPr/>
          <p:nvPr/>
        </p:nvSpPr>
        <p:spPr>
          <a:xfrm>
            <a:off x="4460323" y="2164936"/>
            <a:ext cx="914400" cy="914400"/>
          </a:xfrm>
          <a:prstGeom prst="roundRect">
            <a:avLst>
              <a:gd name="adj" fmla="val 13746"/>
            </a:avLst>
          </a:prstGeom>
          <a:solidFill>
            <a:srgbClr val="5327F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161D26"/>
              </a:solidFill>
              <a:effectLst/>
              <a:uLnTx/>
              <a:uFillTx/>
              <a:latin typeface="Amazon Ember Display"/>
              <a:ea typeface="+mn-ea"/>
              <a:cs typeface="+mn-cs"/>
            </a:endParaRPr>
          </a:p>
        </p:txBody>
      </p:sp>
      <p:cxnSp>
        <p:nvCxnSpPr>
          <p:cNvPr id="14" name="Straight Connector 13">
            <a:extLst>
              <a:ext uri="{FF2B5EF4-FFF2-40B4-BE49-F238E27FC236}">
                <a16:creationId xmlns:a16="http://schemas.microsoft.com/office/drawing/2014/main" id="{1C02C4C5-16F2-2CB3-12DC-2667D095789D}"/>
              </a:ext>
            </a:extLst>
          </p:cNvPr>
          <p:cNvCxnSpPr>
            <a:cxnSpLocks/>
          </p:cNvCxnSpPr>
          <p:nvPr/>
        </p:nvCxnSpPr>
        <p:spPr>
          <a:xfrm>
            <a:off x="4462803" y="4880421"/>
            <a:ext cx="5567797" cy="0"/>
          </a:xfrm>
          <a:prstGeom prst="line">
            <a:avLst/>
          </a:prstGeom>
          <a:ln w="19050" cap="rnd">
            <a:solidFill>
              <a:srgbClr val="7B59F7"/>
            </a:solidFill>
            <a:roun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934F8B9-3187-AB72-7E4D-7B30C966B33C}"/>
              </a:ext>
            </a:extLst>
          </p:cNvPr>
          <p:cNvSpPr txBox="1"/>
          <p:nvPr/>
        </p:nvSpPr>
        <p:spPr>
          <a:xfrm>
            <a:off x="4460240" y="5083621"/>
            <a:ext cx="5578315" cy="572273"/>
          </a:xfrm>
          <a:prstGeom prst="rect">
            <a:avLst/>
          </a:prstGeom>
          <a:noFill/>
        </p:spPr>
        <p:txBody>
          <a:bodyPr wrap="square" lIns="0" tIns="0" rIns="0" bIns="0"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61D26"/>
                </a:solidFill>
                <a:effectLst/>
                <a:uLnTx/>
                <a:uFillTx/>
                <a:latin typeface="Amazon Ember" panose="020B0603020204020204" pitchFamily="34" charset="0"/>
                <a:ea typeface="Amazon Ember" panose="020B0603020204020204" pitchFamily="34" charset="0"/>
                <a:cs typeface="Amazon Ember" panose="020B0603020204020204" pitchFamily="34" charset="0"/>
              </a:rPr>
              <a:t>Co-Selling does not mean AWS and the AWS Partner are selling services on behalf of the other party.</a:t>
            </a:r>
          </a:p>
        </p:txBody>
      </p:sp>
      <p:grpSp>
        <p:nvGrpSpPr>
          <p:cNvPr id="16" name="Picture 11">
            <a:extLst>
              <a:ext uri="{FF2B5EF4-FFF2-40B4-BE49-F238E27FC236}">
                <a16:creationId xmlns:a16="http://schemas.microsoft.com/office/drawing/2014/main" id="{6DA4B003-BFC5-BA8F-ED2F-AE1C86EFE196}"/>
              </a:ext>
            </a:extLst>
          </p:cNvPr>
          <p:cNvGrpSpPr>
            <a:grpSpLocks noChangeAspect="1"/>
          </p:cNvGrpSpPr>
          <p:nvPr/>
        </p:nvGrpSpPr>
        <p:grpSpPr>
          <a:xfrm>
            <a:off x="4576088" y="2431861"/>
            <a:ext cx="682871" cy="380551"/>
            <a:chOff x="4484563" y="2108921"/>
            <a:chExt cx="682871" cy="380551"/>
          </a:xfrm>
          <a:noFill/>
        </p:grpSpPr>
        <p:sp>
          <p:nvSpPr>
            <p:cNvPr id="17" name="Freeform 19">
              <a:extLst>
                <a:ext uri="{FF2B5EF4-FFF2-40B4-BE49-F238E27FC236}">
                  <a16:creationId xmlns:a16="http://schemas.microsoft.com/office/drawing/2014/main" id="{9FF2FE2D-564E-2FAD-0698-CD6F9B77D9C4}"/>
                </a:ext>
              </a:extLst>
            </p:cNvPr>
            <p:cNvSpPr/>
            <p:nvPr/>
          </p:nvSpPr>
          <p:spPr>
            <a:xfrm>
              <a:off x="4849203" y="2463616"/>
              <a:ext cx="318231" cy="6629"/>
            </a:xfrm>
            <a:custGeom>
              <a:avLst/>
              <a:gdLst>
                <a:gd name="connsiteX0" fmla="*/ 0 w 318231"/>
                <a:gd name="connsiteY0" fmla="*/ 0 h 6629"/>
                <a:gd name="connsiteX1" fmla="*/ 318231 w 318231"/>
                <a:gd name="connsiteY1" fmla="*/ 0 h 6629"/>
              </a:gdLst>
              <a:ahLst/>
              <a:cxnLst>
                <a:cxn ang="0">
                  <a:pos x="connsiteX0" y="connsiteY0"/>
                </a:cxn>
                <a:cxn ang="0">
                  <a:pos x="connsiteX1" y="connsiteY1"/>
                </a:cxn>
              </a:cxnLst>
              <a:rect l="l" t="t" r="r" b="b"/>
              <a:pathLst>
                <a:path w="318231" h="6629">
                  <a:moveTo>
                    <a:pt x="0" y="0"/>
                  </a:moveTo>
                  <a:lnTo>
                    <a:pt x="318231" y="0"/>
                  </a:lnTo>
                </a:path>
              </a:pathLst>
            </a:custGeom>
            <a:ln w="12700" cap="flat">
              <a:solidFill>
                <a:schemeClr val="accent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61D26"/>
                </a:solidFill>
                <a:effectLst/>
                <a:uLnTx/>
                <a:uFillTx/>
                <a:latin typeface="Amazon Ember Display"/>
                <a:ea typeface="+mn-ea"/>
                <a:cs typeface="+mn-cs"/>
              </a:endParaRPr>
            </a:p>
          </p:txBody>
        </p:sp>
        <p:sp>
          <p:nvSpPr>
            <p:cNvPr id="18" name="Freeform 20">
              <a:extLst>
                <a:ext uri="{FF2B5EF4-FFF2-40B4-BE49-F238E27FC236}">
                  <a16:creationId xmlns:a16="http://schemas.microsoft.com/office/drawing/2014/main" id="{352D863E-BBF5-686F-6CBA-14FBC3C3DC04}"/>
                </a:ext>
              </a:extLst>
            </p:cNvPr>
            <p:cNvSpPr/>
            <p:nvPr/>
          </p:nvSpPr>
          <p:spPr>
            <a:xfrm>
              <a:off x="4484563" y="2463616"/>
              <a:ext cx="258562" cy="6629"/>
            </a:xfrm>
            <a:custGeom>
              <a:avLst/>
              <a:gdLst>
                <a:gd name="connsiteX0" fmla="*/ 0 w 258562"/>
                <a:gd name="connsiteY0" fmla="*/ 0 h 6629"/>
                <a:gd name="connsiteX1" fmla="*/ 258563 w 258562"/>
                <a:gd name="connsiteY1" fmla="*/ 0 h 6629"/>
              </a:gdLst>
              <a:ahLst/>
              <a:cxnLst>
                <a:cxn ang="0">
                  <a:pos x="connsiteX0" y="connsiteY0"/>
                </a:cxn>
                <a:cxn ang="0">
                  <a:pos x="connsiteX1" y="connsiteY1"/>
                </a:cxn>
              </a:cxnLst>
              <a:rect l="l" t="t" r="r" b="b"/>
              <a:pathLst>
                <a:path w="258562" h="6629">
                  <a:moveTo>
                    <a:pt x="0" y="0"/>
                  </a:moveTo>
                  <a:lnTo>
                    <a:pt x="258563" y="0"/>
                  </a:lnTo>
                </a:path>
              </a:pathLst>
            </a:custGeom>
            <a:ln w="12700" cap="flat">
              <a:solidFill>
                <a:schemeClr val="accent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61D26"/>
                </a:solidFill>
                <a:effectLst/>
                <a:uLnTx/>
                <a:uFillTx/>
                <a:latin typeface="Amazon Ember Display"/>
                <a:ea typeface="+mn-ea"/>
                <a:cs typeface="+mn-cs"/>
              </a:endParaRPr>
            </a:p>
          </p:txBody>
        </p:sp>
        <p:sp>
          <p:nvSpPr>
            <p:cNvPr id="19" name="Freeform 21">
              <a:extLst>
                <a:ext uri="{FF2B5EF4-FFF2-40B4-BE49-F238E27FC236}">
                  <a16:creationId xmlns:a16="http://schemas.microsoft.com/office/drawing/2014/main" id="{C922F180-1AF5-D128-4D61-3DB6FEE52E38}"/>
                </a:ext>
              </a:extLst>
            </p:cNvPr>
            <p:cNvSpPr/>
            <p:nvPr/>
          </p:nvSpPr>
          <p:spPr>
            <a:xfrm>
              <a:off x="4920805" y="2124832"/>
              <a:ext cx="62983" cy="28508"/>
            </a:xfrm>
            <a:custGeom>
              <a:avLst/>
              <a:gdLst>
                <a:gd name="connsiteX0" fmla="*/ 0 w 62983"/>
                <a:gd name="connsiteY0" fmla="*/ 0 h 28508"/>
                <a:gd name="connsiteX1" fmla="*/ 62983 w 62983"/>
                <a:gd name="connsiteY1" fmla="*/ 28508 h 28508"/>
              </a:gdLst>
              <a:ahLst/>
              <a:cxnLst>
                <a:cxn ang="0">
                  <a:pos x="connsiteX0" y="connsiteY0"/>
                </a:cxn>
                <a:cxn ang="0">
                  <a:pos x="connsiteX1" y="connsiteY1"/>
                </a:cxn>
              </a:cxnLst>
              <a:rect l="l" t="t" r="r" b="b"/>
              <a:pathLst>
                <a:path w="62983" h="28508">
                  <a:moveTo>
                    <a:pt x="0" y="0"/>
                  </a:moveTo>
                  <a:cubicBezTo>
                    <a:pt x="21878" y="7293"/>
                    <a:pt x="43094" y="16575"/>
                    <a:pt x="62983" y="28508"/>
                  </a:cubicBezTo>
                </a:path>
              </a:pathLst>
            </a:custGeom>
            <a:noFill/>
            <a:ln w="12700" cap="flat">
              <a:solidFill>
                <a:schemeClr val="accent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61D26"/>
                </a:solidFill>
                <a:effectLst/>
                <a:uLnTx/>
                <a:uFillTx/>
                <a:latin typeface="Amazon Ember Display"/>
                <a:ea typeface="+mn-ea"/>
                <a:cs typeface="+mn-cs"/>
              </a:endParaRPr>
            </a:p>
          </p:txBody>
        </p:sp>
        <p:sp>
          <p:nvSpPr>
            <p:cNvPr id="20" name="Freeform 22">
              <a:extLst>
                <a:ext uri="{FF2B5EF4-FFF2-40B4-BE49-F238E27FC236}">
                  <a16:creationId xmlns:a16="http://schemas.microsoft.com/office/drawing/2014/main" id="{678E0857-AB87-0C84-3A03-3B33B976DE33}"/>
                </a:ext>
              </a:extLst>
            </p:cNvPr>
            <p:cNvSpPr/>
            <p:nvPr/>
          </p:nvSpPr>
          <p:spPr>
            <a:xfrm>
              <a:off x="4546220" y="2108921"/>
              <a:ext cx="346739" cy="167071"/>
            </a:xfrm>
            <a:custGeom>
              <a:avLst/>
              <a:gdLst>
                <a:gd name="connsiteX0" fmla="*/ 0 w 346739"/>
                <a:gd name="connsiteY0" fmla="*/ 167071 h 167071"/>
                <a:gd name="connsiteX1" fmla="*/ 277126 w 346739"/>
                <a:gd name="connsiteY1" fmla="*/ 0 h 167071"/>
                <a:gd name="connsiteX2" fmla="*/ 346740 w 346739"/>
                <a:gd name="connsiteY2" fmla="*/ 7956 h 167071"/>
              </a:gdLst>
              <a:ahLst/>
              <a:cxnLst>
                <a:cxn ang="0">
                  <a:pos x="connsiteX0" y="connsiteY0"/>
                </a:cxn>
                <a:cxn ang="0">
                  <a:pos x="connsiteX1" y="connsiteY1"/>
                </a:cxn>
                <a:cxn ang="0">
                  <a:pos x="connsiteX2" y="connsiteY2"/>
                </a:cxn>
              </a:cxnLst>
              <a:rect l="l" t="t" r="r" b="b"/>
              <a:pathLst>
                <a:path w="346739" h="167071">
                  <a:moveTo>
                    <a:pt x="0" y="167071"/>
                  </a:moveTo>
                  <a:cubicBezTo>
                    <a:pt x="52376" y="67624"/>
                    <a:pt x="157127" y="0"/>
                    <a:pt x="277126" y="0"/>
                  </a:cubicBezTo>
                  <a:cubicBezTo>
                    <a:pt x="300994" y="0"/>
                    <a:pt x="324198" y="2652"/>
                    <a:pt x="346740" y="7956"/>
                  </a:cubicBezTo>
                </a:path>
              </a:pathLst>
            </a:custGeom>
            <a:noFill/>
            <a:ln w="12700" cap="flat">
              <a:solidFill>
                <a:schemeClr val="accent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61D26"/>
                </a:solidFill>
                <a:effectLst/>
                <a:uLnTx/>
                <a:uFillTx/>
                <a:latin typeface="Amazon Ember Display"/>
                <a:ea typeface="+mn-ea"/>
                <a:cs typeface="+mn-cs"/>
              </a:endParaRPr>
            </a:p>
          </p:txBody>
        </p:sp>
        <p:sp>
          <p:nvSpPr>
            <p:cNvPr id="21" name="Freeform 23">
              <a:extLst>
                <a:ext uri="{FF2B5EF4-FFF2-40B4-BE49-F238E27FC236}">
                  <a16:creationId xmlns:a16="http://schemas.microsoft.com/office/drawing/2014/main" id="{1D718434-6DE9-84D8-EEAB-938A6E4B1934}"/>
                </a:ext>
              </a:extLst>
            </p:cNvPr>
            <p:cNvSpPr/>
            <p:nvPr/>
          </p:nvSpPr>
          <p:spPr>
            <a:xfrm>
              <a:off x="4948650" y="2217650"/>
              <a:ext cx="147845" cy="212817"/>
            </a:xfrm>
            <a:custGeom>
              <a:avLst/>
              <a:gdLst>
                <a:gd name="connsiteX0" fmla="*/ 0 w 147845"/>
                <a:gd name="connsiteY0" fmla="*/ 58342 h 212817"/>
                <a:gd name="connsiteX1" fmla="*/ 57016 w 147845"/>
                <a:gd name="connsiteY1" fmla="*/ 212817 h 212817"/>
                <a:gd name="connsiteX2" fmla="*/ 147845 w 147845"/>
                <a:gd name="connsiteY2" fmla="*/ 212817 h 212817"/>
                <a:gd name="connsiteX3" fmla="*/ 56353 w 147845"/>
                <a:gd name="connsiteY3" fmla="*/ 0 h 212817"/>
              </a:gdLst>
              <a:ahLst/>
              <a:cxnLst>
                <a:cxn ang="0">
                  <a:pos x="connsiteX0" y="connsiteY0"/>
                </a:cxn>
                <a:cxn ang="0">
                  <a:pos x="connsiteX1" y="connsiteY1"/>
                </a:cxn>
                <a:cxn ang="0">
                  <a:pos x="connsiteX2" y="connsiteY2"/>
                </a:cxn>
                <a:cxn ang="0">
                  <a:pos x="connsiteX3" y="connsiteY3"/>
                </a:cxn>
              </a:cxnLst>
              <a:rect l="l" t="t" r="r" b="b"/>
              <a:pathLst>
                <a:path w="147845" h="212817">
                  <a:moveTo>
                    <a:pt x="0" y="58342"/>
                  </a:moveTo>
                  <a:cubicBezTo>
                    <a:pt x="34475" y="96132"/>
                    <a:pt x="55691" y="146519"/>
                    <a:pt x="57016" y="212817"/>
                  </a:cubicBezTo>
                  <a:lnTo>
                    <a:pt x="147845" y="212817"/>
                  </a:lnTo>
                  <a:cubicBezTo>
                    <a:pt x="146519" y="121326"/>
                    <a:pt x="111381" y="49724"/>
                    <a:pt x="56353" y="0"/>
                  </a:cubicBezTo>
                </a:path>
              </a:pathLst>
            </a:custGeom>
            <a:noFill/>
            <a:ln w="12700" cap="flat">
              <a:solidFill>
                <a:schemeClr val="accent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61D26"/>
                </a:solidFill>
                <a:effectLst/>
                <a:uLnTx/>
                <a:uFillTx/>
                <a:latin typeface="Amazon Ember Display"/>
                <a:ea typeface="+mn-ea"/>
                <a:cs typeface="+mn-cs"/>
              </a:endParaRPr>
            </a:p>
          </p:txBody>
        </p:sp>
        <p:sp>
          <p:nvSpPr>
            <p:cNvPr id="22" name="Freeform 24">
              <a:extLst>
                <a:ext uri="{FF2B5EF4-FFF2-40B4-BE49-F238E27FC236}">
                  <a16:creationId xmlns:a16="http://schemas.microsoft.com/office/drawing/2014/main" id="{E064A11E-ED8B-116A-ADD6-9D45A2B462A5}"/>
                </a:ext>
              </a:extLst>
            </p:cNvPr>
            <p:cNvSpPr/>
            <p:nvPr/>
          </p:nvSpPr>
          <p:spPr>
            <a:xfrm>
              <a:off x="4550861" y="2148036"/>
              <a:ext cx="437568" cy="282430"/>
            </a:xfrm>
            <a:custGeom>
              <a:avLst/>
              <a:gdLst>
                <a:gd name="connsiteX0" fmla="*/ 377237 w 437568"/>
                <a:gd name="connsiteY0" fmla="*/ 108729 h 282430"/>
                <a:gd name="connsiteX1" fmla="*/ 241325 w 437568"/>
                <a:gd name="connsiteY1" fmla="*/ 59668 h 282430"/>
                <a:gd name="connsiteX2" fmla="*/ 27845 w 437568"/>
                <a:gd name="connsiteY2" fmla="*/ 282430 h 282430"/>
                <a:gd name="connsiteX3" fmla="*/ 0 w 437568"/>
                <a:gd name="connsiteY3" fmla="*/ 282430 h 282430"/>
                <a:gd name="connsiteX4" fmla="*/ 272486 w 437568"/>
                <a:gd name="connsiteY4" fmla="*/ 0 h 282430"/>
                <a:gd name="connsiteX5" fmla="*/ 437568 w 437568"/>
                <a:gd name="connsiteY5" fmla="*/ 55691 h 282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568" h="282430">
                  <a:moveTo>
                    <a:pt x="377237" y="108729"/>
                  </a:moveTo>
                  <a:cubicBezTo>
                    <a:pt x="340110" y="78232"/>
                    <a:pt x="293038" y="59668"/>
                    <a:pt x="241325" y="59668"/>
                  </a:cubicBezTo>
                  <a:cubicBezTo>
                    <a:pt x="123978" y="59668"/>
                    <a:pt x="27845" y="165083"/>
                    <a:pt x="27845" y="282430"/>
                  </a:cubicBezTo>
                  <a:lnTo>
                    <a:pt x="0" y="282430"/>
                  </a:lnTo>
                  <a:cubicBezTo>
                    <a:pt x="0" y="132596"/>
                    <a:pt x="122652" y="0"/>
                    <a:pt x="272486" y="0"/>
                  </a:cubicBezTo>
                  <a:cubicBezTo>
                    <a:pt x="334143" y="0"/>
                    <a:pt x="391822" y="20552"/>
                    <a:pt x="437568" y="55691"/>
                  </a:cubicBezTo>
                </a:path>
              </a:pathLst>
            </a:custGeom>
            <a:noFill/>
            <a:ln w="12700" cap="flat">
              <a:solidFill>
                <a:schemeClr val="accent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61D26"/>
                </a:solidFill>
                <a:effectLst/>
                <a:uLnTx/>
                <a:uFillTx/>
                <a:latin typeface="Amazon Ember Display"/>
                <a:ea typeface="+mn-ea"/>
                <a:cs typeface="+mn-cs"/>
              </a:endParaRPr>
            </a:p>
          </p:txBody>
        </p:sp>
        <p:sp>
          <p:nvSpPr>
            <p:cNvPr id="23" name="Freeform 25">
              <a:extLst>
                <a:ext uri="{FF2B5EF4-FFF2-40B4-BE49-F238E27FC236}">
                  <a16:creationId xmlns:a16="http://schemas.microsoft.com/office/drawing/2014/main" id="{FED27D0C-3847-AA94-1AF3-D324EDE75AFD}"/>
                </a:ext>
              </a:extLst>
            </p:cNvPr>
            <p:cNvSpPr/>
            <p:nvPr/>
          </p:nvSpPr>
          <p:spPr>
            <a:xfrm>
              <a:off x="4724562" y="2350246"/>
              <a:ext cx="139226" cy="139226"/>
            </a:xfrm>
            <a:custGeom>
              <a:avLst/>
              <a:gdLst>
                <a:gd name="connsiteX0" fmla="*/ 139226 w 139226"/>
                <a:gd name="connsiteY0" fmla="*/ 69613 h 139226"/>
                <a:gd name="connsiteX1" fmla="*/ 69613 w 139226"/>
                <a:gd name="connsiteY1" fmla="*/ 139226 h 139226"/>
                <a:gd name="connsiteX2" fmla="*/ 0 w 139226"/>
                <a:gd name="connsiteY2" fmla="*/ 69613 h 139226"/>
                <a:gd name="connsiteX3" fmla="*/ 69613 w 139226"/>
                <a:gd name="connsiteY3" fmla="*/ 0 h 139226"/>
                <a:gd name="connsiteX4" fmla="*/ 139226 w 139226"/>
                <a:gd name="connsiteY4" fmla="*/ 69613 h 1392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226" h="139226">
                  <a:moveTo>
                    <a:pt x="139226" y="69613"/>
                  </a:moveTo>
                  <a:cubicBezTo>
                    <a:pt x="139226" y="108059"/>
                    <a:pt x="108059" y="139226"/>
                    <a:pt x="69613" y="139226"/>
                  </a:cubicBezTo>
                  <a:cubicBezTo>
                    <a:pt x="31167" y="139226"/>
                    <a:pt x="0" y="108059"/>
                    <a:pt x="0" y="69613"/>
                  </a:cubicBezTo>
                  <a:cubicBezTo>
                    <a:pt x="0" y="31167"/>
                    <a:pt x="31167" y="0"/>
                    <a:pt x="69613" y="0"/>
                  </a:cubicBezTo>
                  <a:cubicBezTo>
                    <a:pt x="108059" y="0"/>
                    <a:pt x="139226" y="31167"/>
                    <a:pt x="139226" y="69613"/>
                  </a:cubicBezTo>
                  <a:close/>
                </a:path>
              </a:pathLst>
            </a:custGeom>
            <a:noFill/>
            <a:ln w="12700" cap="flat">
              <a:solidFill>
                <a:schemeClr val="accent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61D26"/>
                </a:solidFill>
                <a:effectLst/>
                <a:uLnTx/>
                <a:uFillTx/>
                <a:latin typeface="Amazon Ember Display"/>
                <a:ea typeface="+mn-ea"/>
                <a:cs typeface="+mn-cs"/>
              </a:endParaRPr>
            </a:p>
          </p:txBody>
        </p:sp>
        <p:sp>
          <p:nvSpPr>
            <p:cNvPr id="24" name="Freeform 26">
              <a:extLst>
                <a:ext uri="{FF2B5EF4-FFF2-40B4-BE49-F238E27FC236}">
                  <a16:creationId xmlns:a16="http://schemas.microsoft.com/office/drawing/2014/main" id="{76634552-3B1B-425E-FC11-02BF724DF5CC}"/>
                </a:ext>
              </a:extLst>
            </p:cNvPr>
            <p:cNvSpPr/>
            <p:nvPr/>
          </p:nvSpPr>
          <p:spPr>
            <a:xfrm>
              <a:off x="4750419" y="2380743"/>
              <a:ext cx="83535" cy="83535"/>
            </a:xfrm>
            <a:custGeom>
              <a:avLst/>
              <a:gdLst>
                <a:gd name="connsiteX0" fmla="*/ 0 w 83535"/>
                <a:gd name="connsiteY0" fmla="*/ 41768 h 83535"/>
                <a:gd name="connsiteX1" fmla="*/ 41768 w 83535"/>
                <a:gd name="connsiteY1" fmla="*/ 0 h 83535"/>
                <a:gd name="connsiteX2" fmla="*/ 83536 w 83535"/>
                <a:gd name="connsiteY2" fmla="*/ 41768 h 83535"/>
                <a:gd name="connsiteX3" fmla="*/ 41768 w 83535"/>
                <a:gd name="connsiteY3" fmla="*/ 83536 h 83535"/>
              </a:gdLst>
              <a:ahLst/>
              <a:cxnLst>
                <a:cxn ang="0">
                  <a:pos x="connsiteX0" y="connsiteY0"/>
                </a:cxn>
                <a:cxn ang="0">
                  <a:pos x="connsiteX1" y="connsiteY1"/>
                </a:cxn>
                <a:cxn ang="0">
                  <a:pos x="connsiteX2" y="connsiteY2"/>
                </a:cxn>
                <a:cxn ang="0">
                  <a:pos x="connsiteX3" y="connsiteY3"/>
                </a:cxn>
              </a:cxnLst>
              <a:rect l="l" t="t" r="r" b="b"/>
              <a:pathLst>
                <a:path w="83535" h="83535">
                  <a:moveTo>
                    <a:pt x="0" y="41768"/>
                  </a:moveTo>
                  <a:cubicBezTo>
                    <a:pt x="0" y="18563"/>
                    <a:pt x="18564" y="0"/>
                    <a:pt x="41768" y="0"/>
                  </a:cubicBezTo>
                  <a:cubicBezTo>
                    <a:pt x="64972" y="0"/>
                    <a:pt x="83536" y="18563"/>
                    <a:pt x="83536" y="41768"/>
                  </a:cubicBezTo>
                  <a:cubicBezTo>
                    <a:pt x="83536" y="64972"/>
                    <a:pt x="64972" y="83536"/>
                    <a:pt x="41768" y="83536"/>
                  </a:cubicBezTo>
                </a:path>
              </a:pathLst>
            </a:custGeom>
            <a:noFill/>
            <a:ln w="12700" cap="flat">
              <a:solidFill>
                <a:schemeClr val="accent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61D26"/>
                </a:solidFill>
                <a:effectLst/>
                <a:uLnTx/>
                <a:uFillTx/>
                <a:latin typeface="Amazon Ember Display"/>
                <a:ea typeface="+mn-ea"/>
                <a:cs typeface="+mn-cs"/>
              </a:endParaRPr>
            </a:p>
          </p:txBody>
        </p:sp>
        <p:sp>
          <p:nvSpPr>
            <p:cNvPr id="25" name="Freeform 27">
              <a:extLst>
                <a:ext uri="{FF2B5EF4-FFF2-40B4-BE49-F238E27FC236}">
                  <a16:creationId xmlns:a16="http://schemas.microsoft.com/office/drawing/2014/main" id="{DFBAA695-7300-D580-4009-75BCCDB63BC8}"/>
                </a:ext>
              </a:extLst>
            </p:cNvPr>
            <p:cNvSpPr/>
            <p:nvPr/>
          </p:nvSpPr>
          <p:spPr>
            <a:xfrm>
              <a:off x="4822021" y="2150688"/>
              <a:ext cx="238010" cy="237347"/>
            </a:xfrm>
            <a:custGeom>
              <a:avLst/>
              <a:gdLst>
                <a:gd name="connsiteX0" fmla="*/ 0 w 238010"/>
                <a:gd name="connsiteY0" fmla="*/ 204861 h 237347"/>
                <a:gd name="connsiteX1" fmla="*/ 228066 w 238010"/>
                <a:gd name="connsiteY1" fmla="*/ 0 h 237347"/>
                <a:gd name="connsiteX2" fmla="*/ 238011 w 238010"/>
                <a:gd name="connsiteY2" fmla="*/ 9945 h 237347"/>
                <a:gd name="connsiteX3" fmla="*/ 34475 w 238010"/>
                <a:gd name="connsiteY3" fmla="*/ 237348 h 237347"/>
              </a:gdLst>
              <a:ahLst/>
              <a:cxnLst>
                <a:cxn ang="0">
                  <a:pos x="connsiteX0" y="connsiteY0"/>
                </a:cxn>
                <a:cxn ang="0">
                  <a:pos x="connsiteX1" y="connsiteY1"/>
                </a:cxn>
                <a:cxn ang="0">
                  <a:pos x="connsiteX2" y="connsiteY2"/>
                </a:cxn>
                <a:cxn ang="0">
                  <a:pos x="connsiteX3" y="connsiteY3"/>
                </a:cxn>
              </a:cxnLst>
              <a:rect l="l" t="t" r="r" b="b"/>
              <a:pathLst>
                <a:path w="238010" h="237347">
                  <a:moveTo>
                    <a:pt x="0" y="204861"/>
                  </a:moveTo>
                  <a:lnTo>
                    <a:pt x="228066" y="0"/>
                  </a:lnTo>
                  <a:lnTo>
                    <a:pt x="238011" y="9945"/>
                  </a:lnTo>
                  <a:lnTo>
                    <a:pt x="34475" y="237348"/>
                  </a:lnTo>
                </a:path>
              </a:pathLst>
            </a:custGeom>
            <a:noFill/>
            <a:ln w="12700" cap="flat">
              <a:solidFill>
                <a:schemeClr val="accent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61D26"/>
                </a:solidFill>
                <a:effectLst/>
                <a:uLnTx/>
                <a:uFillTx/>
                <a:latin typeface="Amazon Ember Display"/>
                <a:ea typeface="+mn-ea"/>
                <a:cs typeface="+mn-cs"/>
              </a:endParaRPr>
            </a:p>
          </p:txBody>
        </p:sp>
        <p:sp>
          <p:nvSpPr>
            <p:cNvPr id="26" name="Freeform 28">
              <a:extLst>
                <a:ext uri="{FF2B5EF4-FFF2-40B4-BE49-F238E27FC236}">
                  <a16:creationId xmlns:a16="http://schemas.microsoft.com/office/drawing/2014/main" id="{B3625436-0209-9E0C-0508-315B6B4EDC72}"/>
                </a:ext>
              </a:extLst>
            </p:cNvPr>
            <p:cNvSpPr/>
            <p:nvPr/>
          </p:nvSpPr>
          <p:spPr>
            <a:xfrm>
              <a:off x="4975832" y="2275992"/>
              <a:ext cx="74916" cy="41767"/>
            </a:xfrm>
            <a:custGeom>
              <a:avLst/>
              <a:gdLst>
                <a:gd name="connsiteX0" fmla="*/ 0 w 74916"/>
                <a:gd name="connsiteY0" fmla="*/ 41768 h 41767"/>
                <a:gd name="connsiteX1" fmla="*/ 74917 w 74916"/>
                <a:gd name="connsiteY1" fmla="*/ 0 h 41767"/>
              </a:gdLst>
              <a:ahLst/>
              <a:cxnLst>
                <a:cxn ang="0">
                  <a:pos x="connsiteX0" y="connsiteY0"/>
                </a:cxn>
                <a:cxn ang="0">
                  <a:pos x="connsiteX1" y="connsiteY1"/>
                </a:cxn>
              </a:cxnLst>
              <a:rect l="l" t="t" r="r" b="b"/>
              <a:pathLst>
                <a:path w="74916" h="41767">
                  <a:moveTo>
                    <a:pt x="0" y="41768"/>
                  </a:moveTo>
                  <a:lnTo>
                    <a:pt x="74917" y="0"/>
                  </a:lnTo>
                </a:path>
              </a:pathLst>
            </a:custGeom>
            <a:ln w="12700" cap="flat">
              <a:solidFill>
                <a:schemeClr val="accent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61D26"/>
                </a:solidFill>
                <a:effectLst/>
                <a:uLnTx/>
                <a:uFillTx/>
                <a:latin typeface="Amazon Ember Display"/>
                <a:ea typeface="+mn-ea"/>
                <a:cs typeface="+mn-cs"/>
              </a:endParaRPr>
            </a:p>
          </p:txBody>
        </p:sp>
        <p:sp>
          <p:nvSpPr>
            <p:cNvPr id="27" name="Freeform 29">
              <a:extLst>
                <a:ext uri="{FF2B5EF4-FFF2-40B4-BE49-F238E27FC236}">
                  <a16:creationId xmlns:a16="http://schemas.microsoft.com/office/drawing/2014/main" id="{01ABAFB1-0EFC-43D7-8369-60E1E0B70F75}"/>
                </a:ext>
              </a:extLst>
            </p:cNvPr>
            <p:cNvSpPr/>
            <p:nvPr/>
          </p:nvSpPr>
          <p:spPr>
            <a:xfrm>
              <a:off x="4997711" y="2348920"/>
              <a:ext cx="90165" cy="22541"/>
            </a:xfrm>
            <a:custGeom>
              <a:avLst/>
              <a:gdLst>
                <a:gd name="connsiteX0" fmla="*/ 0 w 90165"/>
                <a:gd name="connsiteY0" fmla="*/ 22541 h 22541"/>
                <a:gd name="connsiteX1" fmla="*/ 90166 w 90165"/>
                <a:gd name="connsiteY1" fmla="*/ 0 h 22541"/>
              </a:gdLst>
              <a:ahLst/>
              <a:cxnLst>
                <a:cxn ang="0">
                  <a:pos x="connsiteX0" y="connsiteY0"/>
                </a:cxn>
                <a:cxn ang="0">
                  <a:pos x="connsiteX1" y="connsiteY1"/>
                </a:cxn>
              </a:cxnLst>
              <a:rect l="l" t="t" r="r" b="b"/>
              <a:pathLst>
                <a:path w="90165" h="22541">
                  <a:moveTo>
                    <a:pt x="0" y="22541"/>
                  </a:moveTo>
                  <a:lnTo>
                    <a:pt x="90166" y="0"/>
                  </a:lnTo>
                </a:path>
              </a:pathLst>
            </a:custGeom>
            <a:ln w="12700" cap="flat">
              <a:solidFill>
                <a:schemeClr val="accent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61D26"/>
                </a:solidFill>
                <a:effectLst/>
                <a:uLnTx/>
                <a:uFillTx/>
                <a:latin typeface="Amazon Ember Display"/>
                <a:ea typeface="+mn-ea"/>
                <a:cs typeface="+mn-cs"/>
              </a:endParaRPr>
            </a:p>
          </p:txBody>
        </p:sp>
      </p:grpSp>
      <p:grpSp>
        <p:nvGrpSpPr>
          <p:cNvPr id="28" name="Picture 23">
            <a:extLst>
              <a:ext uri="{FF2B5EF4-FFF2-40B4-BE49-F238E27FC236}">
                <a16:creationId xmlns:a16="http://schemas.microsoft.com/office/drawing/2014/main" id="{EB577D0D-E76D-EA5B-FE81-17A56BA06D89}"/>
              </a:ext>
            </a:extLst>
          </p:cNvPr>
          <p:cNvGrpSpPr>
            <a:grpSpLocks noChangeAspect="1"/>
          </p:cNvGrpSpPr>
          <p:nvPr/>
        </p:nvGrpSpPr>
        <p:grpSpPr>
          <a:xfrm>
            <a:off x="4570646" y="3670522"/>
            <a:ext cx="685800" cy="631639"/>
            <a:chOff x="8294459" y="2004169"/>
            <a:chExt cx="646407" cy="595357"/>
          </a:xfrm>
          <a:noFill/>
        </p:grpSpPr>
        <p:sp>
          <p:nvSpPr>
            <p:cNvPr id="29" name="Freeform 12">
              <a:extLst>
                <a:ext uri="{FF2B5EF4-FFF2-40B4-BE49-F238E27FC236}">
                  <a16:creationId xmlns:a16="http://schemas.microsoft.com/office/drawing/2014/main" id="{CCF06E0A-D7A3-3843-C2C9-DB9EE4BD2503}"/>
                </a:ext>
              </a:extLst>
            </p:cNvPr>
            <p:cNvSpPr/>
            <p:nvPr/>
          </p:nvSpPr>
          <p:spPr>
            <a:xfrm>
              <a:off x="8327609" y="2053893"/>
              <a:ext cx="580109" cy="165745"/>
            </a:xfrm>
            <a:custGeom>
              <a:avLst/>
              <a:gdLst>
                <a:gd name="connsiteX0" fmla="*/ 580109 w 580109"/>
                <a:gd name="connsiteY0" fmla="*/ 0 h 165745"/>
                <a:gd name="connsiteX1" fmla="*/ 439557 w 580109"/>
                <a:gd name="connsiteY1" fmla="*/ 0 h 165745"/>
                <a:gd name="connsiteX2" fmla="*/ 331491 w 580109"/>
                <a:gd name="connsiteY2" fmla="*/ 82873 h 165745"/>
                <a:gd name="connsiteX3" fmla="*/ 223425 w 580109"/>
                <a:gd name="connsiteY3" fmla="*/ 82873 h 165745"/>
                <a:gd name="connsiteX4" fmla="*/ 116022 w 580109"/>
                <a:gd name="connsiteY4" fmla="*/ 165746 h 165745"/>
                <a:gd name="connsiteX5" fmla="*/ 0 w 580109"/>
                <a:gd name="connsiteY5" fmla="*/ 165746 h 16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0109" h="165745">
                  <a:moveTo>
                    <a:pt x="580109" y="0"/>
                  </a:moveTo>
                  <a:lnTo>
                    <a:pt x="439557" y="0"/>
                  </a:lnTo>
                  <a:lnTo>
                    <a:pt x="331491" y="82873"/>
                  </a:lnTo>
                  <a:lnTo>
                    <a:pt x="223425" y="82873"/>
                  </a:lnTo>
                  <a:lnTo>
                    <a:pt x="116022" y="165746"/>
                  </a:lnTo>
                  <a:lnTo>
                    <a:pt x="0" y="165746"/>
                  </a:lnTo>
                </a:path>
              </a:pathLst>
            </a:custGeom>
            <a:noFill/>
            <a:ln w="12700" cap="flat">
              <a:solidFill>
                <a:schemeClr val="accent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61D26"/>
                </a:solidFill>
                <a:effectLst/>
                <a:uLnTx/>
                <a:uFillTx/>
                <a:latin typeface="Amazon Ember Display"/>
                <a:ea typeface="+mn-ea"/>
                <a:cs typeface="+mn-cs"/>
              </a:endParaRPr>
            </a:p>
          </p:txBody>
        </p:sp>
        <p:sp>
          <p:nvSpPr>
            <p:cNvPr id="30" name="Freeform 13">
              <a:extLst>
                <a:ext uri="{FF2B5EF4-FFF2-40B4-BE49-F238E27FC236}">
                  <a16:creationId xmlns:a16="http://schemas.microsoft.com/office/drawing/2014/main" id="{DDA5AB5C-8264-135F-0ADD-A5FF4FF4960D}"/>
                </a:ext>
              </a:extLst>
            </p:cNvPr>
            <p:cNvSpPr/>
            <p:nvPr/>
          </p:nvSpPr>
          <p:spPr>
            <a:xfrm>
              <a:off x="8551033" y="2244832"/>
              <a:ext cx="132596" cy="348065"/>
            </a:xfrm>
            <a:custGeom>
              <a:avLst/>
              <a:gdLst>
                <a:gd name="connsiteX0" fmla="*/ 132596 w 132596"/>
                <a:gd name="connsiteY0" fmla="*/ 348066 h 348065"/>
                <a:gd name="connsiteX1" fmla="*/ 132596 w 132596"/>
                <a:gd name="connsiteY1" fmla="*/ 0 h 348065"/>
                <a:gd name="connsiteX2" fmla="*/ 0 w 132596"/>
                <a:gd name="connsiteY2" fmla="*/ 0 h 348065"/>
                <a:gd name="connsiteX3" fmla="*/ 0 w 132596"/>
                <a:gd name="connsiteY3" fmla="*/ 348066 h 348065"/>
              </a:gdLst>
              <a:ahLst/>
              <a:cxnLst>
                <a:cxn ang="0">
                  <a:pos x="connsiteX0" y="connsiteY0"/>
                </a:cxn>
                <a:cxn ang="0">
                  <a:pos x="connsiteX1" y="connsiteY1"/>
                </a:cxn>
                <a:cxn ang="0">
                  <a:pos x="connsiteX2" y="connsiteY2"/>
                </a:cxn>
                <a:cxn ang="0">
                  <a:pos x="connsiteX3" y="connsiteY3"/>
                </a:cxn>
              </a:cxnLst>
              <a:rect l="l" t="t" r="r" b="b"/>
              <a:pathLst>
                <a:path w="132596" h="348065">
                  <a:moveTo>
                    <a:pt x="132596" y="348066"/>
                  </a:moveTo>
                  <a:lnTo>
                    <a:pt x="132596" y="0"/>
                  </a:lnTo>
                  <a:lnTo>
                    <a:pt x="0" y="0"/>
                  </a:lnTo>
                  <a:lnTo>
                    <a:pt x="0" y="348066"/>
                  </a:lnTo>
                </a:path>
              </a:pathLst>
            </a:custGeom>
            <a:noFill/>
            <a:ln w="12700" cap="flat">
              <a:solidFill>
                <a:schemeClr val="accent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61D26"/>
                </a:solidFill>
                <a:effectLst/>
                <a:uLnTx/>
                <a:uFillTx/>
                <a:latin typeface="Amazon Ember Display"/>
                <a:ea typeface="+mn-ea"/>
                <a:cs typeface="+mn-cs"/>
              </a:endParaRPr>
            </a:p>
          </p:txBody>
        </p:sp>
        <p:sp>
          <p:nvSpPr>
            <p:cNvPr id="31" name="Freeform 14">
              <a:extLst>
                <a:ext uri="{FF2B5EF4-FFF2-40B4-BE49-F238E27FC236}">
                  <a16:creationId xmlns:a16="http://schemas.microsoft.com/office/drawing/2014/main" id="{066F1EC5-C403-C9DB-D454-F6BB74BA190D}"/>
                </a:ext>
              </a:extLst>
            </p:cNvPr>
            <p:cNvSpPr/>
            <p:nvPr/>
          </p:nvSpPr>
          <p:spPr>
            <a:xfrm>
              <a:off x="8767166" y="2161959"/>
              <a:ext cx="131270" cy="430938"/>
            </a:xfrm>
            <a:custGeom>
              <a:avLst/>
              <a:gdLst>
                <a:gd name="connsiteX0" fmla="*/ 131270 w 131270"/>
                <a:gd name="connsiteY0" fmla="*/ 430938 h 430938"/>
                <a:gd name="connsiteX1" fmla="*/ 131270 w 131270"/>
                <a:gd name="connsiteY1" fmla="*/ 0 h 430938"/>
                <a:gd name="connsiteX2" fmla="*/ 0 w 131270"/>
                <a:gd name="connsiteY2" fmla="*/ 0 h 430938"/>
                <a:gd name="connsiteX3" fmla="*/ 0 w 131270"/>
                <a:gd name="connsiteY3" fmla="*/ 430938 h 430938"/>
              </a:gdLst>
              <a:ahLst/>
              <a:cxnLst>
                <a:cxn ang="0">
                  <a:pos x="connsiteX0" y="connsiteY0"/>
                </a:cxn>
                <a:cxn ang="0">
                  <a:pos x="connsiteX1" y="connsiteY1"/>
                </a:cxn>
                <a:cxn ang="0">
                  <a:pos x="connsiteX2" y="connsiteY2"/>
                </a:cxn>
                <a:cxn ang="0">
                  <a:pos x="connsiteX3" y="connsiteY3"/>
                </a:cxn>
              </a:cxnLst>
              <a:rect l="l" t="t" r="r" b="b"/>
              <a:pathLst>
                <a:path w="131270" h="430938">
                  <a:moveTo>
                    <a:pt x="131270" y="430938"/>
                  </a:moveTo>
                  <a:lnTo>
                    <a:pt x="131270" y="0"/>
                  </a:lnTo>
                  <a:lnTo>
                    <a:pt x="0" y="0"/>
                  </a:lnTo>
                  <a:lnTo>
                    <a:pt x="0" y="430938"/>
                  </a:lnTo>
                </a:path>
              </a:pathLst>
            </a:custGeom>
            <a:noFill/>
            <a:ln w="12700" cap="flat">
              <a:solidFill>
                <a:schemeClr val="accent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61D26"/>
                </a:solidFill>
                <a:effectLst/>
                <a:uLnTx/>
                <a:uFillTx/>
                <a:latin typeface="Amazon Ember Display"/>
                <a:ea typeface="+mn-ea"/>
                <a:cs typeface="+mn-cs"/>
              </a:endParaRPr>
            </a:p>
          </p:txBody>
        </p:sp>
        <p:sp>
          <p:nvSpPr>
            <p:cNvPr id="32" name="Freeform 15">
              <a:extLst>
                <a:ext uri="{FF2B5EF4-FFF2-40B4-BE49-F238E27FC236}">
                  <a16:creationId xmlns:a16="http://schemas.microsoft.com/office/drawing/2014/main" id="{5163F13F-CD59-1E5F-A0B1-748FEDEE84DF}"/>
                </a:ext>
              </a:extLst>
            </p:cNvPr>
            <p:cNvSpPr/>
            <p:nvPr/>
          </p:nvSpPr>
          <p:spPr>
            <a:xfrm>
              <a:off x="8335564" y="2327705"/>
              <a:ext cx="133922" cy="265192"/>
            </a:xfrm>
            <a:custGeom>
              <a:avLst/>
              <a:gdLst>
                <a:gd name="connsiteX0" fmla="*/ 132596 w 133922"/>
                <a:gd name="connsiteY0" fmla="*/ 265193 h 265192"/>
                <a:gd name="connsiteX1" fmla="*/ 133922 w 133922"/>
                <a:gd name="connsiteY1" fmla="*/ 0 h 265192"/>
                <a:gd name="connsiteX2" fmla="*/ 0 w 133922"/>
                <a:gd name="connsiteY2" fmla="*/ 0 h 265192"/>
                <a:gd name="connsiteX3" fmla="*/ 0 w 133922"/>
                <a:gd name="connsiteY3" fmla="*/ 265193 h 265192"/>
              </a:gdLst>
              <a:ahLst/>
              <a:cxnLst>
                <a:cxn ang="0">
                  <a:pos x="connsiteX0" y="connsiteY0"/>
                </a:cxn>
                <a:cxn ang="0">
                  <a:pos x="connsiteX1" y="connsiteY1"/>
                </a:cxn>
                <a:cxn ang="0">
                  <a:pos x="connsiteX2" y="connsiteY2"/>
                </a:cxn>
                <a:cxn ang="0">
                  <a:pos x="connsiteX3" y="connsiteY3"/>
                </a:cxn>
              </a:cxnLst>
              <a:rect l="l" t="t" r="r" b="b"/>
              <a:pathLst>
                <a:path w="133922" h="265192">
                  <a:moveTo>
                    <a:pt x="132596" y="265193"/>
                  </a:moveTo>
                  <a:lnTo>
                    <a:pt x="133922" y="0"/>
                  </a:lnTo>
                  <a:lnTo>
                    <a:pt x="0" y="0"/>
                  </a:lnTo>
                  <a:lnTo>
                    <a:pt x="0" y="265193"/>
                  </a:lnTo>
                </a:path>
              </a:pathLst>
            </a:custGeom>
            <a:noFill/>
            <a:ln w="12700" cap="flat">
              <a:solidFill>
                <a:schemeClr val="accent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61D26"/>
                </a:solidFill>
                <a:effectLst/>
                <a:uLnTx/>
                <a:uFillTx/>
                <a:latin typeface="Amazon Ember Display"/>
                <a:ea typeface="+mn-ea"/>
                <a:cs typeface="+mn-cs"/>
              </a:endParaRPr>
            </a:p>
          </p:txBody>
        </p:sp>
        <p:sp>
          <p:nvSpPr>
            <p:cNvPr id="33" name="Freeform 16">
              <a:extLst>
                <a:ext uri="{FF2B5EF4-FFF2-40B4-BE49-F238E27FC236}">
                  <a16:creationId xmlns:a16="http://schemas.microsoft.com/office/drawing/2014/main" id="{5B6A6E40-4E26-E998-F663-E56F8FD23D18}"/>
                </a:ext>
              </a:extLst>
            </p:cNvPr>
            <p:cNvSpPr/>
            <p:nvPr/>
          </p:nvSpPr>
          <p:spPr>
            <a:xfrm>
              <a:off x="8294459" y="2592897"/>
              <a:ext cx="646407" cy="6629"/>
            </a:xfrm>
            <a:custGeom>
              <a:avLst/>
              <a:gdLst>
                <a:gd name="connsiteX0" fmla="*/ 646407 w 646407"/>
                <a:gd name="connsiteY0" fmla="*/ 0 h 6629"/>
                <a:gd name="connsiteX1" fmla="*/ 0 w 646407"/>
                <a:gd name="connsiteY1" fmla="*/ 0 h 6629"/>
              </a:gdLst>
              <a:ahLst/>
              <a:cxnLst>
                <a:cxn ang="0">
                  <a:pos x="connsiteX0" y="connsiteY0"/>
                </a:cxn>
                <a:cxn ang="0">
                  <a:pos x="connsiteX1" y="connsiteY1"/>
                </a:cxn>
              </a:cxnLst>
              <a:rect l="l" t="t" r="r" b="b"/>
              <a:pathLst>
                <a:path w="646407" h="6629">
                  <a:moveTo>
                    <a:pt x="646407" y="0"/>
                  </a:moveTo>
                  <a:lnTo>
                    <a:pt x="0" y="0"/>
                  </a:lnTo>
                </a:path>
              </a:pathLst>
            </a:custGeom>
            <a:ln w="12700" cap="flat">
              <a:solidFill>
                <a:schemeClr val="accent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61D26"/>
                </a:solidFill>
                <a:effectLst/>
                <a:uLnTx/>
                <a:uFillTx/>
                <a:latin typeface="Amazon Ember Display"/>
                <a:ea typeface="+mn-ea"/>
                <a:cs typeface="+mn-cs"/>
              </a:endParaRPr>
            </a:p>
          </p:txBody>
        </p:sp>
        <p:sp>
          <p:nvSpPr>
            <p:cNvPr id="34" name="Freeform 17">
              <a:extLst>
                <a:ext uri="{FF2B5EF4-FFF2-40B4-BE49-F238E27FC236}">
                  <a16:creationId xmlns:a16="http://schemas.microsoft.com/office/drawing/2014/main" id="{416E159C-1BF4-3328-D142-951FD45E8966}"/>
                </a:ext>
              </a:extLst>
            </p:cNvPr>
            <p:cNvSpPr/>
            <p:nvPr/>
          </p:nvSpPr>
          <p:spPr>
            <a:xfrm>
              <a:off x="8870591" y="2004169"/>
              <a:ext cx="41104" cy="100110"/>
            </a:xfrm>
            <a:custGeom>
              <a:avLst/>
              <a:gdLst>
                <a:gd name="connsiteX0" fmla="*/ 0 w 41104"/>
                <a:gd name="connsiteY0" fmla="*/ 0 h 100110"/>
                <a:gd name="connsiteX1" fmla="*/ 41105 w 41104"/>
                <a:gd name="connsiteY1" fmla="*/ 49724 h 100110"/>
                <a:gd name="connsiteX2" fmla="*/ 0 w 41104"/>
                <a:gd name="connsiteY2" fmla="*/ 100110 h 100110"/>
              </a:gdLst>
              <a:ahLst/>
              <a:cxnLst>
                <a:cxn ang="0">
                  <a:pos x="connsiteX0" y="connsiteY0"/>
                </a:cxn>
                <a:cxn ang="0">
                  <a:pos x="connsiteX1" y="connsiteY1"/>
                </a:cxn>
                <a:cxn ang="0">
                  <a:pos x="connsiteX2" y="connsiteY2"/>
                </a:cxn>
              </a:cxnLst>
              <a:rect l="l" t="t" r="r" b="b"/>
              <a:pathLst>
                <a:path w="41104" h="100110">
                  <a:moveTo>
                    <a:pt x="0" y="0"/>
                  </a:moveTo>
                  <a:lnTo>
                    <a:pt x="41105" y="49724"/>
                  </a:lnTo>
                  <a:lnTo>
                    <a:pt x="0" y="100110"/>
                  </a:lnTo>
                </a:path>
              </a:pathLst>
            </a:custGeom>
            <a:noFill/>
            <a:ln w="12700" cap="flat">
              <a:solidFill>
                <a:schemeClr val="accent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61D26"/>
                </a:solidFill>
                <a:effectLst/>
                <a:uLnTx/>
                <a:uFillTx/>
                <a:latin typeface="Amazon Ember Display"/>
                <a:ea typeface="+mn-ea"/>
                <a:cs typeface="+mn-cs"/>
              </a:endParaRPr>
            </a:p>
          </p:txBody>
        </p:sp>
      </p:grpSp>
      <p:sp>
        <p:nvSpPr>
          <p:cNvPr id="40" name="Title 3">
            <a:extLst>
              <a:ext uri="{FF2B5EF4-FFF2-40B4-BE49-F238E27FC236}">
                <a16:creationId xmlns:a16="http://schemas.microsoft.com/office/drawing/2014/main" id="{ED809967-ED4C-554C-64E7-4888C7A1B864}"/>
              </a:ext>
            </a:extLst>
          </p:cNvPr>
          <p:cNvSpPr>
            <a:spLocks noGrp="1"/>
          </p:cNvSpPr>
          <p:nvPr>
            <p:ph type="title"/>
          </p:nvPr>
        </p:nvSpPr>
        <p:spPr>
          <a:xfrm>
            <a:off x="525376" y="914401"/>
            <a:ext cx="10972800" cy="590931"/>
          </a:xfrm>
        </p:spPr>
        <p:txBody>
          <a:bodyPr/>
          <a:lstStyle/>
          <a:p>
            <a:r>
              <a:rPr lang="en-US" dirty="0"/>
              <a:t>Co-selling with AWS</a:t>
            </a:r>
          </a:p>
        </p:txBody>
      </p:sp>
      <p:sp>
        <p:nvSpPr>
          <p:cNvPr id="42" name="Slide Number Placeholder 2">
            <a:extLst>
              <a:ext uri="{FF2B5EF4-FFF2-40B4-BE49-F238E27FC236}">
                <a16:creationId xmlns:a16="http://schemas.microsoft.com/office/drawing/2014/main" id="{F390CF13-7F61-79C8-F2A2-24181D54CF3A}"/>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82000"/>
                  </a:schemeClr>
                </a:solidFill>
                <a:latin typeface="Amazon Ember Display" panose="020F06030202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B4B8DE2-A4E8-46E4-8BBF-D75455EFF32C}" type="slidenum">
              <a:rPr kumimoji="0" lang="en-US" sz="1200" b="0" i="0" u="none" strike="noStrike" kern="1200" cap="none" spc="0" normalizeH="0" baseline="0" noProof="0" smtClean="0">
                <a:ln>
                  <a:noFill/>
                </a:ln>
                <a:solidFill>
                  <a:prstClr val="black">
                    <a:tint val="82000"/>
                  </a:prstClr>
                </a:solidFill>
                <a:effectLst/>
                <a:uLnTx/>
                <a:uFillTx/>
                <a:latin typeface="Amazon Ember Display" panose="020F0603020204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tint val="82000"/>
                </a:prstClr>
              </a:solidFill>
              <a:effectLst/>
              <a:uLnTx/>
              <a:uFillTx/>
              <a:latin typeface="Amazon Ember Display" panose="020F0603020204020204" pitchFamily="34" charset="0"/>
              <a:ea typeface="+mn-ea"/>
              <a:cs typeface="+mn-cs"/>
            </a:endParaRPr>
          </a:p>
        </p:txBody>
      </p:sp>
    </p:spTree>
    <p:extLst>
      <p:ext uri="{BB962C8B-B14F-4D97-AF65-F5344CB8AC3E}">
        <p14:creationId xmlns:p14="http://schemas.microsoft.com/office/powerpoint/2010/main" val="622559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138CB-906E-F731-FF20-63D688AB679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DF7EB1B-E5E1-1588-FCC3-5BD9A53FCF2E}"/>
              </a:ext>
            </a:extLst>
          </p:cNvPr>
          <p:cNvSpPr>
            <a:spLocks noGrp="1"/>
          </p:cNvSpPr>
          <p:nvPr>
            <p:ph type="title"/>
          </p:nvPr>
        </p:nvSpPr>
        <p:spPr/>
        <p:txBody>
          <a:bodyPr/>
          <a:lstStyle/>
          <a:p>
            <a:r>
              <a:rPr lang="en-US" dirty="0"/>
              <a:t>Why co-sell with AWS?</a:t>
            </a:r>
          </a:p>
        </p:txBody>
      </p:sp>
      <p:sp>
        <p:nvSpPr>
          <p:cNvPr id="4" name="Rounded Rectangle 46">
            <a:extLst>
              <a:ext uri="{FF2B5EF4-FFF2-40B4-BE49-F238E27FC236}">
                <a16:creationId xmlns:a16="http://schemas.microsoft.com/office/drawing/2014/main" id="{6D7C6A57-A51A-9647-50E1-135483B18A9B}"/>
              </a:ext>
            </a:extLst>
          </p:cNvPr>
          <p:cNvSpPr/>
          <p:nvPr/>
        </p:nvSpPr>
        <p:spPr>
          <a:xfrm>
            <a:off x="594361" y="2073414"/>
            <a:ext cx="3271520" cy="2371725"/>
          </a:xfrm>
          <a:prstGeom prst="roundRect">
            <a:avLst>
              <a:gd name="adj" fmla="val 11425"/>
            </a:avLst>
          </a:prstGeom>
          <a:solidFill>
            <a:schemeClr val="bg1"/>
          </a:solidFill>
          <a:ln>
            <a:noFill/>
          </a:ln>
          <a:effectLst>
            <a:outerShdw blurRad="2032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37160" rIns="182880" bIns="137160" rtlCol="0" anchor="b" anchorCtr="0">
            <a:noAutofit/>
          </a:bodyPr>
          <a:lstStyle/>
          <a:p>
            <a:pPr>
              <a:lnSpc>
                <a:spcPct val="120000"/>
              </a:lnSpc>
            </a:pPr>
            <a:r>
              <a:rPr lang="en-US"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of Partners report higher average revenue growth*</a:t>
            </a:r>
          </a:p>
        </p:txBody>
      </p:sp>
      <p:sp>
        <p:nvSpPr>
          <p:cNvPr id="6" name="Rounded Rectangle 48">
            <a:extLst>
              <a:ext uri="{FF2B5EF4-FFF2-40B4-BE49-F238E27FC236}">
                <a16:creationId xmlns:a16="http://schemas.microsoft.com/office/drawing/2014/main" id="{F2EB95BF-7D93-4880-1B02-EE447BF3E565}"/>
              </a:ext>
            </a:extLst>
          </p:cNvPr>
          <p:cNvSpPr/>
          <p:nvPr/>
        </p:nvSpPr>
        <p:spPr>
          <a:xfrm>
            <a:off x="4460240" y="2073414"/>
            <a:ext cx="3271520" cy="2371725"/>
          </a:xfrm>
          <a:prstGeom prst="roundRect">
            <a:avLst>
              <a:gd name="adj" fmla="val 11425"/>
            </a:avLst>
          </a:prstGeom>
          <a:solidFill>
            <a:schemeClr val="bg1"/>
          </a:solidFill>
          <a:ln>
            <a:noFill/>
          </a:ln>
          <a:effectLst>
            <a:outerShdw blurRad="2032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37160" rIns="182880" bIns="137160" rtlCol="0" anchor="b" anchorCtr="0">
            <a:noAutofit/>
          </a:bodyPr>
          <a:lstStyle/>
          <a:p>
            <a:pPr>
              <a:lnSpc>
                <a:spcPct val="120000"/>
              </a:lnSpc>
            </a:pPr>
            <a:r>
              <a:rPr lang="en-US"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reported higher</a:t>
            </a:r>
            <a:br>
              <a:rPr lang="en-US"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br>
            <a:r>
              <a:rPr lang="en-US"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close rates*</a:t>
            </a:r>
          </a:p>
        </p:txBody>
      </p:sp>
      <p:sp>
        <p:nvSpPr>
          <p:cNvPr id="35" name="Rounded Rectangle 49">
            <a:extLst>
              <a:ext uri="{FF2B5EF4-FFF2-40B4-BE49-F238E27FC236}">
                <a16:creationId xmlns:a16="http://schemas.microsoft.com/office/drawing/2014/main" id="{3EFC9E0D-E165-809F-6764-58A2890EF416}"/>
              </a:ext>
            </a:extLst>
          </p:cNvPr>
          <p:cNvSpPr/>
          <p:nvPr/>
        </p:nvSpPr>
        <p:spPr>
          <a:xfrm>
            <a:off x="8326119" y="2073414"/>
            <a:ext cx="3271520" cy="2371725"/>
          </a:xfrm>
          <a:prstGeom prst="roundRect">
            <a:avLst>
              <a:gd name="adj" fmla="val 11425"/>
            </a:avLst>
          </a:prstGeom>
          <a:solidFill>
            <a:schemeClr val="bg1"/>
          </a:solidFill>
          <a:ln>
            <a:noFill/>
          </a:ln>
          <a:effectLst>
            <a:outerShdw blurRad="2032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37160" rIns="182880" bIns="137160" rtlCol="0" anchor="b" anchorCtr="0">
            <a:noAutofit/>
          </a:bodyPr>
          <a:lstStyle/>
          <a:p>
            <a:pPr>
              <a:lnSpc>
                <a:spcPct val="120000"/>
              </a:lnSpc>
            </a:pPr>
            <a:r>
              <a:rPr lang="en-US"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saw larger deals as</a:t>
            </a:r>
            <a:br>
              <a:rPr lang="en-US"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br>
            <a:r>
              <a:rPr lang="en-US"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a result of co-sell*</a:t>
            </a:r>
          </a:p>
        </p:txBody>
      </p:sp>
      <p:sp>
        <p:nvSpPr>
          <p:cNvPr id="36" name="Oval 35">
            <a:extLst>
              <a:ext uri="{FF2B5EF4-FFF2-40B4-BE49-F238E27FC236}">
                <a16:creationId xmlns:a16="http://schemas.microsoft.com/office/drawing/2014/main" id="{2E7FCEB2-6CBF-1ED9-F6EC-74E2A4A2468A}"/>
              </a:ext>
            </a:extLst>
          </p:cNvPr>
          <p:cNvSpPr/>
          <p:nvPr/>
        </p:nvSpPr>
        <p:spPr>
          <a:xfrm>
            <a:off x="4781711" y="2405002"/>
            <a:ext cx="914400" cy="914400"/>
          </a:xfrm>
          <a:prstGeom prst="ellipse">
            <a:avLst/>
          </a:prstGeom>
          <a:noFill/>
          <a:ln w="127000">
            <a:solidFill>
              <a:srgbClr val="D3C8FC"/>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dirty="0" err="1">
              <a:solidFill>
                <a:schemeClr val="tx1"/>
              </a:solidFill>
            </a:endParaRPr>
          </a:p>
        </p:txBody>
      </p:sp>
      <p:sp>
        <p:nvSpPr>
          <p:cNvPr id="37" name="Oval 36">
            <a:extLst>
              <a:ext uri="{FF2B5EF4-FFF2-40B4-BE49-F238E27FC236}">
                <a16:creationId xmlns:a16="http://schemas.microsoft.com/office/drawing/2014/main" id="{A5341997-5EC1-6D2E-401D-44FD1D15D062}"/>
              </a:ext>
            </a:extLst>
          </p:cNvPr>
          <p:cNvSpPr/>
          <p:nvPr/>
        </p:nvSpPr>
        <p:spPr>
          <a:xfrm>
            <a:off x="8647591" y="2405002"/>
            <a:ext cx="914400" cy="914400"/>
          </a:xfrm>
          <a:prstGeom prst="ellipse">
            <a:avLst/>
          </a:prstGeom>
          <a:noFill/>
          <a:ln w="127000">
            <a:solidFill>
              <a:srgbClr val="D3C8FC"/>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dirty="0" err="1">
              <a:solidFill>
                <a:schemeClr val="tx1"/>
              </a:solidFill>
            </a:endParaRPr>
          </a:p>
        </p:txBody>
      </p:sp>
      <p:sp>
        <p:nvSpPr>
          <p:cNvPr id="38" name="Oval 37">
            <a:extLst>
              <a:ext uri="{FF2B5EF4-FFF2-40B4-BE49-F238E27FC236}">
                <a16:creationId xmlns:a16="http://schemas.microsoft.com/office/drawing/2014/main" id="{D61F122D-C30D-EB4D-F534-AC6AE211CCA3}"/>
              </a:ext>
            </a:extLst>
          </p:cNvPr>
          <p:cNvSpPr/>
          <p:nvPr/>
        </p:nvSpPr>
        <p:spPr>
          <a:xfrm>
            <a:off x="915831" y="2405002"/>
            <a:ext cx="914400" cy="914400"/>
          </a:xfrm>
          <a:prstGeom prst="ellipse">
            <a:avLst/>
          </a:prstGeom>
          <a:noFill/>
          <a:ln w="127000">
            <a:solidFill>
              <a:srgbClr val="D3C8FC"/>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dirty="0" err="1">
              <a:solidFill>
                <a:schemeClr val="tx1"/>
              </a:solidFill>
            </a:endParaRPr>
          </a:p>
        </p:txBody>
      </p:sp>
      <p:sp>
        <p:nvSpPr>
          <p:cNvPr id="39" name="Arc 38">
            <a:extLst>
              <a:ext uri="{FF2B5EF4-FFF2-40B4-BE49-F238E27FC236}">
                <a16:creationId xmlns:a16="http://schemas.microsoft.com/office/drawing/2014/main" id="{5DD8E5A6-8606-CEC0-E891-8649A1AF38A9}"/>
              </a:ext>
            </a:extLst>
          </p:cNvPr>
          <p:cNvSpPr/>
          <p:nvPr/>
        </p:nvSpPr>
        <p:spPr>
          <a:xfrm>
            <a:off x="915831" y="2405002"/>
            <a:ext cx="914400" cy="914400"/>
          </a:xfrm>
          <a:prstGeom prst="arc">
            <a:avLst>
              <a:gd name="adj1" fmla="val 16200000"/>
              <a:gd name="adj2" fmla="val 5604995"/>
            </a:avLst>
          </a:prstGeom>
          <a:ln w="127000" cap="rnd">
            <a:solidFill>
              <a:srgbClr val="5327F5"/>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Arc 39">
            <a:extLst>
              <a:ext uri="{FF2B5EF4-FFF2-40B4-BE49-F238E27FC236}">
                <a16:creationId xmlns:a16="http://schemas.microsoft.com/office/drawing/2014/main" id="{4190FF91-B4DA-B75B-AEFA-A9A75065BA56}"/>
              </a:ext>
            </a:extLst>
          </p:cNvPr>
          <p:cNvSpPr/>
          <p:nvPr/>
        </p:nvSpPr>
        <p:spPr>
          <a:xfrm>
            <a:off x="4781711" y="2405002"/>
            <a:ext cx="914400" cy="914400"/>
          </a:xfrm>
          <a:prstGeom prst="arc">
            <a:avLst>
              <a:gd name="adj1" fmla="val 16200000"/>
              <a:gd name="adj2" fmla="val 8315449"/>
            </a:avLst>
          </a:prstGeom>
          <a:ln w="127000" cap="rnd">
            <a:solidFill>
              <a:srgbClr val="5327F5"/>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Arc 40">
            <a:extLst>
              <a:ext uri="{FF2B5EF4-FFF2-40B4-BE49-F238E27FC236}">
                <a16:creationId xmlns:a16="http://schemas.microsoft.com/office/drawing/2014/main" id="{8B5BFD02-1575-A861-E091-978E0351D5C4}"/>
              </a:ext>
            </a:extLst>
          </p:cNvPr>
          <p:cNvSpPr/>
          <p:nvPr/>
        </p:nvSpPr>
        <p:spPr>
          <a:xfrm>
            <a:off x="8647591" y="2405002"/>
            <a:ext cx="914400" cy="914400"/>
          </a:xfrm>
          <a:prstGeom prst="arc">
            <a:avLst>
              <a:gd name="adj1" fmla="val 16200000"/>
              <a:gd name="adj2" fmla="val 6265244"/>
            </a:avLst>
          </a:prstGeom>
          <a:ln w="127000" cap="rnd">
            <a:solidFill>
              <a:srgbClr val="5327F5"/>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2" name="TextBox 41">
            <a:extLst>
              <a:ext uri="{FF2B5EF4-FFF2-40B4-BE49-F238E27FC236}">
                <a16:creationId xmlns:a16="http://schemas.microsoft.com/office/drawing/2014/main" id="{BCE5C8DF-41CB-2576-31E3-668017A2005B}"/>
              </a:ext>
            </a:extLst>
          </p:cNvPr>
          <p:cNvSpPr txBox="1"/>
          <p:nvPr/>
        </p:nvSpPr>
        <p:spPr>
          <a:xfrm>
            <a:off x="1830231" y="2354371"/>
            <a:ext cx="1615827" cy="1015663"/>
          </a:xfrm>
          <a:prstGeom prst="rect">
            <a:avLst/>
          </a:prstGeom>
          <a:noFill/>
        </p:spPr>
        <p:txBody>
          <a:bodyPr wrap="none" lIns="228600" rIns="0" rtlCol="0" anchor="ctr">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a:noFill/>
                </a:ln>
                <a:solidFill>
                  <a:srgbClr val="5327F5"/>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rPr>
              <a:t>51%</a:t>
            </a:r>
          </a:p>
        </p:txBody>
      </p:sp>
      <p:sp>
        <p:nvSpPr>
          <p:cNvPr id="43" name="TextBox 42">
            <a:extLst>
              <a:ext uri="{FF2B5EF4-FFF2-40B4-BE49-F238E27FC236}">
                <a16:creationId xmlns:a16="http://schemas.microsoft.com/office/drawing/2014/main" id="{A49805B9-355D-9C16-10EA-2BC25FF9C2AE}"/>
              </a:ext>
            </a:extLst>
          </p:cNvPr>
          <p:cNvSpPr txBox="1"/>
          <p:nvPr/>
        </p:nvSpPr>
        <p:spPr>
          <a:xfrm>
            <a:off x="5696111" y="2354371"/>
            <a:ext cx="1615827" cy="1015663"/>
          </a:xfrm>
          <a:prstGeom prst="rect">
            <a:avLst/>
          </a:prstGeom>
          <a:noFill/>
        </p:spPr>
        <p:txBody>
          <a:bodyPr wrap="none" lIns="228600" rIns="0" rtlCol="0" anchor="ctr">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a:noFill/>
                </a:ln>
                <a:solidFill>
                  <a:srgbClr val="5327F5"/>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rPr>
              <a:t>65%</a:t>
            </a:r>
          </a:p>
        </p:txBody>
      </p:sp>
      <p:sp>
        <p:nvSpPr>
          <p:cNvPr id="44" name="TextBox 43">
            <a:extLst>
              <a:ext uri="{FF2B5EF4-FFF2-40B4-BE49-F238E27FC236}">
                <a16:creationId xmlns:a16="http://schemas.microsoft.com/office/drawing/2014/main" id="{57B16B99-AC88-0F0F-D5BC-20E25A9B0429}"/>
              </a:ext>
            </a:extLst>
          </p:cNvPr>
          <p:cNvSpPr txBox="1"/>
          <p:nvPr/>
        </p:nvSpPr>
        <p:spPr>
          <a:xfrm>
            <a:off x="9561991" y="2354371"/>
            <a:ext cx="1615827" cy="1015663"/>
          </a:xfrm>
          <a:prstGeom prst="rect">
            <a:avLst/>
          </a:prstGeom>
          <a:noFill/>
        </p:spPr>
        <p:txBody>
          <a:bodyPr wrap="none" lIns="228600" rIns="0" rtlCol="0" anchor="ctr">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a:noFill/>
                </a:ln>
                <a:solidFill>
                  <a:srgbClr val="5327F5"/>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rPr>
              <a:t>54%</a:t>
            </a:r>
          </a:p>
        </p:txBody>
      </p:sp>
      <p:sp>
        <p:nvSpPr>
          <p:cNvPr id="45" name="TextBox 44">
            <a:extLst>
              <a:ext uri="{FF2B5EF4-FFF2-40B4-BE49-F238E27FC236}">
                <a16:creationId xmlns:a16="http://schemas.microsoft.com/office/drawing/2014/main" id="{13EAC322-EA81-CACE-4656-35A27F09F3E2}"/>
              </a:ext>
            </a:extLst>
          </p:cNvPr>
          <p:cNvSpPr txBox="1"/>
          <p:nvPr/>
        </p:nvSpPr>
        <p:spPr>
          <a:xfrm>
            <a:off x="594360" y="4719459"/>
            <a:ext cx="2867773" cy="138499"/>
          </a:xfrm>
          <a:prstGeom prst="rect">
            <a:avLst/>
          </a:prstGeom>
          <a:noFill/>
        </p:spPr>
        <p:txBody>
          <a:bodyPr wrap="none" lIns="0" tIns="0" rIns="0" bIns="0" rtlCol="0">
            <a:spAutoFit/>
          </a:bodyPr>
          <a:lstStyle/>
          <a:p>
            <a:pPr algn="l"/>
            <a:r>
              <a:rPr lang="en-US" sz="900" dirty="0">
                <a:solidFill>
                  <a:schemeClr val="accent6"/>
                </a:solidFill>
              </a:rPr>
              <a:t>*Canalys estimates from a 2024 Partner research study</a:t>
            </a:r>
          </a:p>
        </p:txBody>
      </p:sp>
      <p:sp>
        <p:nvSpPr>
          <p:cNvPr id="46" name="Slide Number Placeholder 2">
            <a:extLst>
              <a:ext uri="{FF2B5EF4-FFF2-40B4-BE49-F238E27FC236}">
                <a16:creationId xmlns:a16="http://schemas.microsoft.com/office/drawing/2014/main" id="{D28BD0CA-DA08-2484-9057-3F99D1E3C00D}"/>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82000"/>
                  </a:schemeClr>
                </a:solidFill>
                <a:latin typeface="Amazon Ember Display" panose="020F06030202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B4B8DE2-A4E8-46E4-8BBF-D75455EFF32C}" type="slidenum">
              <a:rPr kumimoji="0" lang="en-US" sz="1200" b="0" i="0" u="none" strike="noStrike" kern="1200" cap="none" spc="0" normalizeH="0" baseline="0" noProof="0" smtClean="0">
                <a:ln>
                  <a:noFill/>
                </a:ln>
                <a:solidFill>
                  <a:prstClr val="black">
                    <a:tint val="82000"/>
                  </a:prstClr>
                </a:solidFill>
                <a:effectLst/>
                <a:uLnTx/>
                <a:uFillTx/>
                <a:latin typeface="Amazon Ember Display" panose="020F0603020204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tint val="82000"/>
                </a:prstClr>
              </a:solidFill>
              <a:effectLst/>
              <a:uLnTx/>
              <a:uFillTx/>
              <a:latin typeface="Amazon Ember Display" panose="020F0603020204020204" pitchFamily="34" charset="0"/>
              <a:ea typeface="+mn-ea"/>
              <a:cs typeface="+mn-cs"/>
            </a:endParaRPr>
          </a:p>
        </p:txBody>
      </p:sp>
    </p:spTree>
    <p:extLst>
      <p:ext uri="{BB962C8B-B14F-4D97-AF65-F5344CB8AC3E}">
        <p14:creationId xmlns:p14="http://schemas.microsoft.com/office/powerpoint/2010/main" val="2636267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5A8D8-EAD2-0A71-FF9E-A8BEED9EAA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BBDFB6-ADD3-FC48-C6C7-C047C8CF3D24}"/>
              </a:ext>
            </a:extLst>
          </p:cNvPr>
          <p:cNvSpPr>
            <a:spLocks noGrp="1"/>
          </p:cNvSpPr>
          <p:nvPr>
            <p:ph type="title"/>
          </p:nvPr>
        </p:nvSpPr>
        <p:spPr>
          <a:xfrm>
            <a:off x="1540082" y="1889760"/>
            <a:ext cx="9392078" cy="2097405"/>
          </a:xfrm>
        </p:spPr>
        <p:txBody>
          <a:bodyPr>
            <a:noAutofit/>
          </a:bodyPr>
          <a:lstStyle/>
          <a:p>
            <a:pPr algn="just"/>
            <a:r>
              <a:rPr lang="en-US" sz="2400" dirty="0">
                <a:latin typeface="Amazon Ember" panose="020B0603020204020204" pitchFamily="34" charset="0"/>
                <a:ea typeface="Amazon Ember" panose="020B0603020204020204" pitchFamily="34" charset="0"/>
                <a:cs typeface="Amazon Ember" panose="020B0603020204020204" pitchFamily="34" charset="0"/>
              </a:rPr>
              <a:t>Partnering with AWS has delivered proven results in an unheard-of time frame. Eight months in, our Partnership is a key component of every sales motion we have. We’re both customer obsessed, and quickly align on each and every deal. Seeing deals close faster, convert better, expand in scope and size is the magic powder that enables us to grow faster and more efficient.</a:t>
            </a:r>
          </a:p>
        </p:txBody>
      </p:sp>
      <p:sp>
        <p:nvSpPr>
          <p:cNvPr id="3" name="Text Placeholder 2">
            <a:extLst>
              <a:ext uri="{FF2B5EF4-FFF2-40B4-BE49-F238E27FC236}">
                <a16:creationId xmlns:a16="http://schemas.microsoft.com/office/drawing/2014/main" id="{1B08CFFA-4042-9D20-89E4-0274488493BB}"/>
              </a:ext>
            </a:extLst>
          </p:cNvPr>
          <p:cNvSpPr>
            <a:spLocks noGrp="1"/>
          </p:cNvSpPr>
          <p:nvPr>
            <p:ph type="body" sz="quarter" idx="15"/>
          </p:nvPr>
        </p:nvSpPr>
        <p:spPr>
          <a:xfrm>
            <a:off x="1540082" y="4302756"/>
            <a:ext cx="8067261" cy="285516"/>
          </a:xfrm>
        </p:spPr>
        <p:txBody>
          <a:bodyPr>
            <a:noAutofit/>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Aharon Weiner</a:t>
            </a:r>
          </a:p>
        </p:txBody>
      </p:sp>
      <p:sp>
        <p:nvSpPr>
          <p:cNvPr id="4" name="Text Placeholder 3">
            <a:extLst>
              <a:ext uri="{FF2B5EF4-FFF2-40B4-BE49-F238E27FC236}">
                <a16:creationId xmlns:a16="http://schemas.microsoft.com/office/drawing/2014/main" id="{C8939A4E-873A-8FEC-1976-26FE38449A75}"/>
              </a:ext>
            </a:extLst>
          </p:cNvPr>
          <p:cNvSpPr>
            <a:spLocks noGrp="1"/>
          </p:cNvSpPr>
          <p:nvPr>
            <p:ph type="body" sz="quarter" idx="16"/>
          </p:nvPr>
        </p:nvSpPr>
        <p:spPr>
          <a:xfrm>
            <a:off x="1540082" y="4700154"/>
            <a:ext cx="8067261" cy="242689"/>
          </a:xfrm>
        </p:spPr>
        <p:txBody>
          <a:bodyPr>
            <a:noAutofit/>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Head of Channels &amp; Alliances, Postman</a:t>
            </a:r>
          </a:p>
        </p:txBody>
      </p:sp>
      <p:sp>
        <p:nvSpPr>
          <p:cNvPr id="5" name="Slide Number Placeholder 4">
            <a:extLst>
              <a:ext uri="{FF2B5EF4-FFF2-40B4-BE49-F238E27FC236}">
                <a16:creationId xmlns:a16="http://schemas.microsoft.com/office/drawing/2014/main" id="{02B4F381-6572-6BEC-187E-5CDE8FFA3D84}"/>
              </a:ext>
            </a:extLst>
          </p:cNvPr>
          <p:cNvSpPr>
            <a:spLocks noGrp="1"/>
          </p:cNvSpPr>
          <p:nvPr>
            <p:ph type="sldNum" sz="quarter" idx="19"/>
          </p:nvPr>
        </p:nvSpPr>
        <p:spPr/>
        <p:txBody>
          <a:bodyPr/>
          <a:lstStyle/>
          <a:p>
            <a:fld id="{EB4B8DE2-A4E8-46E4-8BBF-D75455EFF32C}" type="slidenum">
              <a:rPr lang="en-US" smtClean="0"/>
              <a:pPr/>
              <a:t>6</a:t>
            </a:fld>
            <a:endParaRPr lang="en-US" dirty="0"/>
          </a:p>
        </p:txBody>
      </p:sp>
      <p:pic>
        <p:nvPicPr>
          <p:cNvPr id="9" name="Picture 8">
            <a:extLst>
              <a:ext uri="{FF2B5EF4-FFF2-40B4-BE49-F238E27FC236}">
                <a16:creationId xmlns:a16="http://schemas.microsoft.com/office/drawing/2014/main" id="{BD208BCA-83EB-8D26-5A68-ED94986855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97520" y="3699513"/>
            <a:ext cx="2651760" cy="2651760"/>
          </a:xfrm>
          <a:prstGeom prst="rect">
            <a:avLst/>
          </a:prstGeom>
        </p:spPr>
      </p:pic>
    </p:spTree>
    <p:extLst>
      <p:ext uri="{BB962C8B-B14F-4D97-AF65-F5344CB8AC3E}">
        <p14:creationId xmlns:p14="http://schemas.microsoft.com/office/powerpoint/2010/main" val="2814023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6AF5F-ABB7-D2CB-4AF5-B92F93FE71C4}"/>
            </a:ext>
          </a:extLst>
        </p:cNvPr>
        <p:cNvGrpSpPr/>
        <p:nvPr/>
      </p:nvGrpSpPr>
      <p:grpSpPr>
        <a:xfrm>
          <a:off x="0" y="0"/>
          <a:ext cx="0" cy="0"/>
          <a:chOff x="0" y="0"/>
          <a:chExt cx="0" cy="0"/>
        </a:xfrm>
      </p:grpSpPr>
      <p:sp>
        <p:nvSpPr>
          <p:cNvPr id="7" name="Slide Number Placeholder 2">
            <a:extLst>
              <a:ext uri="{FF2B5EF4-FFF2-40B4-BE49-F238E27FC236}">
                <a16:creationId xmlns:a16="http://schemas.microsoft.com/office/drawing/2014/main" id="{736B880D-C4E8-07A5-77AA-42D1B67FB044}"/>
              </a:ext>
            </a:extLst>
          </p:cNvPr>
          <p:cNvSpPr>
            <a:spLocks noGrp="1"/>
          </p:cNvSpPr>
          <p:nvPr>
            <p:ph type="sldNum" sz="quarter" idx="12"/>
          </p:nvPr>
        </p:nvSpPr>
        <p:spPr>
          <a:xfrm>
            <a:off x="8610600" y="6356350"/>
            <a:ext cx="2743200" cy="365125"/>
          </a:xfrm>
        </p:spPr>
        <p:txBody>
          <a:bodyPr/>
          <a:lstStyle/>
          <a:p>
            <a:fld id="{EB4B8DE2-A4E8-46E4-8BBF-D75455EFF32C}" type="slidenum">
              <a:rPr lang="en-US" smtClean="0"/>
              <a:pPr/>
              <a:t>7</a:t>
            </a:fld>
            <a:endParaRPr lang="en-US" dirty="0"/>
          </a:p>
        </p:txBody>
      </p:sp>
      <p:sp>
        <p:nvSpPr>
          <p:cNvPr id="8" name="TextBox 7">
            <a:extLst>
              <a:ext uri="{FF2B5EF4-FFF2-40B4-BE49-F238E27FC236}">
                <a16:creationId xmlns:a16="http://schemas.microsoft.com/office/drawing/2014/main" id="{C1035AF8-77D4-C213-1C0F-D89ACB861636}"/>
              </a:ext>
            </a:extLst>
          </p:cNvPr>
          <p:cNvSpPr txBox="1"/>
          <p:nvPr/>
        </p:nvSpPr>
        <p:spPr>
          <a:xfrm>
            <a:off x="594360" y="5958252"/>
            <a:ext cx="6396990" cy="261610"/>
          </a:xfrm>
          <a:prstGeom prst="rect">
            <a:avLst/>
          </a:prstGeom>
          <a:noFill/>
        </p:spPr>
        <p:txBody>
          <a:bodyPr wrap="square" lIns="0" rIns="0" rtlCol="0">
            <a:spAutoFit/>
          </a:bodyPr>
          <a:lstStyle/>
          <a:p>
            <a:r>
              <a:rPr lang="en-US" sz="1100" dirty="0"/>
              <a:t>*Provides quota retirement for SaaS solutions transacted as AWS Marketplace private offers.</a:t>
            </a:r>
          </a:p>
        </p:txBody>
      </p:sp>
      <p:sp>
        <p:nvSpPr>
          <p:cNvPr id="9" name="Rounded Rectangle 18">
            <a:extLst>
              <a:ext uri="{FF2B5EF4-FFF2-40B4-BE49-F238E27FC236}">
                <a16:creationId xmlns:a16="http://schemas.microsoft.com/office/drawing/2014/main" id="{BA46C84B-20A3-10EE-5F03-957FEEA6751A}"/>
              </a:ext>
            </a:extLst>
          </p:cNvPr>
          <p:cNvSpPr/>
          <p:nvPr/>
        </p:nvSpPr>
        <p:spPr>
          <a:xfrm>
            <a:off x="8112742" y="2258981"/>
            <a:ext cx="3484898" cy="3567826"/>
          </a:xfrm>
          <a:prstGeom prst="roundRect">
            <a:avLst>
              <a:gd name="adj" fmla="val 6033"/>
            </a:avLst>
          </a:prstGeom>
          <a:solidFill>
            <a:schemeClr val="bg1"/>
          </a:solidFill>
          <a:ln>
            <a:noFill/>
          </a:ln>
          <a:effectLst>
            <a:outerShdw blurRad="2032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dirty="0" err="1">
              <a:solidFill>
                <a:schemeClr val="tx1"/>
              </a:solidFill>
            </a:endParaRPr>
          </a:p>
        </p:txBody>
      </p:sp>
      <p:sp>
        <p:nvSpPr>
          <p:cNvPr id="10" name="Rounded Rectangle 18">
            <a:extLst>
              <a:ext uri="{FF2B5EF4-FFF2-40B4-BE49-F238E27FC236}">
                <a16:creationId xmlns:a16="http://schemas.microsoft.com/office/drawing/2014/main" id="{15631963-22E3-9013-45FF-EC08066A5539}"/>
              </a:ext>
            </a:extLst>
          </p:cNvPr>
          <p:cNvSpPr/>
          <p:nvPr/>
        </p:nvSpPr>
        <p:spPr>
          <a:xfrm>
            <a:off x="4353551" y="2258981"/>
            <a:ext cx="3484898" cy="3567826"/>
          </a:xfrm>
          <a:prstGeom prst="roundRect">
            <a:avLst>
              <a:gd name="adj" fmla="val 6033"/>
            </a:avLst>
          </a:prstGeom>
          <a:solidFill>
            <a:schemeClr val="bg1"/>
          </a:solidFill>
          <a:ln>
            <a:noFill/>
          </a:ln>
          <a:effectLst>
            <a:outerShdw blurRad="2032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dirty="0" err="1">
              <a:solidFill>
                <a:schemeClr val="tx1"/>
              </a:solidFill>
            </a:endParaRPr>
          </a:p>
        </p:txBody>
      </p:sp>
      <p:sp>
        <p:nvSpPr>
          <p:cNvPr id="11" name="Rounded Rectangle 18">
            <a:extLst>
              <a:ext uri="{FF2B5EF4-FFF2-40B4-BE49-F238E27FC236}">
                <a16:creationId xmlns:a16="http://schemas.microsoft.com/office/drawing/2014/main" id="{7C2C72D2-CD93-7DF0-9771-87063C734922}"/>
              </a:ext>
            </a:extLst>
          </p:cNvPr>
          <p:cNvSpPr/>
          <p:nvPr/>
        </p:nvSpPr>
        <p:spPr>
          <a:xfrm>
            <a:off x="594360" y="2258981"/>
            <a:ext cx="3484898" cy="3567826"/>
          </a:xfrm>
          <a:prstGeom prst="roundRect">
            <a:avLst>
              <a:gd name="adj" fmla="val 6033"/>
            </a:avLst>
          </a:prstGeom>
          <a:solidFill>
            <a:schemeClr val="bg1"/>
          </a:solidFill>
          <a:ln>
            <a:noFill/>
          </a:ln>
          <a:effectLst>
            <a:outerShdw blurRad="2032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dirty="0" err="1">
              <a:solidFill>
                <a:schemeClr val="tx1"/>
              </a:solidFill>
            </a:endParaRPr>
          </a:p>
        </p:txBody>
      </p:sp>
      <p:sp>
        <p:nvSpPr>
          <p:cNvPr id="12" name="TextBox 11">
            <a:extLst>
              <a:ext uri="{FF2B5EF4-FFF2-40B4-BE49-F238E27FC236}">
                <a16:creationId xmlns:a16="http://schemas.microsoft.com/office/drawing/2014/main" id="{C7601C8D-0DF2-F6F8-F3B0-3C2429276966}"/>
              </a:ext>
            </a:extLst>
          </p:cNvPr>
          <p:cNvSpPr txBox="1"/>
          <p:nvPr/>
        </p:nvSpPr>
        <p:spPr>
          <a:xfrm>
            <a:off x="841977" y="2840022"/>
            <a:ext cx="2743200" cy="2108269"/>
          </a:xfrm>
          <a:prstGeom prst="rect">
            <a:avLst/>
          </a:prstGeom>
        </p:spPr>
        <p:txBody>
          <a:bodyPr wrap="square" lIns="0" tIns="0" rIns="0" bIns="0">
            <a:spAutoFit/>
          </a:bodyPr>
          <a:lstStyle/>
          <a:p>
            <a:pPr>
              <a:spcAft>
                <a:spcPts val="600"/>
              </a:spcAft>
            </a:pPr>
            <a:r>
              <a:rPr lang="en-US" sz="2200" b="1" dirty="0">
                <a:solidFill>
                  <a:srgbClr val="5327F5"/>
                </a:solidFill>
                <a:latin typeface="Amazon Ember Display" panose="020F0603020204020204" pitchFamily="34" charset="0"/>
                <a:ea typeface="Amazon Ember Display" panose="020F0603020204020204" pitchFamily="34" charset="0"/>
                <a:cs typeface="Amazon Ember Display" panose="020F0603020204020204" pitchFamily="34" charset="0"/>
              </a:rPr>
              <a:t>Incentives for AWS Sales Teams </a:t>
            </a:r>
          </a:p>
          <a:p>
            <a:pPr>
              <a:spcAft>
                <a:spcPts val="600"/>
              </a:spcAft>
            </a:pPr>
            <a:r>
              <a:rPr lang="en-US" sz="1400" dirty="0">
                <a:latin typeface="Amazon Ember" panose="020B0603020204020204" pitchFamily="34" charset="0"/>
                <a:ea typeface="Amazon Ember" panose="020B0603020204020204" pitchFamily="34" charset="0"/>
                <a:cs typeface="Amazon Ember" panose="020B0603020204020204" pitchFamily="34" charset="0"/>
              </a:rPr>
              <a:t>Sellers who provide enrolled Partners with co-sell support are eligible to receive sales compensation incentives, including the </a:t>
            </a:r>
            <a:r>
              <a:rPr lang="en-US" sz="1400" b="1" dirty="0">
                <a:latin typeface="Amazon Ember" panose="020B0603020204020204" pitchFamily="34" charset="0"/>
                <a:ea typeface="Amazon Ember" panose="020B0603020204020204" pitchFamily="34" charset="0"/>
                <a:cs typeface="Amazon Ember" panose="020B0603020204020204" pitchFamily="34" charset="0"/>
              </a:rPr>
              <a:t>SaaS Co-sell Benefit*</a:t>
            </a:r>
          </a:p>
        </p:txBody>
      </p:sp>
      <p:sp>
        <p:nvSpPr>
          <p:cNvPr id="13" name="Rounded Rectangle 8">
            <a:extLst>
              <a:ext uri="{FF2B5EF4-FFF2-40B4-BE49-F238E27FC236}">
                <a16:creationId xmlns:a16="http://schemas.microsoft.com/office/drawing/2014/main" id="{4FDFF207-4697-FFAA-AEA4-9EBD44EF480C}"/>
              </a:ext>
            </a:extLst>
          </p:cNvPr>
          <p:cNvSpPr>
            <a:spLocks noChangeAspect="1"/>
          </p:cNvSpPr>
          <p:nvPr/>
        </p:nvSpPr>
        <p:spPr>
          <a:xfrm>
            <a:off x="841977" y="1804347"/>
            <a:ext cx="914400" cy="914400"/>
          </a:xfrm>
          <a:prstGeom prst="roundRect">
            <a:avLst>
              <a:gd name="adj" fmla="val 13746"/>
            </a:avLst>
          </a:prstGeom>
          <a:gradFill flip="none" rotWithShape="1">
            <a:gsLst>
              <a:gs pos="75000">
                <a:srgbClr val="5327F5"/>
              </a:gs>
              <a:gs pos="100000">
                <a:srgbClr val="D3C8FC"/>
              </a:gs>
            </a:gsLst>
            <a:path path="circle">
              <a:fillToRect t="100000" r="100000"/>
            </a:path>
            <a:tileRect l="-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sz="3200" b="1" dirty="0">
                <a:solidFill>
                  <a:schemeClr val="bg1"/>
                </a:solidFill>
              </a:rPr>
              <a:t>1</a:t>
            </a:r>
          </a:p>
        </p:txBody>
      </p:sp>
      <p:sp>
        <p:nvSpPr>
          <p:cNvPr id="14" name="TextBox 13">
            <a:extLst>
              <a:ext uri="{FF2B5EF4-FFF2-40B4-BE49-F238E27FC236}">
                <a16:creationId xmlns:a16="http://schemas.microsoft.com/office/drawing/2014/main" id="{5EF27F36-2D1A-210A-E86E-9F79BBFDAC78}"/>
              </a:ext>
            </a:extLst>
          </p:cNvPr>
          <p:cNvSpPr txBox="1"/>
          <p:nvPr/>
        </p:nvSpPr>
        <p:spPr>
          <a:xfrm>
            <a:off x="4598988" y="2840022"/>
            <a:ext cx="3021011" cy="2492990"/>
          </a:xfrm>
          <a:prstGeom prst="rect">
            <a:avLst/>
          </a:prstGeom>
        </p:spPr>
        <p:txBody>
          <a:bodyPr wrap="square" lIns="0" tIns="0" rIns="0" bIns="0">
            <a:spAutoFit/>
          </a:bodyPr>
          <a:lstStyle/>
          <a:p>
            <a:pPr>
              <a:spcAft>
                <a:spcPts val="600"/>
              </a:spcAft>
            </a:pPr>
            <a:r>
              <a:rPr lang="en-US" sz="2200" b="1" dirty="0">
                <a:solidFill>
                  <a:srgbClr val="5327F5"/>
                </a:solidFill>
                <a:latin typeface="Amazon Ember Display" panose="020F0603020204020204" pitchFamily="34" charset="0"/>
                <a:ea typeface="Amazon Ember Display" panose="020F0603020204020204" pitchFamily="34" charset="0"/>
                <a:cs typeface="Amazon Ember Display" panose="020F0603020204020204" pitchFamily="34" charset="0"/>
              </a:rPr>
              <a:t>Drive visibility </a:t>
            </a:r>
            <a:br>
              <a:rPr lang="en-US" sz="2200" b="1" dirty="0">
                <a:solidFill>
                  <a:srgbClr val="5327F5"/>
                </a:solidFill>
                <a:latin typeface="Amazon Ember Display" panose="020F0603020204020204" pitchFamily="34" charset="0"/>
                <a:ea typeface="Amazon Ember Display" panose="020F0603020204020204" pitchFamily="34" charset="0"/>
                <a:cs typeface="Amazon Ember Display" panose="020F0603020204020204" pitchFamily="34" charset="0"/>
              </a:rPr>
            </a:br>
            <a:r>
              <a:rPr lang="en-US" sz="2200" b="1" dirty="0">
                <a:solidFill>
                  <a:srgbClr val="5327F5"/>
                </a:solidFill>
                <a:latin typeface="Amazon Ember Display" panose="020F0603020204020204" pitchFamily="34" charset="0"/>
                <a:ea typeface="Amazon Ember Display" panose="020F0603020204020204" pitchFamily="34" charset="0"/>
                <a:cs typeface="Amazon Ember Display" panose="020F0603020204020204" pitchFamily="34" charset="0"/>
              </a:rPr>
              <a:t>with AWS Sales  </a:t>
            </a:r>
          </a:p>
          <a:p>
            <a:pPr>
              <a:spcAft>
                <a:spcPts val="600"/>
              </a:spcAft>
            </a:pPr>
            <a:r>
              <a:rPr lang="en-US" sz="1400" dirty="0">
                <a:latin typeface="Amazon Ember" panose="020B0603020204020204" pitchFamily="34" charset="0"/>
                <a:ea typeface="Amazon Ember" panose="020B0603020204020204" pitchFamily="34" charset="0"/>
                <a:cs typeface="Amazon Ember" panose="020B0603020204020204" pitchFamily="34" charset="0"/>
              </a:rPr>
              <a:t>Partner solutions will be </a:t>
            </a:r>
            <a:br>
              <a:rPr lang="en-US" sz="1400" dirty="0">
                <a:latin typeface="Amazon Ember" panose="020B0603020204020204" pitchFamily="34" charset="0"/>
                <a:ea typeface="Amazon Ember" panose="020B0603020204020204" pitchFamily="34" charset="0"/>
                <a:cs typeface="Amazon Ember" panose="020B0603020204020204" pitchFamily="34" charset="0"/>
              </a:rPr>
            </a:br>
            <a:r>
              <a:rPr lang="en-US" sz="1400" dirty="0">
                <a:latin typeface="Amazon Ember" panose="020B0603020204020204" pitchFamily="34" charset="0"/>
                <a:ea typeface="Amazon Ember" panose="020B0603020204020204" pitchFamily="34" charset="0"/>
                <a:cs typeface="Amazon Ember" panose="020B0603020204020204" pitchFamily="34" charset="0"/>
              </a:rPr>
              <a:t>included in:</a:t>
            </a:r>
          </a:p>
          <a:p>
            <a:pPr marL="285750" indent="-285750">
              <a:spcAft>
                <a:spcPts val="600"/>
              </a:spcAft>
              <a:buClr>
                <a:srgbClr val="7B59F7"/>
              </a:buClr>
              <a:buFont typeface="Wingdings" panose="05000000000000000000" pitchFamily="2" charset="2"/>
              <a:buChar char="ü"/>
            </a:pPr>
            <a:r>
              <a:rPr lang="en-US" sz="1400" dirty="0">
                <a:latin typeface="Amazon Ember" panose="020B0603020204020204" pitchFamily="34" charset="0"/>
                <a:ea typeface="Amazon Ember" panose="020B0603020204020204" pitchFamily="34" charset="0"/>
                <a:cs typeface="Amazon Ember" panose="020B0603020204020204" pitchFamily="34" charset="0"/>
              </a:rPr>
              <a:t>Seller-facing solution finder libraries</a:t>
            </a:r>
          </a:p>
          <a:p>
            <a:pPr marL="285750" indent="-285750">
              <a:spcAft>
                <a:spcPts val="600"/>
              </a:spcAft>
              <a:buClr>
                <a:srgbClr val="7B59F7"/>
              </a:buClr>
              <a:buFont typeface="Wingdings" panose="05000000000000000000" pitchFamily="2" charset="2"/>
              <a:buChar char="ü"/>
            </a:pPr>
            <a:r>
              <a:rPr lang="en-US" sz="1400" dirty="0">
                <a:latin typeface="Amazon Ember" panose="020B0603020204020204" pitchFamily="34" charset="0"/>
                <a:ea typeface="Amazon Ember" panose="020B0603020204020204" pitchFamily="34" charset="0"/>
                <a:cs typeface="Amazon Ember" panose="020B0603020204020204" pitchFamily="34" charset="0"/>
              </a:rPr>
              <a:t>Partner recommendation engines </a:t>
            </a:r>
          </a:p>
          <a:p>
            <a:pPr marL="285750" indent="-285750">
              <a:spcAft>
                <a:spcPts val="600"/>
              </a:spcAft>
              <a:buClr>
                <a:srgbClr val="7B59F7"/>
              </a:buClr>
              <a:buFont typeface="Wingdings" panose="05000000000000000000" pitchFamily="2" charset="2"/>
              <a:buChar char="ü"/>
            </a:pPr>
            <a:r>
              <a:rPr lang="en-US" sz="1400" dirty="0">
                <a:latin typeface="Amazon Ember" panose="020B0603020204020204" pitchFamily="34" charset="0"/>
                <a:ea typeface="Amazon Ember" panose="020B0603020204020204" pitchFamily="34" charset="0"/>
                <a:cs typeface="Amazon Ember" panose="020B0603020204020204" pitchFamily="34" charset="0"/>
              </a:rPr>
              <a:t>Highlighted within our Customer Relationship Management (CRM)</a:t>
            </a:r>
          </a:p>
        </p:txBody>
      </p:sp>
      <p:sp>
        <p:nvSpPr>
          <p:cNvPr id="15" name="TextBox 14">
            <a:extLst>
              <a:ext uri="{FF2B5EF4-FFF2-40B4-BE49-F238E27FC236}">
                <a16:creationId xmlns:a16="http://schemas.microsoft.com/office/drawing/2014/main" id="{673F96DA-6CC2-8A1E-BE54-9BE0FFCA33CD}"/>
              </a:ext>
            </a:extLst>
          </p:cNvPr>
          <p:cNvSpPr txBox="1"/>
          <p:nvPr/>
        </p:nvSpPr>
        <p:spPr>
          <a:xfrm>
            <a:off x="8356001" y="2840022"/>
            <a:ext cx="2994022" cy="2046714"/>
          </a:xfrm>
          <a:prstGeom prst="rect">
            <a:avLst/>
          </a:prstGeom>
        </p:spPr>
        <p:txBody>
          <a:bodyPr wrap="square" lIns="0" tIns="0" rIns="0" bIns="0">
            <a:spAutoFit/>
          </a:bodyPr>
          <a:lstStyle/>
          <a:p>
            <a:pPr>
              <a:spcAft>
                <a:spcPts val="600"/>
              </a:spcAft>
            </a:pPr>
            <a:r>
              <a:rPr lang="en-US" sz="2200" b="1" dirty="0">
                <a:solidFill>
                  <a:srgbClr val="5327F5"/>
                </a:solidFill>
                <a:latin typeface="Amazon Ember Display" panose="020F0603020204020204" pitchFamily="34" charset="0"/>
                <a:ea typeface="Amazon Ember Display" panose="020F0603020204020204" pitchFamily="34" charset="0"/>
                <a:cs typeface="Amazon Ember Display" panose="020F0603020204020204" pitchFamily="34" charset="0"/>
              </a:rPr>
              <a:t>Focused co-sell support and resources </a:t>
            </a:r>
          </a:p>
          <a:p>
            <a:pPr>
              <a:spcAft>
                <a:spcPts val="600"/>
              </a:spcAft>
            </a:pPr>
            <a:r>
              <a:rPr lang="en-US" sz="1400" dirty="0">
                <a:latin typeface="Amazon Ember" panose="020B0603020204020204" pitchFamily="34" charset="0"/>
                <a:ea typeface="Amazon Ember" panose="020B0603020204020204" pitchFamily="34" charset="0"/>
                <a:cs typeface="Amazon Ember" panose="020B0603020204020204" pitchFamily="34" charset="0"/>
              </a:rPr>
              <a:t>Partners will gain prioritized access to AWS co-sell resources, including access to training, webinars, in person seminars, and best practices guides that provide guidance on how to successfully co-sell with AWS.</a:t>
            </a:r>
          </a:p>
        </p:txBody>
      </p:sp>
      <p:sp>
        <p:nvSpPr>
          <p:cNvPr id="16" name="Rounded Rectangle 8">
            <a:extLst>
              <a:ext uri="{FF2B5EF4-FFF2-40B4-BE49-F238E27FC236}">
                <a16:creationId xmlns:a16="http://schemas.microsoft.com/office/drawing/2014/main" id="{7AF2AD76-A44C-93DC-F6EB-217ABE1ADF8F}"/>
              </a:ext>
            </a:extLst>
          </p:cNvPr>
          <p:cNvSpPr>
            <a:spLocks noChangeAspect="1"/>
          </p:cNvSpPr>
          <p:nvPr/>
        </p:nvSpPr>
        <p:spPr>
          <a:xfrm>
            <a:off x="4598989" y="1794320"/>
            <a:ext cx="914400" cy="914400"/>
          </a:xfrm>
          <a:prstGeom prst="roundRect">
            <a:avLst>
              <a:gd name="adj" fmla="val 13746"/>
            </a:avLst>
          </a:prstGeom>
          <a:gradFill flip="none" rotWithShape="1">
            <a:gsLst>
              <a:gs pos="75000">
                <a:srgbClr val="5327F5"/>
              </a:gs>
              <a:gs pos="100000">
                <a:srgbClr val="D3C8FC"/>
              </a:gs>
            </a:gsLst>
            <a:path path="circle">
              <a:fillToRect t="100000" r="100000"/>
            </a:path>
            <a:tileRect l="-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sz="3200" b="1" dirty="0">
                <a:solidFill>
                  <a:schemeClr val="bg1"/>
                </a:solidFill>
              </a:rPr>
              <a:t>2</a:t>
            </a:r>
          </a:p>
        </p:txBody>
      </p:sp>
      <p:sp>
        <p:nvSpPr>
          <p:cNvPr id="17" name="Rounded Rectangle 8">
            <a:extLst>
              <a:ext uri="{FF2B5EF4-FFF2-40B4-BE49-F238E27FC236}">
                <a16:creationId xmlns:a16="http://schemas.microsoft.com/office/drawing/2014/main" id="{EDF5A35D-222D-01FE-792F-A8EA1A65D9C2}"/>
              </a:ext>
            </a:extLst>
          </p:cNvPr>
          <p:cNvSpPr>
            <a:spLocks noChangeAspect="1"/>
          </p:cNvSpPr>
          <p:nvPr/>
        </p:nvSpPr>
        <p:spPr>
          <a:xfrm>
            <a:off x="8345355" y="1792811"/>
            <a:ext cx="914400" cy="914400"/>
          </a:xfrm>
          <a:prstGeom prst="roundRect">
            <a:avLst>
              <a:gd name="adj" fmla="val 13746"/>
            </a:avLst>
          </a:prstGeom>
          <a:gradFill flip="none" rotWithShape="1">
            <a:gsLst>
              <a:gs pos="75000">
                <a:srgbClr val="5327F5"/>
              </a:gs>
              <a:gs pos="100000">
                <a:srgbClr val="D3C8FC"/>
              </a:gs>
            </a:gsLst>
            <a:path path="circle">
              <a:fillToRect t="100000" r="100000"/>
            </a:path>
            <a:tileRect l="-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sz="3200" b="1" dirty="0">
                <a:solidFill>
                  <a:schemeClr val="bg1"/>
                </a:solidFill>
              </a:rPr>
              <a:t>3</a:t>
            </a:r>
          </a:p>
        </p:txBody>
      </p:sp>
      <p:sp>
        <p:nvSpPr>
          <p:cNvPr id="18" name="Title 3">
            <a:extLst>
              <a:ext uri="{FF2B5EF4-FFF2-40B4-BE49-F238E27FC236}">
                <a16:creationId xmlns:a16="http://schemas.microsoft.com/office/drawing/2014/main" id="{2BCD82DB-92E3-B3EF-82E4-913743122B40}"/>
              </a:ext>
            </a:extLst>
          </p:cNvPr>
          <p:cNvSpPr txBox="1">
            <a:spLocks/>
          </p:cNvSpPr>
          <p:nvPr/>
        </p:nvSpPr>
        <p:spPr>
          <a:xfrm>
            <a:off x="525376" y="914401"/>
            <a:ext cx="10972800" cy="590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Program Benefits</a:t>
            </a:r>
          </a:p>
        </p:txBody>
      </p:sp>
    </p:spTree>
    <p:extLst>
      <p:ext uri="{BB962C8B-B14F-4D97-AF65-F5344CB8AC3E}">
        <p14:creationId xmlns:p14="http://schemas.microsoft.com/office/powerpoint/2010/main" val="283061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109CE-64B2-7036-7953-74E2B25513A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2635EEE-3E22-8F5A-7C65-54A07F65BBD5}"/>
              </a:ext>
            </a:extLst>
          </p:cNvPr>
          <p:cNvSpPr>
            <a:spLocks noGrp="1"/>
          </p:cNvSpPr>
          <p:nvPr>
            <p:ph type="sldNum" sz="quarter" idx="12"/>
          </p:nvPr>
        </p:nvSpPr>
        <p:spPr>
          <a:xfrm>
            <a:off x="8610600" y="6356350"/>
            <a:ext cx="2743200" cy="365125"/>
          </a:xfrm>
        </p:spPr>
        <p:txBody>
          <a:bodyPr/>
          <a:lstStyle/>
          <a:p>
            <a:fld id="{EB4B8DE2-A4E8-46E4-8BBF-D75455EFF32C}" type="slidenum">
              <a:rPr lang="en-US" smtClean="0"/>
              <a:pPr/>
              <a:t>8</a:t>
            </a:fld>
            <a:endParaRPr lang="en-US" dirty="0"/>
          </a:p>
        </p:txBody>
      </p:sp>
      <p:sp>
        <p:nvSpPr>
          <p:cNvPr id="4" name="Content Placeholder 8">
            <a:extLst>
              <a:ext uri="{FF2B5EF4-FFF2-40B4-BE49-F238E27FC236}">
                <a16:creationId xmlns:a16="http://schemas.microsoft.com/office/drawing/2014/main" id="{2CB5D42A-D4C6-6197-0058-C7C018798E79}"/>
              </a:ext>
            </a:extLst>
          </p:cNvPr>
          <p:cNvSpPr txBox="1">
            <a:spLocks/>
          </p:cNvSpPr>
          <p:nvPr/>
        </p:nvSpPr>
        <p:spPr>
          <a:xfrm>
            <a:off x="609600" y="1797546"/>
            <a:ext cx="10058400" cy="830997"/>
          </a:xfrm>
          <a:prstGeom prst="rect">
            <a:avLst/>
          </a:prstGeom>
        </p:spPr>
        <p:txBody>
          <a:bodyPr lIns="0" tIns="0" rIns="0" bIns="0">
            <a:spAutoFit/>
          </a:bodyPr>
          <a:lstStyle>
            <a:lvl1pPr marL="457200" indent="-457200" algn="l" defTabSz="914400" rtl="0" eaLnBrk="1" latinLnBrk="0" hangingPunct="1">
              <a:lnSpc>
                <a:spcPct val="90000"/>
              </a:lnSpc>
              <a:spcBef>
                <a:spcPts val="0"/>
              </a:spcBef>
              <a:spcAft>
                <a:spcPts val="1200"/>
              </a:spcAft>
              <a:buSzPct val="90000"/>
              <a:buFont typeface="Arial" panose="020B0604020202020204" pitchFamily="34" charset="0"/>
              <a:buChar char="•"/>
              <a:defRPr sz="2800" b="0" i="0" kern="1200" baseline="0">
                <a:solidFill>
                  <a:schemeClr val="tx1"/>
                </a:solidFill>
                <a:latin typeface="Amazon Ember Display" panose="020F0603020204020204" pitchFamily="34" charset="0"/>
                <a:ea typeface="+mn-ea"/>
                <a:cs typeface="+mn-cs"/>
              </a:defRPr>
            </a:lvl1pPr>
            <a:lvl2pPr marL="628650" indent="-342900" algn="l" defTabSz="914400" rtl="0" eaLnBrk="1" latinLnBrk="0" hangingPunct="1">
              <a:lnSpc>
                <a:spcPct val="90000"/>
              </a:lnSpc>
              <a:spcBef>
                <a:spcPts val="0"/>
              </a:spcBef>
              <a:spcAft>
                <a:spcPts val="1200"/>
              </a:spcAft>
              <a:buSzPct val="90000"/>
              <a:buFont typeface="Arial" panose="020B0604020202020204" pitchFamily="34" charset="0"/>
              <a:buChar char="•"/>
              <a:defRPr sz="2400" b="0" i="0" kern="1200" baseline="0">
                <a:solidFill>
                  <a:schemeClr val="tx1"/>
                </a:solidFill>
                <a:latin typeface="Amazon Ember Display" panose="020F0603020204020204" pitchFamily="34" charset="0"/>
                <a:ea typeface="+mn-ea"/>
                <a:cs typeface="+mn-cs"/>
              </a:defRPr>
            </a:lvl2pPr>
            <a:lvl3pPr marL="971550" indent="-342900" algn="l" defTabSz="914400" rtl="0" eaLnBrk="1" latinLnBrk="0" hangingPunct="1">
              <a:lnSpc>
                <a:spcPct val="90000"/>
              </a:lnSpc>
              <a:spcBef>
                <a:spcPts val="0"/>
              </a:spcBef>
              <a:spcAft>
                <a:spcPts val="1200"/>
              </a:spcAft>
              <a:buFont typeface="Arial" panose="020B0604020202020204" pitchFamily="34" charset="0"/>
              <a:buChar char="•"/>
              <a:defRPr sz="2000" b="0" i="0" kern="1200" baseline="0">
                <a:solidFill>
                  <a:schemeClr val="tx1"/>
                </a:solidFill>
                <a:latin typeface="Amazon Ember Display" panose="020F0603020204020204" pitchFamily="34" charset="0"/>
                <a:ea typeface="+mn-ea"/>
                <a:cs typeface="+mn-cs"/>
              </a:defRPr>
            </a:lvl3pPr>
            <a:lvl4pPr marL="1144588" indent="-285750" algn="l" defTabSz="914400" rtl="0" eaLnBrk="1" latinLnBrk="0" hangingPunct="1">
              <a:lnSpc>
                <a:spcPct val="90000"/>
              </a:lnSpc>
              <a:spcBef>
                <a:spcPts val="0"/>
              </a:spcBef>
              <a:spcAft>
                <a:spcPts val="1200"/>
              </a:spcAft>
              <a:buFont typeface="Arial" panose="020B0604020202020204" pitchFamily="34" charset="0"/>
              <a:buChar char="•"/>
              <a:defRPr sz="1800" b="0" i="0" kern="1200" baseline="0">
                <a:solidFill>
                  <a:schemeClr val="tx1"/>
                </a:solidFill>
                <a:latin typeface="Amazon Ember Display" panose="020F0603020204020204" pitchFamily="34" charset="0"/>
                <a:ea typeface="+mn-ea"/>
                <a:cs typeface="+mn-cs"/>
              </a:defRPr>
            </a:lvl4pPr>
            <a:lvl5pPr marL="1316038" indent="-285750" algn="l" defTabSz="914400" rtl="0" eaLnBrk="1" latinLnBrk="0" hangingPunct="1">
              <a:lnSpc>
                <a:spcPct val="90000"/>
              </a:lnSpc>
              <a:spcBef>
                <a:spcPts val="0"/>
              </a:spcBef>
              <a:spcAft>
                <a:spcPts val="1200"/>
              </a:spcAft>
              <a:buFont typeface="Arial" panose="020B0604020202020204" pitchFamily="34" charset="0"/>
              <a:buChar char="•"/>
              <a:defRPr sz="1800" b="0" i="0" kern="1200" baseline="0">
                <a:solidFill>
                  <a:schemeClr val="tx1"/>
                </a:solidFill>
                <a:latin typeface="Amazon Ember Display" panose="020F06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The SaaS Co-Sell Benefit drives </a:t>
            </a:r>
            <a:r>
              <a:rPr lang="en-US" sz="2000" b="1" dirty="0">
                <a:solidFill>
                  <a:srgbClr val="5327F5"/>
                </a:solidFill>
              </a:rPr>
              <a:t>a higher level of AWS field engagement by providing quota retirement to AWS end customer account managers </a:t>
            </a:r>
            <a:r>
              <a:rPr lang="en-US" sz="2000" dirty="0"/>
              <a:t>(AMs) when they co-sell SaaS solutions transacted as AWS Marketplace private offers* with AWS ISVA Partners. </a:t>
            </a:r>
          </a:p>
        </p:txBody>
      </p:sp>
      <p:sp>
        <p:nvSpPr>
          <p:cNvPr id="5" name="Rounded Rectangle 18">
            <a:extLst>
              <a:ext uri="{FF2B5EF4-FFF2-40B4-BE49-F238E27FC236}">
                <a16:creationId xmlns:a16="http://schemas.microsoft.com/office/drawing/2014/main" id="{26E68CFC-BE55-D94F-73CC-12C190F045AE}"/>
              </a:ext>
            </a:extLst>
          </p:cNvPr>
          <p:cNvSpPr/>
          <p:nvPr/>
        </p:nvSpPr>
        <p:spPr>
          <a:xfrm>
            <a:off x="8112742" y="3269509"/>
            <a:ext cx="3484898" cy="2291477"/>
          </a:xfrm>
          <a:prstGeom prst="roundRect">
            <a:avLst>
              <a:gd name="adj" fmla="val 6033"/>
            </a:avLst>
          </a:prstGeom>
          <a:solidFill>
            <a:schemeClr val="bg1"/>
          </a:solidFill>
          <a:ln>
            <a:noFill/>
          </a:ln>
          <a:effectLst>
            <a:outerShdw blurRad="2032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dirty="0" err="1">
              <a:solidFill>
                <a:schemeClr val="tx1"/>
              </a:solidFill>
            </a:endParaRPr>
          </a:p>
        </p:txBody>
      </p:sp>
      <p:sp>
        <p:nvSpPr>
          <p:cNvPr id="6" name="Rounded Rectangle 18">
            <a:extLst>
              <a:ext uri="{FF2B5EF4-FFF2-40B4-BE49-F238E27FC236}">
                <a16:creationId xmlns:a16="http://schemas.microsoft.com/office/drawing/2014/main" id="{FF4D04B2-A303-7DC3-C968-0C3D04BD95D1}"/>
              </a:ext>
            </a:extLst>
          </p:cNvPr>
          <p:cNvSpPr/>
          <p:nvPr/>
        </p:nvSpPr>
        <p:spPr>
          <a:xfrm>
            <a:off x="4353551" y="3269509"/>
            <a:ext cx="3484898" cy="2291477"/>
          </a:xfrm>
          <a:prstGeom prst="roundRect">
            <a:avLst>
              <a:gd name="adj" fmla="val 6033"/>
            </a:avLst>
          </a:prstGeom>
          <a:solidFill>
            <a:schemeClr val="bg1"/>
          </a:solidFill>
          <a:ln>
            <a:noFill/>
          </a:ln>
          <a:effectLst>
            <a:outerShdw blurRad="2032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dirty="0" err="1">
              <a:solidFill>
                <a:schemeClr val="tx1"/>
              </a:solidFill>
            </a:endParaRPr>
          </a:p>
        </p:txBody>
      </p:sp>
      <p:sp>
        <p:nvSpPr>
          <p:cNvPr id="19" name="Rounded Rectangle 18">
            <a:extLst>
              <a:ext uri="{FF2B5EF4-FFF2-40B4-BE49-F238E27FC236}">
                <a16:creationId xmlns:a16="http://schemas.microsoft.com/office/drawing/2014/main" id="{6D52C49A-6474-D18C-473B-3BAF2B7D3E7E}"/>
              </a:ext>
            </a:extLst>
          </p:cNvPr>
          <p:cNvSpPr/>
          <p:nvPr/>
        </p:nvSpPr>
        <p:spPr>
          <a:xfrm>
            <a:off x="594360" y="3269509"/>
            <a:ext cx="3484898" cy="2291477"/>
          </a:xfrm>
          <a:prstGeom prst="roundRect">
            <a:avLst>
              <a:gd name="adj" fmla="val 6033"/>
            </a:avLst>
          </a:prstGeom>
          <a:solidFill>
            <a:schemeClr val="bg1"/>
          </a:solidFill>
          <a:ln>
            <a:noFill/>
          </a:ln>
          <a:effectLst>
            <a:outerShdw blurRad="2032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dirty="0" err="1">
              <a:solidFill>
                <a:schemeClr val="tx1"/>
              </a:solidFill>
            </a:endParaRPr>
          </a:p>
        </p:txBody>
      </p:sp>
      <p:sp>
        <p:nvSpPr>
          <p:cNvPr id="20" name="TextBox 19">
            <a:extLst>
              <a:ext uri="{FF2B5EF4-FFF2-40B4-BE49-F238E27FC236}">
                <a16:creationId xmlns:a16="http://schemas.microsoft.com/office/drawing/2014/main" id="{FC21424B-6F0F-FBE0-E29A-930947F580A0}"/>
              </a:ext>
            </a:extLst>
          </p:cNvPr>
          <p:cNvSpPr txBox="1"/>
          <p:nvPr/>
        </p:nvSpPr>
        <p:spPr>
          <a:xfrm>
            <a:off x="841976" y="4160099"/>
            <a:ext cx="3018831" cy="1107996"/>
          </a:xfrm>
          <a:prstGeom prst="rect">
            <a:avLst/>
          </a:prstGeom>
        </p:spPr>
        <p:txBody>
          <a:bodyPr wrap="square" lIns="0" tIns="0" rIns="0" bIns="0">
            <a:spAutoFit/>
          </a:bodyPr>
          <a:lstStyle/>
          <a:p>
            <a:pPr>
              <a:spcAft>
                <a:spcPts val="600"/>
              </a:spcAft>
            </a:pPr>
            <a:r>
              <a:rPr lang="en-US" dirty="0">
                <a:latin typeface="Amazon Ember Display" panose="020F0603020204020204" pitchFamily="34" charset="0"/>
                <a:ea typeface="Amazon Ember Display" panose="020F0603020204020204" pitchFamily="34" charset="0"/>
                <a:cs typeface="Amazon Ember Display" panose="020F0603020204020204" pitchFamily="34" charset="0"/>
              </a:rPr>
              <a:t>Rewards AWS AMs relative to the AWS revenue generated from an eligible deal</a:t>
            </a:r>
          </a:p>
        </p:txBody>
      </p:sp>
      <p:sp>
        <p:nvSpPr>
          <p:cNvPr id="21" name="Rounded Rectangle 8">
            <a:extLst>
              <a:ext uri="{FF2B5EF4-FFF2-40B4-BE49-F238E27FC236}">
                <a16:creationId xmlns:a16="http://schemas.microsoft.com/office/drawing/2014/main" id="{2D0A5BF1-5640-E367-D20A-4A83E6EA21E5}"/>
              </a:ext>
            </a:extLst>
          </p:cNvPr>
          <p:cNvSpPr>
            <a:spLocks noChangeAspect="1"/>
          </p:cNvSpPr>
          <p:nvPr/>
        </p:nvSpPr>
        <p:spPr>
          <a:xfrm>
            <a:off x="841977" y="2983122"/>
            <a:ext cx="914400" cy="914400"/>
          </a:xfrm>
          <a:prstGeom prst="roundRect">
            <a:avLst>
              <a:gd name="adj" fmla="val 13746"/>
            </a:avLst>
          </a:prstGeom>
          <a:solidFill>
            <a:srgbClr val="5327F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sz="3200" b="1" dirty="0">
              <a:solidFill>
                <a:schemeClr val="bg1"/>
              </a:solidFill>
            </a:endParaRPr>
          </a:p>
        </p:txBody>
      </p:sp>
      <p:sp>
        <p:nvSpPr>
          <p:cNvPr id="22" name="Rounded Rectangle 8">
            <a:extLst>
              <a:ext uri="{FF2B5EF4-FFF2-40B4-BE49-F238E27FC236}">
                <a16:creationId xmlns:a16="http://schemas.microsoft.com/office/drawing/2014/main" id="{AF02AECE-03A5-CEA0-13CC-F6B0E8D300F8}"/>
              </a:ext>
            </a:extLst>
          </p:cNvPr>
          <p:cNvSpPr>
            <a:spLocks noChangeAspect="1"/>
          </p:cNvSpPr>
          <p:nvPr/>
        </p:nvSpPr>
        <p:spPr>
          <a:xfrm>
            <a:off x="4598989" y="2983122"/>
            <a:ext cx="914400" cy="914400"/>
          </a:xfrm>
          <a:prstGeom prst="roundRect">
            <a:avLst>
              <a:gd name="adj" fmla="val 13746"/>
            </a:avLst>
          </a:prstGeom>
          <a:solidFill>
            <a:srgbClr val="5327F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sz="3200" b="1" dirty="0">
              <a:solidFill>
                <a:schemeClr val="bg1"/>
              </a:solidFill>
            </a:endParaRPr>
          </a:p>
        </p:txBody>
      </p:sp>
      <p:sp>
        <p:nvSpPr>
          <p:cNvPr id="23" name="Rounded Rectangle 8">
            <a:extLst>
              <a:ext uri="{FF2B5EF4-FFF2-40B4-BE49-F238E27FC236}">
                <a16:creationId xmlns:a16="http://schemas.microsoft.com/office/drawing/2014/main" id="{B57129F3-BD2A-DDEE-A6FB-66798AF58FD8}"/>
              </a:ext>
            </a:extLst>
          </p:cNvPr>
          <p:cNvSpPr>
            <a:spLocks noChangeAspect="1"/>
          </p:cNvSpPr>
          <p:nvPr/>
        </p:nvSpPr>
        <p:spPr>
          <a:xfrm>
            <a:off x="8356001" y="2983122"/>
            <a:ext cx="914400" cy="914400"/>
          </a:xfrm>
          <a:prstGeom prst="roundRect">
            <a:avLst>
              <a:gd name="adj" fmla="val 13746"/>
            </a:avLst>
          </a:prstGeom>
          <a:solidFill>
            <a:srgbClr val="5327F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sz="3200" b="1" dirty="0">
              <a:solidFill>
                <a:schemeClr val="bg1"/>
              </a:solidFill>
            </a:endParaRPr>
          </a:p>
        </p:txBody>
      </p:sp>
      <p:sp>
        <p:nvSpPr>
          <p:cNvPr id="24" name="TextBox 23">
            <a:extLst>
              <a:ext uri="{FF2B5EF4-FFF2-40B4-BE49-F238E27FC236}">
                <a16:creationId xmlns:a16="http://schemas.microsoft.com/office/drawing/2014/main" id="{669ABF7F-ABEB-1443-88F4-FFF6C77288B0}"/>
              </a:ext>
            </a:extLst>
          </p:cNvPr>
          <p:cNvSpPr txBox="1"/>
          <p:nvPr/>
        </p:nvSpPr>
        <p:spPr>
          <a:xfrm>
            <a:off x="4598989" y="4160099"/>
            <a:ext cx="3018831" cy="830997"/>
          </a:xfrm>
          <a:prstGeom prst="rect">
            <a:avLst/>
          </a:prstGeom>
        </p:spPr>
        <p:txBody>
          <a:bodyPr wrap="square" lIns="0" tIns="0" rIns="0" bIns="0">
            <a:spAutoFit/>
          </a:bodyPr>
          <a:lstStyle/>
          <a:p>
            <a:pPr>
              <a:spcAft>
                <a:spcPts val="600"/>
              </a:spcAft>
            </a:pPr>
            <a:r>
              <a:rPr lang="en-US" dirty="0">
                <a:latin typeface="Amazon Ember Display" panose="020F0603020204020204" pitchFamily="34" charset="0"/>
                <a:ea typeface="Amazon Ember Display" panose="020F0603020204020204" pitchFamily="34" charset="0"/>
                <a:cs typeface="Amazon Ember Display" panose="020F0603020204020204" pitchFamily="34" charset="0"/>
              </a:rPr>
              <a:t>Calculated on a deal-by-deal basis using a statistical model</a:t>
            </a:r>
          </a:p>
        </p:txBody>
      </p:sp>
      <p:sp>
        <p:nvSpPr>
          <p:cNvPr id="25" name="TextBox 24">
            <a:extLst>
              <a:ext uri="{FF2B5EF4-FFF2-40B4-BE49-F238E27FC236}">
                <a16:creationId xmlns:a16="http://schemas.microsoft.com/office/drawing/2014/main" id="{3B22B7DA-B6BE-CE88-FB8E-2414C06626A3}"/>
              </a:ext>
            </a:extLst>
          </p:cNvPr>
          <p:cNvSpPr txBox="1"/>
          <p:nvPr/>
        </p:nvSpPr>
        <p:spPr>
          <a:xfrm>
            <a:off x="8356001" y="4160099"/>
            <a:ext cx="2673949" cy="1107996"/>
          </a:xfrm>
          <a:prstGeom prst="rect">
            <a:avLst/>
          </a:prstGeom>
        </p:spPr>
        <p:txBody>
          <a:bodyPr wrap="square" lIns="0" tIns="0" rIns="0" bIns="0">
            <a:spAutoFit/>
          </a:bodyPr>
          <a:lstStyle/>
          <a:p>
            <a:pPr>
              <a:spcAft>
                <a:spcPts val="600"/>
              </a:spcAft>
            </a:pPr>
            <a:r>
              <a:rPr lang="en-US" dirty="0">
                <a:latin typeface="Amazon Ember Display" panose="020F0603020204020204" pitchFamily="34" charset="0"/>
                <a:ea typeface="Amazon Ember Display" panose="020F0603020204020204" pitchFamily="34" charset="0"/>
                <a:cs typeface="Amazon Ember Display" panose="020F0603020204020204" pitchFamily="34" charset="0"/>
              </a:rPr>
              <a:t>Recognition rates are amortized across the length of the contract term</a:t>
            </a:r>
          </a:p>
        </p:txBody>
      </p:sp>
      <p:grpSp>
        <p:nvGrpSpPr>
          <p:cNvPr id="26" name="Graphic 6">
            <a:extLst>
              <a:ext uri="{FF2B5EF4-FFF2-40B4-BE49-F238E27FC236}">
                <a16:creationId xmlns:a16="http://schemas.microsoft.com/office/drawing/2014/main" id="{D7400BAB-40D6-4966-5FEF-3A4030D51DF7}"/>
              </a:ext>
            </a:extLst>
          </p:cNvPr>
          <p:cNvGrpSpPr/>
          <p:nvPr/>
        </p:nvGrpSpPr>
        <p:grpSpPr>
          <a:xfrm>
            <a:off x="1021996" y="3162822"/>
            <a:ext cx="551805" cy="554700"/>
            <a:chOff x="-1696404" y="2124401"/>
            <a:chExt cx="524820" cy="527574"/>
          </a:xfrm>
        </p:grpSpPr>
        <p:sp>
          <p:nvSpPr>
            <p:cNvPr id="27" name="Freeform: Shape 26">
              <a:extLst>
                <a:ext uri="{FF2B5EF4-FFF2-40B4-BE49-F238E27FC236}">
                  <a16:creationId xmlns:a16="http://schemas.microsoft.com/office/drawing/2014/main" id="{A71D2E39-C13C-8244-4A43-4CB1539822D2}"/>
                </a:ext>
              </a:extLst>
            </p:cNvPr>
            <p:cNvSpPr/>
            <p:nvPr/>
          </p:nvSpPr>
          <p:spPr>
            <a:xfrm>
              <a:off x="-1579158" y="2124401"/>
              <a:ext cx="407574" cy="407574"/>
            </a:xfrm>
            <a:custGeom>
              <a:avLst/>
              <a:gdLst>
                <a:gd name="connsiteX0" fmla="*/ 120660 w 407573"/>
                <a:gd name="connsiteY0" fmla="*/ 407490 h 407573"/>
                <a:gd name="connsiteX1" fmla="*/ 274548 w 407573"/>
                <a:gd name="connsiteY1" fmla="*/ 309910 h 407573"/>
                <a:gd name="connsiteX2" fmla="*/ 406832 w 407573"/>
                <a:gd name="connsiteY2" fmla="*/ 3122 h 407573"/>
                <a:gd name="connsiteX3" fmla="*/ 100043 w 407573"/>
                <a:gd name="connsiteY3" fmla="*/ 135405 h 407573"/>
                <a:gd name="connsiteX4" fmla="*/ 2463 w 407573"/>
                <a:gd name="connsiteY4" fmla="*/ 289294 h 407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73" h="407573">
                  <a:moveTo>
                    <a:pt x="120660" y="407490"/>
                  </a:moveTo>
                  <a:cubicBezTo>
                    <a:pt x="195843" y="381215"/>
                    <a:pt x="274548" y="309910"/>
                    <a:pt x="274548" y="309910"/>
                  </a:cubicBezTo>
                  <a:cubicBezTo>
                    <a:pt x="424678" y="159780"/>
                    <a:pt x="406832" y="3122"/>
                    <a:pt x="406832" y="3122"/>
                  </a:cubicBezTo>
                  <a:cubicBezTo>
                    <a:pt x="406832" y="3122"/>
                    <a:pt x="250173" y="-14725"/>
                    <a:pt x="100043" y="135405"/>
                  </a:cubicBezTo>
                  <a:cubicBezTo>
                    <a:pt x="100043" y="135405"/>
                    <a:pt x="28817" y="214229"/>
                    <a:pt x="2463" y="289294"/>
                  </a:cubicBezTo>
                  <a:close/>
                </a:path>
              </a:pathLst>
            </a:custGeom>
            <a:noFill/>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8" name="Freeform: Shape 27">
              <a:extLst>
                <a:ext uri="{FF2B5EF4-FFF2-40B4-BE49-F238E27FC236}">
                  <a16:creationId xmlns:a16="http://schemas.microsoft.com/office/drawing/2014/main" id="{96D48358-B85D-0296-CA3C-B40C089CB6E4}"/>
                </a:ext>
              </a:extLst>
            </p:cNvPr>
            <p:cNvSpPr/>
            <p:nvPr/>
          </p:nvSpPr>
          <p:spPr>
            <a:xfrm>
              <a:off x="-1609192" y="2438417"/>
              <a:ext cx="122668" cy="122668"/>
            </a:xfrm>
            <a:custGeom>
              <a:avLst/>
              <a:gdLst>
                <a:gd name="connsiteX0" fmla="*/ 59721 w 122667"/>
                <a:gd name="connsiteY0" fmla="*/ 2463 h 122667"/>
                <a:gd name="connsiteX1" fmla="*/ 2463 w 122667"/>
                <a:gd name="connsiteY1" fmla="*/ 3413 h 122667"/>
                <a:gd name="connsiteX2" fmla="*/ 122559 w 122667"/>
                <a:gd name="connsiteY2" fmla="*/ 123509 h 122667"/>
                <a:gd name="connsiteX3" fmla="*/ 122559 w 122667"/>
                <a:gd name="connsiteY3" fmla="*/ 65340 h 122667"/>
                <a:gd name="connsiteX4" fmla="*/ 59721 w 122667"/>
                <a:gd name="connsiteY4" fmla="*/ 2463 h 122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67" h="122667">
                  <a:moveTo>
                    <a:pt x="59721" y="2463"/>
                  </a:moveTo>
                  <a:lnTo>
                    <a:pt x="2463" y="3413"/>
                  </a:lnTo>
                  <a:lnTo>
                    <a:pt x="122559" y="123509"/>
                  </a:lnTo>
                  <a:lnTo>
                    <a:pt x="122559" y="65340"/>
                  </a:lnTo>
                  <a:lnTo>
                    <a:pt x="59721" y="2463"/>
                  </a:lnTo>
                  <a:close/>
                </a:path>
              </a:pathLst>
            </a:custGeom>
            <a:noFill/>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9" name="Freeform: Shape 28">
              <a:extLst>
                <a:ext uri="{FF2B5EF4-FFF2-40B4-BE49-F238E27FC236}">
                  <a16:creationId xmlns:a16="http://schemas.microsoft.com/office/drawing/2014/main" id="{62F98196-C266-24CB-641B-4315875E24E5}"/>
                </a:ext>
              </a:extLst>
            </p:cNvPr>
            <p:cNvSpPr/>
            <p:nvPr/>
          </p:nvSpPr>
          <p:spPr>
            <a:xfrm>
              <a:off x="-1696404" y="2262372"/>
              <a:ext cx="213679" cy="122668"/>
            </a:xfrm>
            <a:custGeom>
              <a:avLst/>
              <a:gdLst>
                <a:gd name="connsiteX0" fmla="*/ 211552 w 213679"/>
                <a:gd name="connsiteY0" fmla="*/ 3291 h 122667"/>
                <a:gd name="connsiteX1" fmla="*/ 113497 w 213679"/>
                <a:gd name="connsiteY1" fmla="*/ 10849 h 122667"/>
                <a:gd name="connsiteX2" fmla="*/ 2463 w 213679"/>
                <a:gd name="connsiteY2" fmla="*/ 121725 h 122667"/>
                <a:gd name="connsiteX3" fmla="*/ 132016 w 213679"/>
                <a:gd name="connsiteY3" fmla="*/ 121725 h 122667"/>
              </a:gdLst>
              <a:ahLst/>
              <a:cxnLst>
                <a:cxn ang="0">
                  <a:pos x="connsiteX0" y="connsiteY0"/>
                </a:cxn>
                <a:cxn ang="0">
                  <a:pos x="connsiteX1" y="connsiteY1"/>
                </a:cxn>
                <a:cxn ang="0">
                  <a:pos x="connsiteX2" y="connsiteY2"/>
                </a:cxn>
                <a:cxn ang="0">
                  <a:pos x="connsiteX3" y="connsiteY3"/>
                </a:cxn>
              </a:cxnLst>
              <a:rect l="l" t="t" r="r" b="b"/>
              <a:pathLst>
                <a:path w="213679" h="122667">
                  <a:moveTo>
                    <a:pt x="211552" y="3291"/>
                  </a:moveTo>
                  <a:cubicBezTo>
                    <a:pt x="207595" y="-666"/>
                    <a:pt x="113497" y="10849"/>
                    <a:pt x="113497" y="10849"/>
                  </a:cubicBezTo>
                  <a:lnTo>
                    <a:pt x="2463" y="121725"/>
                  </a:lnTo>
                  <a:lnTo>
                    <a:pt x="132016" y="121725"/>
                  </a:lnTo>
                </a:path>
              </a:pathLst>
            </a:custGeom>
            <a:noFill/>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30" name="Freeform: Shape 29">
              <a:extLst>
                <a:ext uri="{FF2B5EF4-FFF2-40B4-BE49-F238E27FC236}">
                  <a16:creationId xmlns:a16="http://schemas.microsoft.com/office/drawing/2014/main" id="{A1183CAC-5E50-9681-C609-7DEE0361ECE4}"/>
                </a:ext>
              </a:extLst>
            </p:cNvPr>
            <p:cNvSpPr/>
            <p:nvPr/>
          </p:nvSpPr>
          <p:spPr>
            <a:xfrm>
              <a:off x="-1430651" y="2438296"/>
              <a:ext cx="122668" cy="213679"/>
            </a:xfrm>
            <a:custGeom>
              <a:avLst/>
              <a:gdLst>
                <a:gd name="connsiteX0" fmla="*/ 121016 w 122667"/>
                <a:gd name="connsiteY0" fmla="*/ 2463 h 213679"/>
                <a:gd name="connsiteX1" fmla="*/ 113458 w 122667"/>
                <a:gd name="connsiteY1" fmla="*/ 100518 h 213679"/>
                <a:gd name="connsiteX2" fmla="*/ 2463 w 122667"/>
                <a:gd name="connsiteY2" fmla="*/ 211513 h 213679"/>
                <a:gd name="connsiteX3" fmla="*/ 2463 w 122667"/>
                <a:gd name="connsiteY3" fmla="*/ 81960 h 213679"/>
              </a:gdLst>
              <a:ahLst/>
              <a:cxnLst>
                <a:cxn ang="0">
                  <a:pos x="connsiteX0" y="connsiteY0"/>
                </a:cxn>
                <a:cxn ang="0">
                  <a:pos x="connsiteX1" y="connsiteY1"/>
                </a:cxn>
                <a:cxn ang="0">
                  <a:pos x="connsiteX2" y="connsiteY2"/>
                </a:cxn>
                <a:cxn ang="0">
                  <a:pos x="connsiteX3" y="connsiteY3"/>
                </a:cxn>
              </a:cxnLst>
              <a:rect l="l" t="t" r="r" b="b"/>
              <a:pathLst>
                <a:path w="122667" h="213679">
                  <a:moveTo>
                    <a:pt x="121016" y="2463"/>
                  </a:moveTo>
                  <a:cubicBezTo>
                    <a:pt x="124973" y="6420"/>
                    <a:pt x="113458" y="100518"/>
                    <a:pt x="113458" y="100518"/>
                  </a:cubicBezTo>
                  <a:lnTo>
                    <a:pt x="2463" y="211513"/>
                  </a:lnTo>
                  <a:lnTo>
                    <a:pt x="2463" y="81960"/>
                  </a:lnTo>
                </a:path>
              </a:pathLst>
            </a:custGeom>
            <a:noFill/>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31" name="Freeform: Shape 30">
              <a:extLst>
                <a:ext uri="{FF2B5EF4-FFF2-40B4-BE49-F238E27FC236}">
                  <a16:creationId xmlns:a16="http://schemas.microsoft.com/office/drawing/2014/main" id="{CFC8FB93-442F-C225-E6D4-8ED5D602B98D}"/>
                </a:ext>
              </a:extLst>
            </p:cNvPr>
            <p:cNvSpPr/>
            <p:nvPr/>
          </p:nvSpPr>
          <p:spPr>
            <a:xfrm>
              <a:off x="-1689756" y="2494129"/>
              <a:ext cx="83098" cy="83098"/>
            </a:xfrm>
            <a:custGeom>
              <a:avLst/>
              <a:gdLst>
                <a:gd name="connsiteX0" fmla="*/ 81683 w 83097"/>
                <a:gd name="connsiteY0" fmla="*/ 2463 h 83097"/>
                <a:gd name="connsiteX1" fmla="*/ 2463 w 83097"/>
                <a:gd name="connsiteY1" fmla="*/ 81683 h 83097"/>
              </a:gdLst>
              <a:ahLst/>
              <a:cxnLst>
                <a:cxn ang="0">
                  <a:pos x="connsiteX0" y="connsiteY0"/>
                </a:cxn>
                <a:cxn ang="0">
                  <a:pos x="connsiteX1" y="connsiteY1"/>
                </a:cxn>
              </a:cxnLst>
              <a:rect l="l" t="t" r="r" b="b"/>
              <a:pathLst>
                <a:path w="83097" h="83097">
                  <a:moveTo>
                    <a:pt x="81683" y="2463"/>
                  </a:moveTo>
                  <a:lnTo>
                    <a:pt x="2463" y="81683"/>
                  </a:lnTo>
                </a:path>
              </a:pathLst>
            </a:custGeom>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32" name="Freeform: Shape 31">
              <a:extLst>
                <a:ext uri="{FF2B5EF4-FFF2-40B4-BE49-F238E27FC236}">
                  <a16:creationId xmlns:a16="http://schemas.microsoft.com/office/drawing/2014/main" id="{4153C0A8-6233-EE3E-794C-9069007B9DF7}"/>
                </a:ext>
              </a:extLst>
            </p:cNvPr>
            <p:cNvSpPr/>
            <p:nvPr/>
          </p:nvSpPr>
          <p:spPr>
            <a:xfrm>
              <a:off x="-1619954" y="2563929"/>
              <a:ext cx="83098" cy="83098"/>
            </a:xfrm>
            <a:custGeom>
              <a:avLst/>
              <a:gdLst>
                <a:gd name="connsiteX0" fmla="*/ 81643 w 83097"/>
                <a:gd name="connsiteY0" fmla="*/ 2463 h 83097"/>
                <a:gd name="connsiteX1" fmla="*/ 2463 w 83097"/>
                <a:gd name="connsiteY1" fmla="*/ 81643 h 83097"/>
              </a:gdLst>
              <a:ahLst/>
              <a:cxnLst>
                <a:cxn ang="0">
                  <a:pos x="connsiteX0" y="connsiteY0"/>
                </a:cxn>
                <a:cxn ang="0">
                  <a:pos x="connsiteX1" y="connsiteY1"/>
                </a:cxn>
              </a:cxnLst>
              <a:rect l="l" t="t" r="r" b="b"/>
              <a:pathLst>
                <a:path w="83097" h="83097">
                  <a:moveTo>
                    <a:pt x="81643" y="2463"/>
                  </a:moveTo>
                  <a:lnTo>
                    <a:pt x="2463" y="81643"/>
                  </a:lnTo>
                </a:path>
              </a:pathLst>
            </a:custGeom>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33" name="Freeform: Shape 32">
              <a:extLst>
                <a:ext uri="{FF2B5EF4-FFF2-40B4-BE49-F238E27FC236}">
                  <a16:creationId xmlns:a16="http://schemas.microsoft.com/office/drawing/2014/main" id="{72786A99-568A-3E77-6CA0-88A2985C9651}"/>
                </a:ext>
              </a:extLst>
            </p:cNvPr>
            <p:cNvSpPr/>
            <p:nvPr/>
          </p:nvSpPr>
          <p:spPr>
            <a:xfrm>
              <a:off x="-1689517" y="2542680"/>
              <a:ext cx="102883" cy="102883"/>
            </a:xfrm>
            <a:custGeom>
              <a:avLst/>
              <a:gdLst>
                <a:gd name="connsiteX0" fmla="*/ 102655 w 102882"/>
                <a:gd name="connsiteY0" fmla="*/ 2463 h 102882"/>
                <a:gd name="connsiteX1" fmla="*/ 2463 w 102882"/>
                <a:gd name="connsiteY1" fmla="*/ 102655 h 102882"/>
              </a:gdLst>
              <a:ahLst/>
              <a:cxnLst>
                <a:cxn ang="0">
                  <a:pos x="connsiteX0" y="connsiteY0"/>
                </a:cxn>
                <a:cxn ang="0">
                  <a:pos x="connsiteX1" y="connsiteY1"/>
                </a:cxn>
              </a:cxnLst>
              <a:rect l="l" t="t" r="r" b="b"/>
              <a:pathLst>
                <a:path w="102882" h="102882">
                  <a:moveTo>
                    <a:pt x="102655" y="2463"/>
                  </a:moveTo>
                  <a:lnTo>
                    <a:pt x="2463" y="102655"/>
                  </a:lnTo>
                </a:path>
              </a:pathLst>
            </a:custGeom>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34" name="Freeform: Shape 33">
              <a:extLst>
                <a:ext uri="{FF2B5EF4-FFF2-40B4-BE49-F238E27FC236}">
                  <a16:creationId xmlns:a16="http://schemas.microsoft.com/office/drawing/2014/main" id="{A60E2CFA-B2E7-A85E-6C87-031901957AEF}"/>
                </a:ext>
              </a:extLst>
            </p:cNvPr>
            <p:cNvSpPr/>
            <p:nvPr/>
          </p:nvSpPr>
          <p:spPr>
            <a:xfrm>
              <a:off x="-1393236" y="2175339"/>
              <a:ext cx="170152" cy="170152"/>
            </a:xfrm>
            <a:custGeom>
              <a:avLst/>
              <a:gdLst>
                <a:gd name="connsiteX0" fmla="*/ 153431 w 170152"/>
                <a:gd name="connsiteY0" fmla="*/ 89215 h 170152"/>
                <a:gd name="connsiteX1" fmla="*/ 169659 w 170152"/>
                <a:gd name="connsiteY1" fmla="*/ 105444 h 170152"/>
                <a:gd name="connsiteX2" fmla="*/ 105444 w 170152"/>
                <a:gd name="connsiteY2" fmla="*/ 169659 h 170152"/>
                <a:gd name="connsiteX3" fmla="*/ 89216 w 170152"/>
                <a:gd name="connsiteY3" fmla="*/ 153431 h 170152"/>
                <a:gd name="connsiteX4" fmla="*/ 19712 w 170152"/>
                <a:gd name="connsiteY4" fmla="*/ 83927 h 170152"/>
                <a:gd name="connsiteX5" fmla="*/ 83927 w 170152"/>
                <a:gd name="connsiteY5" fmla="*/ 19712 h 170152"/>
                <a:gd name="connsiteX6" fmla="*/ 67699 w 170152"/>
                <a:gd name="connsiteY6" fmla="*/ 3484 h 170152"/>
                <a:gd name="connsiteX7" fmla="*/ 83927 w 170152"/>
                <a:gd name="connsiteY7" fmla="*/ 19712 h 170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152" h="170152">
                  <a:moveTo>
                    <a:pt x="153431" y="89215"/>
                  </a:moveTo>
                  <a:cubicBezTo>
                    <a:pt x="162393" y="98178"/>
                    <a:pt x="169659" y="105444"/>
                    <a:pt x="169659" y="105444"/>
                  </a:cubicBezTo>
                  <a:lnTo>
                    <a:pt x="105444" y="169659"/>
                  </a:lnTo>
                  <a:cubicBezTo>
                    <a:pt x="105444" y="169659"/>
                    <a:pt x="98178" y="162393"/>
                    <a:pt x="89216" y="153431"/>
                  </a:cubicBezTo>
                  <a:lnTo>
                    <a:pt x="19712" y="83927"/>
                  </a:lnTo>
                  <a:lnTo>
                    <a:pt x="83927" y="19712"/>
                  </a:lnTo>
                  <a:cubicBezTo>
                    <a:pt x="74964" y="10749"/>
                    <a:pt x="67699" y="3484"/>
                    <a:pt x="67699" y="3484"/>
                  </a:cubicBezTo>
                  <a:cubicBezTo>
                    <a:pt x="67699" y="3484"/>
                    <a:pt x="74964" y="10749"/>
                    <a:pt x="83927" y="19712"/>
                  </a:cubicBezTo>
                  <a:close/>
                </a:path>
              </a:pathLst>
            </a:custGeom>
            <a:noFill/>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mazon Ember Display"/>
                <a:ea typeface="+mn-ea"/>
                <a:cs typeface="+mn-cs"/>
              </a:endParaRPr>
            </a:p>
          </p:txBody>
        </p:sp>
      </p:grpSp>
      <p:grpSp>
        <p:nvGrpSpPr>
          <p:cNvPr id="35" name="Graphic 6">
            <a:extLst>
              <a:ext uri="{FF2B5EF4-FFF2-40B4-BE49-F238E27FC236}">
                <a16:creationId xmlns:a16="http://schemas.microsoft.com/office/drawing/2014/main" id="{CAB322EA-ECFD-2788-30F0-44E63CA34393}"/>
              </a:ext>
            </a:extLst>
          </p:cNvPr>
          <p:cNvGrpSpPr/>
          <p:nvPr/>
        </p:nvGrpSpPr>
        <p:grpSpPr>
          <a:xfrm>
            <a:off x="4640141" y="3024274"/>
            <a:ext cx="832096" cy="832096"/>
            <a:chOff x="-1828482" y="1992630"/>
            <a:chExt cx="791405" cy="791405"/>
          </a:xfrm>
        </p:grpSpPr>
        <p:sp>
          <p:nvSpPr>
            <p:cNvPr id="36" name="Freeform: Shape 35">
              <a:extLst>
                <a:ext uri="{FF2B5EF4-FFF2-40B4-BE49-F238E27FC236}">
                  <a16:creationId xmlns:a16="http://schemas.microsoft.com/office/drawing/2014/main" id="{7D337944-90CA-B2E6-3071-78AF8306DE5D}"/>
                </a:ext>
              </a:extLst>
            </p:cNvPr>
            <p:cNvSpPr/>
            <p:nvPr/>
          </p:nvSpPr>
          <p:spPr>
            <a:xfrm>
              <a:off x="-1579160" y="2124403"/>
              <a:ext cx="407574" cy="407574"/>
            </a:xfrm>
            <a:custGeom>
              <a:avLst/>
              <a:gdLst>
                <a:gd name="connsiteX0" fmla="*/ 120660 w 407573"/>
                <a:gd name="connsiteY0" fmla="*/ 407490 h 407573"/>
                <a:gd name="connsiteX1" fmla="*/ 274548 w 407573"/>
                <a:gd name="connsiteY1" fmla="*/ 309910 h 407573"/>
                <a:gd name="connsiteX2" fmla="*/ 406832 w 407573"/>
                <a:gd name="connsiteY2" fmla="*/ 3122 h 407573"/>
                <a:gd name="connsiteX3" fmla="*/ 100043 w 407573"/>
                <a:gd name="connsiteY3" fmla="*/ 135405 h 407573"/>
                <a:gd name="connsiteX4" fmla="*/ 2463 w 407573"/>
                <a:gd name="connsiteY4" fmla="*/ 289294 h 407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73" h="407573">
                  <a:moveTo>
                    <a:pt x="120660" y="407490"/>
                  </a:moveTo>
                  <a:cubicBezTo>
                    <a:pt x="195843" y="381215"/>
                    <a:pt x="274548" y="309910"/>
                    <a:pt x="274548" y="309910"/>
                  </a:cubicBezTo>
                  <a:cubicBezTo>
                    <a:pt x="424678" y="159780"/>
                    <a:pt x="406832" y="3122"/>
                    <a:pt x="406832" y="3122"/>
                  </a:cubicBezTo>
                  <a:cubicBezTo>
                    <a:pt x="406832" y="3122"/>
                    <a:pt x="250173" y="-14725"/>
                    <a:pt x="100043" y="135405"/>
                  </a:cubicBezTo>
                  <a:cubicBezTo>
                    <a:pt x="100043" y="135405"/>
                    <a:pt x="28817" y="214229"/>
                    <a:pt x="2463" y="289294"/>
                  </a:cubicBezTo>
                  <a:close/>
                </a:path>
              </a:pathLst>
            </a:custGeom>
            <a:noFill/>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37" name="Freeform: Shape 36">
              <a:extLst>
                <a:ext uri="{FF2B5EF4-FFF2-40B4-BE49-F238E27FC236}">
                  <a16:creationId xmlns:a16="http://schemas.microsoft.com/office/drawing/2014/main" id="{49687FFA-8519-0EBE-A0DA-DF56AA4E10AF}"/>
                </a:ext>
              </a:extLst>
            </p:cNvPr>
            <p:cNvSpPr/>
            <p:nvPr/>
          </p:nvSpPr>
          <p:spPr>
            <a:xfrm>
              <a:off x="-1609194" y="2438419"/>
              <a:ext cx="122668" cy="122668"/>
            </a:xfrm>
            <a:custGeom>
              <a:avLst/>
              <a:gdLst>
                <a:gd name="connsiteX0" fmla="*/ 59721 w 122667"/>
                <a:gd name="connsiteY0" fmla="*/ 2463 h 122667"/>
                <a:gd name="connsiteX1" fmla="*/ 2463 w 122667"/>
                <a:gd name="connsiteY1" fmla="*/ 3413 h 122667"/>
                <a:gd name="connsiteX2" fmla="*/ 122559 w 122667"/>
                <a:gd name="connsiteY2" fmla="*/ 123509 h 122667"/>
                <a:gd name="connsiteX3" fmla="*/ 122559 w 122667"/>
                <a:gd name="connsiteY3" fmla="*/ 65340 h 122667"/>
                <a:gd name="connsiteX4" fmla="*/ 59721 w 122667"/>
                <a:gd name="connsiteY4" fmla="*/ 2463 h 122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67" h="122667">
                  <a:moveTo>
                    <a:pt x="59721" y="2463"/>
                  </a:moveTo>
                  <a:lnTo>
                    <a:pt x="2463" y="3413"/>
                  </a:lnTo>
                  <a:lnTo>
                    <a:pt x="122559" y="123509"/>
                  </a:lnTo>
                  <a:lnTo>
                    <a:pt x="122559" y="65340"/>
                  </a:lnTo>
                  <a:lnTo>
                    <a:pt x="59721" y="2463"/>
                  </a:lnTo>
                  <a:close/>
                </a:path>
              </a:pathLst>
            </a:custGeom>
            <a:noFill/>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38" name="Freeform: Shape 37">
              <a:extLst>
                <a:ext uri="{FF2B5EF4-FFF2-40B4-BE49-F238E27FC236}">
                  <a16:creationId xmlns:a16="http://schemas.microsoft.com/office/drawing/2014/main" id="{389FE0F3-AA0E-D74D-26B7-DB1BB04026F7}"/>
                </a:ext>
              </a:extLst>
            </p:cNvPr>
            <p:cNvSpPr/>
            <p:nvPr/>
          </p:nvSpPr>
          <p:spPr>
            <a:xfrm>
              <a:off x="-1696406" y="2262374"/>
              <a:ext cx="213679" cy="122668"/>
            </a:xfrm>
            <a:custGeom>
              <a:avLst/>
              <a:gdLst>
                <a:gd name="connsiteX0" fmla="*/ 211552 w 213679"/>
                <a:gd name="connsiteY0" fmla="*/ 3291 h 122667"/>
                <a:gd name="connsiteX1" fmla="*/ 113497 w 213679"/>
                <a:gd name="connsiteY1" fmla="*/ 10849 h 122667"/>
                <a:gd name="connsiteX2" fmla="*/ 2463 w 213679"/>
                <a:gd name="connsiteY2" fmla="*/ 121725 h 122667"/>
                <a:gd name="connsiteX3" fmla="*/ 132016 w 213679"/>
                <a:gd name="connsiteY3" fmla="*/ 121725 h 122667"/>
              </a:gdLst>
              <a:ahLst/>
              <a:cxnLst>
                <a:cxn ang="0">
                  <a:pos x="connsiteX0" y="connsiteY0"/>
                </a:cxn>
                <a:cxn ang="0">
                  <a:pos x="connsiteX1" y="connsiteY1"/>
                </a:cxn>
                <a:cxn ang="0">
                  <a:pos x="connsiteX2" y="connsiteY2"/>
                </a:cxn>
                <a:cxn ang="0">
                  <a:pos x="connsiteX3" y="connsiteY3"/>
                </a:cxn>
              </a:cxnLst>
              <a:rect l="l" t="t" r="r" b="b"/>
              <a:pathLst>
                <a:path w="213679" h="122667">
                  <a:moveTo>
                    <a:pt x="211552" y="3291"/>
                  </a:moveTo>
                  <a:cubicBezTo>
                    <a:pt x="207595" y="-666"/>
                    <a:pt x="113497" y="10849"/>
                    <a:pt x="113497" y="10849"/>
                  </a:cubicBezTo>
                  <a:lnTo>
                    <a:pt x="2463" y="121725"/>
                  </a:lnTo>
                  <a:lnTo>
                    <a:pt x="132016" y="121725"/>
                  </a:lnTo>
                </a:path>
              </a:pathLst>
            </a:custGeom>
            <a:noFill/>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39" name="Freeform: Shape 38">
              <a:extLst>
                <a:ext uri="{FF2B5EF4-FFF2-40B4-BE49-F238E27FC236}">
                  <a16:creationId xmlns:a16="http://schemas.microsoft.com/office/drawing/2014/main" id="{987B46E8-D794-5408-F525-60EDD3062C45}"/>
                </a:ext>
              </a:extLst>
            </p:cNvPr>
            <p:cNvSpPr/>
            <p:nvPr/>
          </p:nvSpPr>
          <p:spPr>
            <a:xfrm>
              <a:off x="-1430653" y="2438300"/>
              <a:ext cx="122668" cy="213679"/>
            </a:xfrm>
            <a:custGeom>
              <a:avLst/>
              <a:gdLst>
                <a:gd name="connsiteX0" fmla="*/ 121016 w 122667"/>
                <a:gd name="connsiteY0" fmla="*/ 2463 h 213679"/>
                <a:gd name="connsiteX1" fmla="*/ 113458 w 122667"/>
                <a:gd name="connsiteY1" fmla="*/ 100518 h 213679"/>
                <a:gd name="connsiteX2" fmla="*/ 2463 w 122667"/>
                <a:gd name="connsiteY2" fmla="*/ 211513 h 213679"/>
                <a:gd name="connsiteX3" fmla="*/ 2463 w 122667"/>
                <a:gd name="connsiteY3" fmla="*/ 81960 h 213679"/>
              </a:gdLst>
              <a:ahLst/>
              <a:cxnLst>
                <a:cxn ang="0">
                  <a:pos x="connsiteX0" y="connsiteY0"/>
                </a:cxn>
                <a:cxn ang="0">
                  <a:pos x="connsiteX1" y="connsiteY1"/>
                </a:cxn>
                <a:cxn ang="0">
                  <a:pos x="connsiteX2" y="connsiteY2"/>
                </a:cxn>
                <a:cxn ang="0">
                  <a:pos x="connsiteX3" y="connsiteY3"/>
                </a:cxn>
              </a:cxnLst>
              <a:rect l="l" t="t" r="r" b="b"/>
              <a:pathLst>
                <a:path w="122667" h="213679">
                  <a:moveTo>
                    <a:pt x="121016" y="2463"/>
                  </a:moveTo>
                  <a:cubicBezTo>
                    <a:pt x="124973" y="6420"/>
                    <a:pt x="113458" y="100518"/>
                    <a:pt x="113458" y="100518"/>
                  </a:cubicBezTo>
                  <a:lnTo>
                    <a:pt x="2463" y="211513"/>
                  </a:lnTo>
                  <a:lnTo>
                    <a:pt x="2463" y="81960"/>
                  </a:lnTo>
                </a:path>
              </a:pathLst>
            </a:custGeom>
            <a:noFill/>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40" name="Freeform: Shape 39">
              <a:extLst>
                <a:ext uri="{FF2B5EF4-FFF2-40B4-BE49-F238E27FC236}">
                  <a16:creationId xmlns:a16="http://schemas.microsoft.com/office/drawing/2014/main" id="{2D6F8843-3BFE-D597-9DD4-68AB99F6659D}"/>
                </a:ext>
              </a:extLst>
            </p:cNvPr>
            <p:cNvSpPr/>
            <p:nvPr/>
          </p:nvSpPr>
          <p:spPr>
            <a:xfrm>
              <a:off x="-1689759" y="2494133"/>
              <a:ext cx="83098" cy="83098"/>
            </a:xfrm>
            <a:custGeom>
              <a:avLst/>
              <a:gdLst>
                <a:gd name="connsiteX0" fmla="*/ 81683 w 83097"/>
                <a:gd name="connsiteY0" fmla="*/ 2463 h 83097"/>
                <a:gd name="connsiteX1" fmla="*/ 2463 w 83097"/>
                <a:gd name="connsiteY1" fmla="*/ 81683 h 83097"/>
              </a:gdLst>
              <a:ahLst/>
              <a:cxnLst>
                <a:cxn ang="0">
                  <a:pos x="connsiteX0" y="connsiteY0"/>
                </a:cxn>
                <a:cxn ang="0">
                  <a:pos x="connsiteX1" y="connsiteY1"/>
                </a:cxn>
              </a:cxnLst>
              <a:rect l="l" t="t" r="r" b="b"/>
              <a:pathLst>
                <a:path w="83097" h="83097">
                  <a:moveTo>
                    <a:pt x="81683" y="2463"/>
                  </a:moveTo>
                  <a:lnTo>
                    <a:pt x="2463" y="81683"/>
                  </a:lnTo>
                </a:path>
              </a:pathLst>
            </a:custGeom>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41" name="Freeform: Shape 40">
              <a:extLst>
                <a:ext uri="{FF2B5EF4-FFF2-40B4-BE49-F238E27FC236}">
                  <a16:creationId xmlns:a16="http://schemas.microsoft.com/office/drawing/2014/main" id="{5A9E862C-71F2-2A88-3D18-E24FD24FF203}"/>
                </a:ext>
              </a:extLst>
            </p:cNvPr>
            <p:cNvSpPr/>
            <p:nvPr/>
          </p:nvSpPr>
          <p:spPr>
            <a:xfrm>
              <a:off x="-1619957" y="2563935"/>
              <a:ext cx="83098" cy="83098"/>
            </a:xfrm>
            <a:custGeom>
              <a:avLst/>
              <a:gdLst>
                <a:gd name="connsiteX0" fmla="*/ 81643 w 83097"/>
                <a:gd name="connsiteY0" fmla="*/ 2463 h 83097"/>
                <a:gd name="connsiteX1" fmla="*/ 2463 w 83097"/>
                <a:gd name="connsiteY1" fmla="*/ 81643 h 83097"/>
              </a:gdLst>
              <a:ahLst/>
              <a:cxnLst>
                <a:cxn ang="0">
                  <a:pos x="connsiteX0" y="connsiteY0"/>
                </a:cxn>
                <a:cxn ang="0">
                  <a:pos x="connsiteX1" y="connsiteY1"/>
                </a:cxn>
              </a:cxnLst>
              <a:rect l="l" t="t" r="r" b="b"/>
              <a:pathLst>
                <a:path w="83097" h="83097">
                  <a:moveTo>
                    <a:pt x="81643" y="2463"/>
                  </a:moveTo>
                  <a:lnTo>
                    <a:pt x="2463" y="81643"/>
                  </a:lnTo>
                </a:path>
              </a:pathLst>
            </a:custGeom>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42" name="Freeform: Shape 41">
              <a:extLst>
                <a:ext uri="{FF2B5EF4-FFF2-40B4-BE49-F238E27FC236}">
                  <a16:creationId xmlns:a16="http://schemas.microsoft.com/office/drawing/2014/main" id="{3347FD19-4FE2-6F99-9ED8-24CD54482155}"/>
                </a:ext>
              </a:extLst>
            </p:cNvPr>
            <p:cNvSpPr/>
            <p:nvPr/>
          </p:nvSpPr>
          <p:spPr>
            <a:xfrm>
              <a:off x="-1689521" y="2542686"/>
              <a:ext cx="102883" cy="102883"/>
            </a:xfrm>
            <a:custGeom>
              <a:avLst/>
              <a:gdLst>
                <a:gd name="connsiteX0" fmla="*/ 102655 w 102882"/>
                <a:gd name="connsiteY0" fmla="*/ 2463 h 102882"/>
                <a:gd name="connsiteX1" fmla="*/ 2463 w 102882"/>
                <a:gd name="connsiteY1" fmla="*/ 102655 h 102882"/>
              </a:gdLst>
              <a:ahLst/>
              <a:cxnLst>
                <a:cxn ang="0">
                  <a:pos x="connsiteX0" y="connsiteY0"/>
                </a:cxn>
                <a:cxn ang="0">
                  <a:pos x="connsiteX1" y="connsiteY1"/>
                </a:cxn>
              </a:cxnLst>
              <a:rect l="l" t="t" r="r" b="b"/>
              <a:pathLst>
                <a:path w="102882" h="102882">
                  <a:moveTo>
                    <a:pt x="102655" y="2463"/>
                  </a:moveTo>
                  <a:lnTo>
                    <a:pt x="2463" y="102655"/>
                  </a:lnTo>
                </a:path>
              </a:pathLst>
            </a:custGeom>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43" name="Freeform: Shape 42">
              <a:extLst>
                <a:ext uri="{FF2B5EF4-FFF2-40B4-BE49-F238E27FC236}">
                  <a16:creationId xmlns:a16="http://schemas.microsoft.com/office/drawing/2014/main" id="{0B37B2A0-C1D1-D821-FFFC-AB02EFF75FFF}"/>
                </a:ext>
              </a:extLst>
            </p:cNvPr>
            <p:cNvSpPr/>
            <p:nvPr/>
          </p:nvSpPr>
          <p:spPr>
            <a:xfrm>
              <a:off x="-1393236" y="2175339"/>
              <a:ext cx="170152" cy="170152"/>
            </a:xfrm>
            <a:custGeom>
              <a:avLst/>
              <a:gdLst>
                <a:gd name="connsiteX0" fmla="*/ 153431 w 170152"/>
                <a:gd name="connsiteY0" fmla="*/ 89215 h 170152"/>
                <a:gd name="connsiteX1" fmla="*/ 169659 w 170152"/>
                <a:gd name="connsiteY1" fmla="*/ 105444 h 170152"/>
                <a:gd name="connsiteX2" fmla="*/ 105444 w 170152"/>
                <a:gd name="connsiteY2" fmla="*/ 169659 h 170152"/>
                <a:gd name="connsiteX3" fmla="*/ 89216 w 170152"/>
                <a:gd name="connsiteY3" fmla="*/ 153431 h 170152"/>
                <a:gd name="connsiteX4" fmla="*/ 19712 w 170152"/>
                <a:gd name="connsiteY4" fmla="*/ 83927 h 170152"/>
                <a:gd name="connsiteX5" fmla="*/ 83927 w 170152"/>
                <a:gd name="connsiteY5" fmla="*/ 19712 h 170152"/>
                <a:gd name="connsiteX6" fmla="*/ 67699 w 170152"/>
                <a:gd name="connsiteY6" fmla="*/ 3484 h 170152"/>
                <a:gd name="connsiteX7" fmla="*/ 83927 w 170152"/>
                <a:gd name="connsiteY7" fmla="*/ 19712 h 170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152" h="170152">
                  <a:moveTo>
                    <a:pt x="153431" y="89215"/>
                  </a:moveTo>
                  <a:cubicBezTo>
                    <a:pt x="162393" y="98178"/>
                    <a:pt x="169659" y="105444"/>
                    <a:pt x="169659" y="105444"/>
                  </a:cubicBezTo>
                  <a:lnTo>
                    <a:pt x="105444" y="169659"/>
                  </a:lnTo>
                  <a:cubicBezTo>
                    <a:pt x="105444" y="169659"/>
                    <a:pt x="98178" y="162393"/>
                    <a:pt x="89216" y="153431"/>
                  </a:cubicBezTo>
                  <a:lnTo>
                    <a:pt x="19712" y="83927"/>
                  </a:lnTo>
                  <a:lnTo>
                    <a:pt x="83927" y="19712"/>
                  </a:lnTo>
                  <a:cubicBezTo>
                    <a:pt x="74964" y="10749"/>
                    <a:pt x="67699" y="3484"/>
                    <a:pt x="67699" y="3484"/>
                  </a:cubicBezTo>
                  <a:cubicBezTo>
                    <a:pt x="67699" y="3484"/>
                    <a:pt x="74964" y="10749"/>
                    <a:pt x="83927" y="19712"/>
                  </a:cubicBezTo>
                  <a:close/>
                </a:path>
              </a:pathLst>
            </a:custGeom>
            <a:noFill/>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mazon Ember Display"/>
                <a:ea typeface="+mn-ea"/>
                <a:cs typeface="+mn-cs"/>
              </a:endParaRPr>
            </a:p>
          </p:txBody>
        </p:sp>
      </p:grpSp>
      <p:grpSp>
        <p:nvGrpSpPr>
          <p:cNvPr id="44" name="Graphic 6">
            <a:extLst>
              <a:ext uri="{FF2B5EF4-FFF2-40B4-BE49-F238E27FC236}">
                <a16:creationId xmlns:a16="http://schemas.microsoft.com/office/drawing/2014/main" id="{267C6A15-64FF-0179-F55C-3F69656A4689}"/>
              </a:ext>
            </a:extLst>
          </p:cNvPr>
          <p:cNvGrpSpPr/>
          <p:nvPr/>
        </p:nvGrpSpPr>
        <p:grpSpPr>
          <a:xfrm>
            <a:off x="8397153" y="3024274"/>
            <a:ext cx="832096" cy="832096"/>
            <a:chOff x="-1828482" y="1992630"/>
            <a:chExt cx="791405" cy="791405"/>
          </a:xfrm>
        </p:grpSpPr>
        <p:sp>
          <p:nvSpPr>
            <p:cNvPr id="45" name="Freeform: Shape 44">
              <a:extLst>
                <a:ext uri="{FF2B5EF4-FFF2-40B4-BE49-F238E27FC236}">
                  <a16:creationId xmlns:a16="http://schemas.microsoft.com/office/drawing/2014/main" id="{AD26949B-7E57-98D4-46DA-1811280E93FB}"/>
                </a:ext>
              </a:extLst>
            </p:cNvPr>
            <p:cNvSpPr/>
            <p:nvPr/>
          </p:nvSpPr>
          <p:spPr>
            <a:xfrm>
              <a:off x="-1579160" y="2124403"/>
              <a:ext cx="407574" cy="407574"/>
            </a:xfrm>
            <a:custGeom>
              <a:avLst/>
              <a:gdLst>
                <a:gd name="connsiteX0" fmla="*/ 120660 w 407573"/>
                <a:gd name="connsiteY0" fmla="*/ 407490 h 407573"/>
                <a:gd name="connsiteX1" fmla="*/ 274548 w 407573"/>
                <a:gd name="connsiteY1" fmla="*/ 309910 h 407573"/>
                <a:gd name="connsiteX2" fmla="*/ 406832 w 407573"/>
                <a:gd name="connsiteY2" fmla="*/ 3122 h 407573"/>
                <a:gd name="connsiteX3" fmla="*/ 100043 w 407573"/>
                <a:gd name="connsiteY3" fmla="*/ 135405 h 407573"/>
                <a:gd name="connsiteX4" fmla="*/ 2463 w 407573"/>
                <a:gd name="connsiteY4" fmla="*/ 289294 h 407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73" h="407573">
                  <a:moveTo>
                    <a:pt x="120660" y="407490"/>
                  </a:moveTo>
                  <a:cubicBezTo>
                    <a:pt x="195843" y="381215"/>
                    <a:pt x="274548" y="309910"/>
                    <a:pt x="274548" y="309910"/>
                  </a:cubicBezTo>
                  <a:cubicBezTo>
                    <a:pt x="424678" y="159780"/>
                    <a:pt x="406832" y="3122"/>
                    <a:pt x="406832" y="3122"/>
                  </a:cubicBezTo>
                  <a:cubicBezTo>
                    <a:pt x="406832" y="3122"/>
                    <a:pt x="250173" y="-14725"/>
                    <a:pt x="100043" y="135405"/>
                  </a:cubicBezTo>
                  <a:cubicBezTo>
                    <a:pt x="100043" y="135405"/>
                    <a:pt x="28817" y="214229"/>
                    <a:pt x="2463" y="289294"/>
                  </a:cubicBezTo>
                  <a:close/>
                </a:path>
              </a:pathLst>
            </a:custGeom>
            <a:noFill/>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46" name="Freeform: Shape 45">
              <a:extLst>
                <a:ext uri="{FF2B5EF4-FFF2-40B4-BE49-F238E27FC236}">
                  <a16:creationId xmlns:a16="http://schemas.microsoft.com/office/drawing/2014/main" id="{0FB29F72-97E4-7045-36C6-46AE680A760E}"/>
                </a:ext>
              </a:extLst>
            </p:cNvPr>
            <p:cNvSpPr/>
            <p:nvPr/>
          </p:nvSpPr>
          <p:spPr>
            <a:xfrm>
              <a:off x="-1609194" y="2438419"/>
              <a:ext cx="122668" cy="122668"/>
            </a:xfrm>
            <a:custGeom>
              <a:avLst/>
              <a:gdLst>
                <a:gd name="connsiteX0" fmla="*/ 59721 w 122667"/>
                <a:gd name="connsiteY0" fmla="*/ 2463 h 122667"/>
                <a:gd name="connsiteX1" fmla="*/ 2463 w 122667"/>
                <a:gd name="connsiteY1" fmla="*/ 3413 h 122667"/>
                <a:gd name="connsiteX2" fmla="*/ 122559 w 122667"/>
                <a:gd name="connsiteY2" fmla="*/ 123509 h 122667"/>
                <a:gd name="connsiteX3" fmla="*/ 122559 w 122667"/>
                <a:gd name="connsiteY3" fmla="*/ 65340 h 122667"/>
                <a:gd name="connsiteX4" fmla="*/ 59721 w 122667"/>
                <a:gd name="connsiteY4" fmla="*/ 2463 h 122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67" h="122667">
                  <a:moveTo>
                    <a:pt x="59721" y="2463"/>
                  </a:moveTo>
                  <a:lnTo>
                    <a:pt x="2463" y="3413"/>
                  </a:lnTo>
                  <a:lnTo>
                    <a:pt x="122559" y="123509"/>
                  </a:lnTo>
                  <a:lnTo>
                    <a:pt x="122559" y="65340"/>
                  </a:lnTo>
                  <a:lnTo>
                    <a:pt x="59721" y="2463"/>
                  </a:lnTo>
                  <a:close/>
                </a:path>
              </a:pathLst>
            </a:custGeom>
            <a:noFill/>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47" name="Freeform: Shape 46">
              <a:extLst>
                <a:ext uri="{FF2B5EF4-FFF2-40B4-BE49-F238E27FC236}">
                  <a16:creationId xmlns:a16="http://schemas.microsoft.com/office/drawing/2014/main" id="{1458C119-1787-6640-0195-4AA7C20EF6C0}"/>
                </a:ext>
              </a:extLst>
            </p:cNvPr>
            <p:cNvSpPr/>
            <p:nvPr/>
          </p:nvSpPr>
          <p:spPr>
            <a:xfrm>
              <a:off x="-1696406" y="2262374"/>
              <a:ext cx="213679" cy="122668"/>
            </a:xfrm>
            <a:custGeom>
              <a:avLst/>
              <a:gdLst>
                <a:gd name="connsiteX0" fmla="*/ 211552 w 213679"/>
                <a:gd name="connsiteY0" fmla="*/ 3291 h 122667"/>
                <a:gd name="connsiteX1" fmla="*/ 113497 w 213679"/>
                <a:gd name="connsiteY1" fmla="*/ 10849 h 122667"/>
                <a:gd name="connsiteX2" fmla="*/ 2463 w 213679"/>
                <a:gd name="connsiteY2" fmla="*/ 121725 h 122667"/>
                <a:gd name="connsiteX3" fmla="*/ 132016 w 213679"/>
                <a:gd name="connsiteY3" fmla="*/ 121725 h 122667"/>
              </a:gdLst>
              <a:ahLst/>
              <a:cxnLst>
                <a:cxn ang="0">
                  <a:pos x="connsiteX0" y="connsiteY0"/>
                </a:cxn>
                <a:cxn ang="0">
                  <a:pos x="connsiteX1" y="connsiteY1"/>
                </a:cxn>
                <a:cxn ang="0">
                  <a:pos x="connsiteX2" y="connsiteY2"/>
                </a:cxn>
                <a:cxn ang="0">
                  <a:pos x="connsiteX3" y="connsiteY3"/>
                </a:cxn>
              </a:cxnLst>
              <a:rect l="l" t="t" r="r" b="b"/>
              <a:pathLst>
                <a:path w="213679" h="122667">
                  <a:moveTo>
                    <a:pt x="211552" y="3291"/>
                  </a:moveTo>
                  <a:cubicBezTo>
                    <a:pt x="207595" y="-666"/>
                    <a:pt x="113497" y="10849"/>
                    <a:pt x="113497" y="10849"/>
                  </a:cubicBezTo>
                  <a:lnTo>
                    <a:pt x="2463" y="121725"/>
                  </a:lnTo>
                  <a:lnTo>
                    <a:pt x="132016" y="121725"/>
                  </a:lnTo>
                </a:path>
              </a:pathLst>
            </a:custGeom>
            <a:noFill/>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48" name="Freeform: Shape 47">
              <a:extLst>
                <a:ext uri="{FF2B5EF4-FFF2-40B4-BE49-F238E27FC236}">
                  <a16:creationId xmlns:a16="http://schemas.microsoft.com/office/drawing/2014/main" id="{47AFDFDB-5992-A86E-A0D2-5E901CC16502}"/>
                </a:ext>
              </a:extLst>
            </p:cNvPr>
            <p:cNvSpPr/>
            <p:nvPr/>
          </p:nvSpPr>
          <p:spPr>
            <a:xfrm>
              <a:off x="-1430653" y="2438300"/>
              <a:ext cx="122668" cy="213679"/>
            </a:xfrm>
            <a:custGeom>
              <a:avLst/>
              <a:gdLst>
                <a:gd name="connsiteX0" fmla="*/ 121016 w 122667"/>
                <a:gd name="connsiteY0" fmla="*/ 2463 h 213679"/>
                <a:gd name="connsiteX1" fmla="*/ 113458 w 122667"/>
                <a:gd name="connsiteY1" fmla="*/ 100518 h 213679"/>
                <a:gd name="connsiteX2" fmla="*/ 2463 w 122667"/>
                <a:gd name="connsiteY2" fmla="*/ 211513 h 213679"/>
                <a:gd name="connsiteX3" fmla="*/ 2463 w 122667"/>
                <a:gd name="connsiteY3" fmla="*/ 81960 h 213679"/>
              </a:gdLst>
              <a:ahLst/>
              <a:cxnLst>
                <a:cxn ang="0">
                  <a:pos x="connsiteX0" y="connsiteY0"/>
                </a:cxn>
                <a:cxn ang="0">
                  <a:pos x="connsiteX1" y="connsiteY1"/>
                </a:cxn>
                <a:cxn ang="0">
                  <a:pos x="connsiteX2" y="connsiteY2"/>
                </a:cxn>
                <a:cxn ang="0">
                  <a:pos x="connsiteX3" y="connsiteY3"/>
                </a:cxn>
              </a:cxnLst>
              <a:rect l="l" t="t" r="r" b="b"/>
              <a:pathLst>
                <a:path w="122667" h="213679">
                  <a:moveTo>
                    <a:pt x="121016" y="2463"/>
                  </a:moveTo>
                  <a:cubicBezTo>
                    <a:pt x="124973" y="6420"/>
                    <a:pt x="113458" y="100518"/>
                    <a:pt x="113458" y="100518"/>
                  </a:cubicBezTo>
                  <a:lnTo>
                    <a:pt x="2463" y="211513"/>
                  </a:lnTo>
                  <a:lnTo>
                    <a:pt x="2463" y="81960"/>
                  </a:lnTo>
                </a:path>
              </a:pathLst>
            </a:custGeom>
            <a:noFill/>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49" name="Freeform: Shape 48">
              <a:extLst>
                <a:ext uri="{FF2B5EF4-FFF2-40B4-BE49-F238E27FC236}">
                  <a16:creationId xmlns:a16="http://schemas.microsoft.com/office/drawing/2014/main" id="{1E68804C-F17D-FC90-EAD3-379D6CF0286E}"/>
                </a:ext>
              </a:extLst>
            </p:cNvPr>
            <p:cNvSpPr/>
            <p:nvPr/>
          </p:nvSpPr>
          <p:spPr>
            <a:xfrm>
              <a:off x="-1689759" y="2494133"/>
              <a:ext cx="83098" cy="83098"/>
            </a:xfrm>
            <a:custGeom>
              <a:avLst/>
              <a:gdLst>
                <a:gd name="connsiteX0" fmla="*/ 81683 w 83097"/>
                <a:gd name="connsiteY0" fmla="*/ 2463 h 83097"/>
                <a:gd name="connsiteX1" fmla="*/ 2463 w 83097"/>
                <a:gd name="connsiteY1" fmla="*/ 81683 h 83097"/>
              </a:gdLst>
              <a:ahLst/>
              <a:cxnLst>
                <a:cxn ang="0">
                  <a:pos x="connsiteX0" y="connsiteY0"/>
                </a:cxn>
                <a:cxn ang="0">
                  <a:pos x="connsiteX1" y="connsiteY1"/>
                </a:cxn>
              </a:cxnLst>
              <a:rect l="l" t="t" r="r" b="b"/>
              <a:pathLst>
                <a:path w="83097" h="83097">
                  <a:moveTo>
                    <a:pt x="81683" y="2463"/>
                  </a:moveTo>
                  <a:lnTo>
                    <a:pt x="2463" y="81683"/>
                  </a:lnTo>
                </a:path>
              </a:pathLst>
            </a:custGeom>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50" name="Freeform: Shape 49">
              <a:extLst>
                <a:ext uri="{FF2B5EF4-FFF2-40B4-BE49-F238E27FC236}">
                  <a16:creationId xmlns:a16="http://schemas.microsoft.com/office/drawing/2014/main" id="{5FF6400F-E3C7-826A-0019-4A8BCF042507}"/>
                </a:ext>
              </a:extLst>
            </p:cNvPr>
            <p:cNvSpPr/>
            <p:nvPr/>
          </p:nvSpPr>
          <p:spPr>
            <a:xfrm>
              <a:off x="-1619957" y="2563935"/>
              <a:ext cx="83098" cy="83098"/>
            </a:xfrm>
            <a:custGeom>
              <a:avLst/>
              <a:gdLst>
                <a:gd name="connsiteX0" fmla="*/ 81643 w 83097"/>
                <a:gd name="connsiteY0" fmla="*/ 2463 h 83097"/>
                <a:gd name="connsiteX1" fmla="*/ 2463 w 83097"/>
                <a:gd name="connsiteY1" fmla="*/ 81643 h 83097"/>
              </a:gdLst>
              <a:ahLst/>
              <a:cxnLst>
                <a:cxn ang="0">
                  <a:pos x="connsiteX0" y="connsiteY0"/>
                </a:cxn>
                <a:cxn ang="0">
                  <a:pos x="connsiteX1" y="connsiteY1"/>
                </a:cxn>
              </a:cxnLst>
              <a:rect l="l" t="t" r="r" b="b"/>
              <a:pathLst>
                <a:path w="83097" h="83097">
                  <a:moveTo>
                    <a:pt x="81643" y="2463"/>
                  </a:moveTo>
                  <a:lnTo>
                    <a:pt x="2463" y="81643"/>
                  </a:lnTo>
                </a:path>
              </a:pathLst>
            </a:custGeom>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51" name="Freeform: Shape 50">
              <a:extLst>
                <a:ext uri="{FF2B5EF4-FFF2-40B4-BE49-F238E27FC236}">
                  <a16:creationId xmlns:a16="http://schemas.microsoft.com/office/drawing/2014/main" id="{26C0B9B3-E585-7BDB-08D8-14DA52338C44}"/>
                </a:ext>
              </a:extLst>
            </p:cNvPr>
            <p:cNvSpPr/>
            <p:nvPr/>
          </p:nvSpPr>
          <p:spPr>
            <a:xfrm>
              <a:off x="-1689521" y="2542686"/>
              <a:ext cx="102883" cy="102883"/>
            </a:xfrm>
            <a:custGeom>
              <a:avLst/>
              <a:gdLst>
                <a:gd name="connsiteX0" fmla="*/ 102655 w 102882"/>
                <a:gd name="connsiteY0" fmla="*/ 2463 h 102882"/>
                <a:gd name="connsiteX1" fmla="*/ 2463 w 102882"/>
                <a:gd name="connsiteY1" fmla="*/ 102655 h 102882"/>
              </a:gdLst>
              <a:ahLst/>
              <a:cxnLst>
                <a:cxn ang="0">
                  <a:pos x="connsiteX0" y="connsiteY0"/>
                </a:cxn>
                <a:cxn ang="0">
                  <a:pos x="connsiteX1" y="connsiteY1"/>
                </a:cxn>
              </a:cxnLst>
              <a:rect l="l" t="t" r="r" b="b"/>
              <a:pathLst>
                <a:path w="102882" h="102882">
                  <a:moveTo>
                    <a:pt x="102655" y="2463"/>
                  </a:moveTo>
                  <a:lnTo>
                    <a:pt x="2463" y="102655"/>
                  </a:lnTo>
                </a:path>
              </a:pathLst>
            </a:custGeom>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52" name="Freeform: Shape 51">
              <a:extLst>
                <a:ext uri="{FF2B5EF4-FFF2-40B4-BE49-F238E27FC236}">
                  <a16:creationId xmlns:a16="http://schemas.microsoft.com/office/drawing/2014/main" id="{EEAF9A8A-E04C-6297-6415-4377A7ECF238}"/>
                </a:ext>
              </a:extLst>
            </p:cNvPr>
            <p:cNvSpPr/>
            <p:nvPr/>
          </p:nvSpPr>
          <p:spPr>
            <a:xfrm>
              <a:off x="-1393236" y="2175339"/>
              <a:ext cx="170152" cy="170152"/>
            </a:xfrm>
            <a:custGeom>
              <a:avLst/>
              <a:gdLst>
                <a:gd name="connsiteX0" fmla="*/ 153431 w 170152"/>
                <a:gd name="connsiteY0" fmla="*/ 89215 h 170152"/>
                <a:gd name="connsiteX1" fmla="*/ 169659 w 170152"/>
                <a:gd name="connsiteY1" fmla="*/ 105444 h 170152"/>
                <a:gd name="connsiteX2" fmla="*/ 105444 w 170152"/>
                <a:gd name="connsiteY2" fmla="*/ 169659 h 170152"/>
                <a:gd name="connsiteX3" fmla="*/ 89216 w 170152"/>
                <a:gd name="connsiteY3" fmla="*/ 153431 h 170152"/>
                <a:gd name="connsiteX4" fmla="*/ 19712 w 170152"/>
                <a:gd name="connsiteY4" fmla="*/ 83927 h 170152"/>
                <a:gd name="connsiteX5" fmla="*/ 83927 w 170152"/>
                <a:gd name="connsiteY5" fmla="*/ 19712 h 170152"/>
                <a:gd name="connsiteX6" fmla="*/ 67699 w 170152"/>
                <a:gd name="connsiteY6" fmla="*/ 3484 h 170152"/>
                <a:gd name="connsiteX7" fmla="*/ 83927 w 170152"/>
                <a:gd name="connsiteY7" fmla="*/ 19712 h 170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152" h="170152">
                  <a:moveTo>
                    <a:pt x="153431" y="89215"/>
                  </a:moveTo>
                  <a:cubicBezTo>
                    <a:pt x="162393" y="98178"/>
                    <a:pt x="169659" y="105444"/>
                    <a:pt x="169659" y="105444"/>
                  </a:cubicBezTo>
                  <a:lnTo>
                    <a:pt x="105444" y="169659"/>
                  </a:lnTo>
                  <a:cubicBezTo>
                    <a:pt x="105444" y="169659"/>
                    <a:pt x="98178" y="162393"/>
                    <a:pt x="89216" y="153431"/>
                  </a:cubicBezTo>
                  <a:lnTo>
                    <a:pt x="19712" y="83927"/>
                  </a:lnTo>
                  <a:lnTo>
                    <a:pt x="83927" y="19712"/>
                  </a:lnTo>
                  <a:cubicBezTo>
                    <a:pt x="74964" y="10749"/>
                    <a:pt x="67699" y="3484"/>
                    <a:pt x="67699" y="3484"/>
                  </a:cubicBezTo>
                  <a:cubicBezTo>
                    <a:pt x="67699" y="3484"/>
                    <a:pt x="74964" y="10749"/>
                    <a:pt x="83927" y="19712"/>
                  </a:cubicBezTo>
                  <a:close/>
                </a:path>
              </a:pathLst>
            </a:custGeom>
            <a:noFill/>
            <a:ln w="7906" cap="flat">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mazon Ember Display"/>
                <a:ea typeface="+mn-ea"/>
                <a:cs typeface="+mn-cs"/>
              </a:endParaRPr>
            </a:p>
          </p:txBody>
        </p:sp>
      </p:grpSp>
      <p:sp>
        <p:nvSpPr>
          <p:cNvPr id="55" name="Title 3">
            <a:extLst>
              <a:ext uri="{FF2B5EF4-FFF2-40B4-BE49-F238E27FC236}">
                <a16:creationId xmlns:a16="http://schemas.microsoft.com/office/drawing/2014/main" id="{86775B50-D90E-025D-19F4-E729FE44F7B5}"/>
              </a:ext>
            </a:extLst>
          </p:cNvPr>
          <p:cNvSpPr txBox="1">
            <a:spLocks/>
          </p:cNvSpPr>
          <p:nvPr/>
        </p:nvSpPr>
        <p:spPr>
          <a:xfrm>
            <a:off x="525376" y="914401"/>
            <a:ext cx="10972800" cy="590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The SaaS Co-Sell Benefit</a:t>
            </a:r>
          </a:p>
        </p:txBody>
      </p:sp>
      <p:sp>
        <p:nvSpPr>
          <p:cNvPr id="58" name="TextBox 57">
            <a:extLst>
              <a:ext uri="{FF2B5EF4-FFF2-40B4-BE49-F238E27FC236}">
                <a16:creationId xmlns:a16="http://schemas.microsoft.com/office/drawing/2014/main" id="{D87835DC-C382-0EC6-DBCE-D5AD6E9BA704}"/>
              </a:ext>
            </a:extLst>
          </p:cNvPr>
          <p:cNvSpPr txBox="1"/>
          <p:nvPr/>
        </p:nvSpPr>
        <p:spPr>
          <a:xfrm>
            <a:off x="525376" y="5739477"/>
            <a:ext cx="11072264" cy="461665"/>
          </a:xfrm>
          <a:prstGeom prst="rect">
            <a:avLst/>
          </a:prstGeom>
          <a:noFill/>
        </p:spPr>
        <p:txBody>
          <a:bodyPr wrap="square">
            <a:spAutoFit/>
          </a:bodyPr>
          <a:lstStyle/>
          <a:p>
            <a:r>
              <a:rPr lang="en-US" sz="1200" i="1" dirty="0">
                <a:latin typeface="Amazon Ember" panose="020B0603020204020204" pitchFamily="34" charset="0"/>
                <a:ea typeface="Amazon Ember" panose="020B0603020204020204" pitchFamily="34" charset="0"/>
                <a:cs typeface="Amazon Ember" panose="020B0603020204020204" pitchFamily="34" charset="0"/>
              </a:rPr>
              <a:t>*Limited exceptions for non-AWS Marketplace transactions in geographic regions where AWS Marketplace is not yet fully supported or blocked by regulatory constraints for public sector.</a:t>
            </a:r>
          </a:p>
        </p:txBody>
      </p:sp>
    </p:spTree>
    <p:extLst>
      <p:ext uri="{BB962C8B-B14F-4D97-AF65-F5344CB8AC3E}">
        <p14:creationId xmlns:p14="http://schemas.microsoft.com/office/powerpoint/2010/main" val="2292705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4B277-33E1-F6B4-8FA3-EFBBEE67B95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BF2C4E3-7FAD-063E-4FFE-D1DBE23732E0}"/>
              </a:ext>
            </a:extLst>
          </p:cNvPr>
          <p:cNvSpPr>
            <a:spLocks noGrp="1"/>
          </p:cNvSpPr>
          <p:nvPr>
            <p:ph type="sldNum" sz="quarter" idx="12"/>
          </p:nvPr>
        </p:nvSpPr>
        <p:spPr>
          <a:xfrm>
            <a:off x="8610600" y="6356350"/>
            <a:ext cx="2743200" cy="365125"/>
          </a:xfrm>
        </p:spPr>
        <p:txBody>
          <a:bodyPr/>
          <a:lstStyle/>
          <a:p>
            <a:fld id="{EB4B8DE2-A4E8-46E4-8BBF-D75455EFF32C}" type="slidenum">
              <a:rPr lang="en-US" smtClean="0"/>
              <a:pPr/>
              <a:t>9</a:t>
            </a:fld>
            <a:endParaRPr lang="en-US" dirty="0"/>
          </a:p>
        </p:txBody>
      </p:sp>
      <p:sp>
        <p:nvSpPr>
          <p:cNvPr id="55" name="Title 3">
            <a:extLst>
              <a:ext uri="{FF2B5EF4-FFF2-40B4-BE49-F238E27FC236}">
                <a16:creationId xmlns:a16="http://schemas.microsoft.com/office/drawing/2014/main" id="{AC350BD9-D694-76C9-BA4C-5347C77A1B70}"/>
              </a:ext>
            </a:extLst>
          </p:cNvPr>
          <p:cNvSpPr txBox="1">
            <a:spLocks/>
          </p:cNvSpPr>
          <p:nvPr/>
        </p:nvSpPr>
        <p:spPr>
          <a:xfrm>
            <a:off x="525376" y="440163"/>
            <a:ext cx="10972800" cy="590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Entrance Requirements</a:t>
            </a:r>
          </a:p>
        </p:txBody>
      </p:sp>
      <p:sp>
        <p:nvSpPr>
          <p:cNvPr id="2" name="Rounded Rectangle 3">
            <a:extLst>
              <a:ext uri="{FF2B5EF4-FFF2-40B4-BE49-F238E27FC236}">
                <a16:creationId xmlns:a16="http://schemas.microsoft.com/office/drawing/2014/main" id="{DD8C73F7-721F-C2DB-A0B7-7A90A1C2A9DB}"/>
              </a:ext>
            </a:extLst>
          </p:cNvPr>
          <p:cNvSpPr>
            <a:spLocks noChangeAspect="1"/>
          </p:cNvSpPr>
          <p:nvPr/>
        </p:nvSpPr>
        <p:spPr>
          <a:xfrm>
            <a:off x="588608" y="1246472"/>
            <a:ext cx="457200" cy="457200"/>
          </a:xfrm>
          <a:prstGeom prst="roundRect">
            <a:avLst/>
          </a:prstGeom>
          <a:solidFill>
            <a:srgbClr val="5327F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sz="1500" b="1" dirty="0">
                <a:solidFill>
                  <a:schemeClr val="bg1"/>
                </a:solidFill>
                <a:ea typeface="Amazon Ember Mono" panose="020B0509020204020204" pitchFamily="49" charset="0"/>
                <a:cs typeface="Amazon Ember Mono" panose="020B0509020204020204" pitchFamily="49" charset="0"/>
              </a:rPr>
              <a:t>1</a:t>
            </a:r>
          </a:p>
        </p:txBody>
      </p:sp>
      <p:sp>
        <p:nvSpPr>
          <p:cNvPr id="7" name="TextBox 6">
            <a:extLst>
              <a:ext uri="{FF2B5EF4-FFF2-40B4-BE49-F238E27FC236}">
                <a16:creationId xmlns:a16="http://schemas.microsoft.com/office/drawing/2014/main" id="{E9983143-0ED4-7A20-7BA5-E5DD922C56FC}"/>
              </a:ext>
            </a:extLst>
          </p:cNvPr>
          <p:cNvSpPr txBox="1"/>
          <p:nvPr/>
        </p:nvSpPr>
        <p:spPr>
          <a:xfrm>
            <a:off x="1045808" y="1203179"/>
            <a:ext cx="10452368" cy="536494"/>
          </a:xfrm>
          <a:prstGeom prst="rect">
            <a:avLst/>
          </a:prstGeom>
          <a:noFill/>
        </p:spPr>
        <p:txBody>
          <a:bodyPr wrap="square" lIns="182880" tIns="0" rIns="0" bIns="0" rtlCol="0" anchor="ctr">
            <a:spAutoFit/>
          </a:bodyPr>
          <a:lstStyle/>
          <a:p>
            <a:pPr algn="l">
              <a:lnSpc>
                <a:spcPct val="120000"/>
              </a:lnSpc>
              <a:spcAft>
                <a:spcPts val="1200"/>
              </a:spcAft>
              <a:buClr>
                <a:srgbClr val="B2008F"/>
              </a:buClr>
            </a:pPr>
            <a:r>
              <a:rPr lang="en-US" sz="1500" dirty="0">
                <a:ea typeface="Amazon Ember Display" panose="020F0603020204020204" pitchFamily="34" charset="0"/>
                <a:cs typeface="Amazon Ember Display" panose="020F0603020204020204" pitchFamily="34" charset="0"/>
              </a:rPr>
              <a:t>One or more software product(s) listed as GA on AWS Marketplace (SaaS, AMI, Cloud Formation Template, SageMaker Model, Container, or CAR).</a:t>
            </a:r>
          </a:p>
        </p:txBody>
      </p:sp>
      <p:sp>
        <p:nvSpPr>
          <p:cNvPr id="8" name="Rounded Rectangle 8">
            <a:extLst>
              <a:ext uri="{FF2B5EF4-FFF2-40B4-BE49-F238E27FC236}">
                <a16:creationId xmlns:a16="http://schemas.microsoft.com/office/drawing/2014/main" id="{9AB9F9CE-C183-DB62-8ADC-C37CA79580EF}"/>
              </a:ext>
            </a:extLst>
          </p:cNvPr>
          <p:cNvSpPr>
            <a:spLocks noChangeAspect="1"/>
          </p:cNvSpPr>
          <p:nvPr/>
        </p:nvSpPr>
        <p:spPr>
          <a:xfrm>
            <a:off x="588608" y="1863029"/>
            <a:ext cx="457200" cy="457200"/>
          </a:xfrm>
          <a:prstGeom prst="roundRect">
            <a:avLst/>
          </a:prstGeom>
          <a:solidFill>
            <a:srgbClr val="5327F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sz="1500" b="1" dirty="0">
                <a:solidFill>
                  <a:schemeClr val="bg1"/>
                </a:solidFill>
                <a:ea typeface="Amazon Ember Mono" panose="020B0509020204020204" pitchFamily="49" charset="0"/>
                <a:cs typeface="Amazon Ember Mono" panose="020B0509020204020204" pitchFamily="49" charset="0"/>
              </a:rPr>
              <a:t>2</a:t>
            </a:r>
          </a:p>
        </p:txBody>
      </p:sp>
      <p:sp>
        <p:nvSpPr>
          <p:cNvPr id="9" name="TextBox 8">
            <a:extLst>
              <a:ext uri="{FF2B5EF4-FFF2-40B4-BE49-F238E27FC236}">
                <a16:creationId xmlns:a16="http://schemas.microsoft.com/office/drawing/2014/main" id="{137C3CDA-E635-7E0D-D959-F8335A7512D6}"/>
              </a:ext>
            </a:extLst>
          </p:cNvPr>
          <p:cNvSpPr txBox="1"/>
          <p:nvPr/>
        </p:nvSpPr>
        <p:spPr>
          <a:xfrm>
            <a:off x="1045808" y="1962699"/>
            <a:ext cx="7213600" cy="259495"/>
          </a:xfrm>
          <a:prstGeom prst="rect">
            <a:avLst/>
          </a:prstGeom>
          <a:noFill/>
        </p:spPr>
        <p:txBody>
          <a:bodyPr wrap="square" lIns="182880" tIns="0" rIns="0" bIns="0" rtlCol="0" anchor="ctr">
            <a:spAutoFit/>
          </a:bodyPr>
          <a:lstStyle/>
          <a:p>
            <a:pPr algn="l">
              <a:lnSpc>
                <a:spcPct val="120000"/>
              </a:lnSpc>
              <a:spcAft>
                <a:spcPts val="1200"/>
              </a:spcAft>
              <a:buClr>
                <a:srgbClr val="B2008F"/>
              </a:buClr>
            </a:pPr>
            <a:r>
              <a:rPr lang="en-US" sz="1500" dirty="0">
                <a:ea typeface="Amazon Ember Display" panose="020F0603020204020204" pitchFamily="34" charset="0"/>
                <a:cs typeface="Amazon Ember Display" panose="020F0603020204020204" pitchFamily="34" charset="0"/>
              </a:rPr>
              <a:t>Achieve APN Customer Engagements (ACE) Program Eligibility</a:t>
            </a:r>
          </a:p>
        </p:txBody>
      </p:sp>
      <p:sp>
        <p:nvSpPr>
          <p:cNvPr id="10" name="TextBox 9">
            <a:extLst>
              <a:ext uri="{FF2B5EF4-FFF2-40B4-BE49-F238E27FC236}">
                <a16:creationId xmlns:a16="http://schemas.microsoft.com/office/drawing/2014/main" id="{6563A260-E583-8131-8E1D-A3841DB14CDB}"/>
              </a:ext>
            </a:extLst>
          </p:cNvPr>
          <p:cNvSpPr txBox="1"/>
          <p:nvPr/>
        </p:nvSpPr>
        <p:spPr>
          <a:xfrm>
            <a:off x="1047213" y="2573679"/>
            <a:ext cx="5770879" cy="259495"/>
          </a:xfrm>
          <a:prstGeom prst="rect">
            <a:avLst/>
          </a:prstGeom>
          <a:noFill/>
        </p:spPr>
        <p:txBody>
          <a:bodyPr wrap="square" lIns="182880" tIns="0" rIns="0" bIns="0" rtlCol="0" anchor="ctr">
            <a:spAutoFit/>
          </a:bodyPr>
          <a:lstStyle/>
          <a:p>
            <a:pPr>
              <a:lnSpc>
                <a:spcPct val="120000"/>
              </a:lnSpc>
              <a:spcAft>
                <a:spcPts val="1200"/>
              </a:spcAft>
              <a:buClr>
                <a:srgbClr val="B2008F"/>
              </a:buClr>
            </a:pPr>
            <a:r>
              <a:rPr lang="en-US" sz="1500" dirty="0">
                <a:ea typeface="Amazon Ember" panose="020B0603020204020204" pitchFamily="34" charset="0"/>
                <a:cs typeface="Amazon Ember" panose="020B0603020204020204" pitchFamily="34" charset="0"/>
              </a:rPr>
              <a:t>Achieve </a:t>
            </a:r>
            <a:r>
              <a:rPr lang="en-US" sz="1500" dirty="0">
                <a:solidFill>
                  <a:srgbClr val="5327F5"/>
                </a:solidFill>
                <a:ea typeface="Amazon Ember" panose="020B0603020204020204" pitchFamily="34" charset="0"/>
                <a:cs typeface="Amazon Ember" panose="020B0603020204020204" pitchFamily="34" charset="0"/>
                <a:hlinkClick r:id="rId3">
                  <a:extLst>
                    <a:ext uri="{A12FA001-AC4F-418D-AE19-62706E023703}">
                      <ahyp:hlinkClr xmlns:ahyp="http://schemas.microsoft.com/office/drawing/2018/hyperlinkcolor" val="tx"/>
                    </a:ext>
                  </a:extLst>
                </a:hlinkClick>
              </a:rPr>
              <a:t>Software Path status of Validated or Differentiated</a:t>
            </a:r>
            <a:endParaRPr lang="en-US" sz="1500" dirty="0">
              <a:solidFill>
                <a:srgbClr val="5327F5"/>
              </a:solidFill>
              <a:ea typeface="Amazon Ember" panose="020B0603020204020204" pitchFamily="34" charset="0"/>
              <a:cs typeface="Amazon Ember" panose="020B0603020204020204" pitchFamily="34" charset="0"/>
            </a:endParaRPr>
          </a:p>
        </p:txBody>
      </p:sp>
      <p:sp>
        <p:nvSpPr>
          <p:cNvPr id="11" name="Rounded Rectangle 14">
            <a:extLst>
              <a:ext uri="{FF2B5EF4-FFF2-40B4-BE49-F238E27FC236}">
                <a16:creationId xmlns:a16="http://schemas.microsoft.com/office/drawing/2014/main" id="{07164F52-A3DD-9E7C-D0A7-AFC4872310FF}"/>
              </a:ext>
            </a:extLst>
          </p:cNvPr>
          <p:cNvSpPr>
            <a:spLocks noChangeAspect="1"/>
          </p:cNvSpPr>
          <p:nvPr/>
        </p:nvSpPr>
        <p:spPr>
          <a:xfrm>
            <a:off x="590013" y="2477953"/>
            <a:ext cx="457200" cy="457200"/>
          </a:xfrm>
          <a:prstGeom prst="roundRect">
            <a:avLst/>
          </a:prstGeom>
          <a:solidFill>
            <a:srgbClr val="5327F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sz="1500" b="1" dirty="0">
                <a:solidFill>
                  <a:schemeClr val="bg1"/>
                </a:solidFill>
                <a:ea typeface="Amazon Ember Mono" panose="020B0509020204020204" pitchFamily="49" charset="0"/>
                <a:cs typeface="Amazon Ember Mono" panose="020B0509020204020204" pitchFamily="49" charset="0"/>
              </a:rPr>
              <a:t>3</a:t>
            </a:r>
          </a:p>
        </p:txBody>
      </p:sp>
      <p:sp>
        <p:nvSpPr>
          <p:cNvPr id="12" name="Rounded Rectangle 16">
            <a:extLst>
              <a:ext uri="{FF2B5EF4-FFF2-40B4-BE49-F238E27FC236}">
                <a16:creationId xmlns:a16="http://schemas.microsoft.com/office/drawing/2014/main" id="{A5375E96-6657-4DCB-2A10-C00C7313CB76}"/>
              </a:ext>
            </a:extLst>
          </p:cNvPr>
          <p:cNvSpPr>
            <a:spLocks noChangeAspect="1"/>
          </p:cNvSpPr>
          <p:nvPr/>
        </p:nvSpPr>
        <p:spPr>
          <a:xfrm>
            <a:off x="590013" y="3091623"/>
            <a:ext cx="457200" cy="457200"/>
          </a:xfrm>
          <a:prstGeom prst="roundRect">
            <a:avLst/>
          </a:prstGeom>
          <a:solidFill>
            <a:srgbClr val="5327F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sz="1500" b="1" dirty="0">
                <a:solidFill>
                  <a:schemeClr val="bg1"/>
                </a:solidFill>
                <a:ea typeface="Amazon Ember Mono" panose="020B0509020204020204" pitchFamily="49" charset="0"/>
                <a:cs typeface="Amazon Ember Mono" panose="020B0509020204020204" pitchFamily="49" charset="0"/>
              </a:rPr>
              <a:t>4</a:t>
            </a:r>
          </a:p>
        </p:txBody>
      </p:sp>
      <p:sp>
        <p:nvSpPr>
          <p:cNvPr id="13" name="Rounded Rectangle 18">
            <a:extLst>
              <a:ext uri="{FF2B5EF4-FFF2-40B4-BE49-F238E27FC236}">
                <a16:creationId xmlns:a16="http://schemas.microsoft.com/office/drawing/2014/main" id="{5EE0B267-A829-298C-5AF4-001835487139}"/>
              </a:ext>
            </a:extLst>
          </p:cNvPr>
          <p:cNvSpPr>
            <a:spLocks noChangeAspect="1"/>
          </p:cNvSpPr>
          <p:nvPr/>
        </p:nvSpPr>
        <p:spPr>
          <a:xfrm>
            <a:off x="590013" y="3741641"/>
            <a:ext cx="457200" cy="457200"/>
          </a:xfrm>
          <a:prstGeom prst="roundRect">
            <a:avLst/>
          </a:prstGeom>
          <a:solidFill>
            <a:srgbClr val="5327F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sz="1500" b="1" dirty="0">
                <a:solidFill>
                  <a:schemeClr val="bg1"/>
                </a:solidFill>
                <a:ea typeface="Amazon Ember Mono" panose="020B0509020204020204" pitchFamily="49" charset="0"/>
                <a:cs typeface="Amazon Ember Mono" panose="020B0509020204020204" pitchFamily="49" charset="0"/>
              </a:rPr>
              <a:t>5</a:t>
            </a:r>
          </a:p>
        </p:txBody>
      </p:sp>
      <p:sp>
        <p:nvSpPr>
          <p:cNvPr id="14" name="TextBox 13">
            <a:extLst>
              <a:ext uri="{FF2B5EF4-FFF2-40B4-BE49-F238E27FC236}">
                <a16:creationId xmlns:a16="http://schemas.microsoft.com/office/drawing/2014/main" id="{97AF8347-7E8D-E623-12CD-B63BCF23A1BB}"/>
              </a:ext>
            </a:extLst>
          </p:cNvPr>
          <p:cNvSpPr txBox="1"/>
          <p:nvPr/>
        </p:nvSpPr>
        <p:spPr>
          <a:xfrm>
            <a:off x="1047213" y="3205396"/>
            <a:ext cx="8799232" cy="230832"/>
          </a:xfrm>
          <a:prstGeom prst="rect">
            <a:avLst/>
          </a:prstGeom>
          <a:noFill/>
        </p:spPr>
        <p:txBody>
          <a:bodyPr wrap="square" lIns="182880" tIns="0" rIns="0" bIns="0" rtlCol="0" anchor="ctr">
            <a:spAutoFit/>
          </a:bodyPr>
          <a:lstStyle/>
          <a:p>
            <a:pPr lvl="0"/>
            <a:r>
              <a:rPr lang="en-US" sz="1500" dirty="0">
                <a:solidFill>
                  <a:srgbClr val="5327F5"/>
                </a:solidFill>
                <a:ea typeface="Amazon Ember" panose="020B0603020204020204" pitchFamily="34" charset="0"/>
                <a:cs typeface="Amazon Ember" panose="020B0603020204020204" pitchFamily="34" charset="0"/>
                <a:hlinkClick r:id="rId4">
                  <a:extLst>
                    <a:ext uri="{A12FA001-AC4F-418D-AE19-62706E023703}">
                      <ahyp:hlinkClr xmlns:ahyp="http://schemas.microsoft.com/office/drawing/2018/hyperlinkcolor" val="tx"/>
                    </a:ext>
                  </a:extLst>
                </a:hlinkClick>
              </a:rPr>
              <a:t>Partner are required to have Payee Central setup</a:t>
            </a:r>
            <a:endParaRPr lang="en-US" sz="1500" dirty="0">
              <a:solidFill>
                <a:srgbClr val="5327F5"/>
              </a:solidFill>
              <a:ea typeface="Amazon Ember" panose="020B0603020204020204" pitchFamily="34" charset="0"/>
              <a:cs typeface="Amazon Ember" panose="020B0603020204020204" pitchFamily="34" charset="0"/>
            </a:endParaRPr>
          </a:p>
        </p:txBody>
      </p:sp>
      <p:sp>
        <p:nvSpPr>
          <p:cNvPr id="15" name="TextBox 14">
            <a:extLst>
              <a:ext uri="{FF2B5EF4-FFF2-40B4-BE49-F238E27FC236}">
                <a16:creationId xmlns:a16="http://schemas.microsoft.com/office/drawing/2014/main" id="{4B890D9D-262A-FD63-892D-7D32C0505F13}"/>
              </a:ext>
            </a:extLst>
          </p:cNvPr>
          <p:cNvSpPr txBox="1"/>
          <p:nvPr/>
        </p:nvSpPr>
        <p:spPr>
          <a:xfrm>
            <a:off x="1047213" y="3710373"/>
            <a:ext cx="10515600" cy="536494"/>
          </a:xfrm>
          <a:prstGeom prst="rect">
            <a:avLst/>
          </a:prstGeom>
          <a:noFill/>
        </p:spPr>
        <p:txBody>
          <a:bodyPr wrap="square" lIns="182880" tIns="0" rIns="0" bIns="0" rtlCol="0" anchor="ctr">
            <a:spAutoFit/>
          </a:bodyPr>
          <a:lstStyle/>
          <a:p>
            <a:pPr algn="l">
              <a:lnSpc>
                <a:spcPct val="120000"/>
              </a:lnSpc>
              <a:spcAft>
                <a:spcPts val="1200"/>
              </a:spcAft>
              <a:buClr>
                <a:srgbClr val="B2008F"/>
              </a:buClr>
            </a:pPr>
            <a:r>
              <a:rPr lang="en-US" sz="1500" dirty="0">
                <a:ea typeface="Amazon Ember Display" panose="020F0603020204020204" pitchFamily="34" charset="0"/>
                <a:cs typeface="Amazon Ember Display" panose="020F0603020204020204" pitchFamily="34" charset="0"/>
              </a:rPr>
              <a:t>Minimum of 5 launched opportunities (ACE or Marketplace Private Offers) transacted within the past 12 months (“Primary Partner Need” must be “Co-Sell with AWS”)</a:t>
            </a:r>
          </a:p>
        </p:txBody>
      </p:sp>
      <p:sp>
        <p:nvSpPr>
          <p:cNvPr id="16" name="Rounded Rectangle 8">
            <a:extLst>
              <a:ext uri="{FF2B5EF4-FFF2-40B4-BE49-F238E27FC236}">
                <a16:creationId xmlns:a16="http://schemas.microsoft.com/office/drawing/2014/main" id="{91AE257D-3487-A751-325F-F82A79A023BC}"/>
              </a:ext>
            </a:extLst>
          </p:cNvPr>
          <p:cNvSpPr>
            <a:spLocks noChangeAspect="1"/>
          </p:cNvSpPr>
          <p:nvPr/>
        </p:nvSpPr>
        <p:spPr>
          <a:xfrm>
            <a:off x="591358" y="4419150"/>
            <a:ext cx="457200" cy="457200"/>
          </a:xfrm>
          <a:prstGeom prst="roundRect">
            <a:avLst/>
          </a:prstGeom>
          <a:solidFill>
            <a:srgbClr val="5327F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sz="1500" b="1" dirty="0">
                <a:solidFill>
                  <a:schemeClr val="bg1"/>
                </a:solidFill>
                <a:ea typeface="Amazon Ember Mono" panose="020B0509020204020204" pitchFamily="49" charset="0"/>
                <a:cs typeface="Amazon Ember Mono" panose="020B0509020204020204" pitchFamily="49" charset="0"/>
              </a:rPr>
              <a:t>6</a:t>
            </a:r>
          </a:p>
        </p:txBody>
      </p:sp>
      <p:sp>
        <p:nvSpPr>
          <p:cNvPr id="17" name="TextBox 16">
            <a:extLst>
              <a:ext uri="{FF2B5EF4-FFF2-40B4-BE49-F238E27FC236}">
                <a16:creationId xmlns:a16="http://schemas.microsoft.com/office/drawing/2014/main" id="{855646B3-FFD0-9150-445D-D0D37375DB7E}"/>
              </a:ext>
            </a:extLst>
          </p:cNvPr>
          <p:cNvSpPr txBox="1"/>
          <p:nvPr/>
        </p:nvSpPr>
        <p:spPr>
          <a:xfrm>
            <a:off x="1057373" y="4417153"/>
            <a:ext cx="10515600" cy="536494"/>
          </a:xfrm>
          <a:prstGeom prst="rect">
            <a:avLst/>
          </a:prstGeom>
          <a:noFill/>
        </p:spPr>
        <p:txBody>
          <a:bodyPr wrap="square" lIns="182880" tIns="0" rIns="0" bIns="0" rtlCol="0" anchor="ctr">
            <a:spAutoFit/>
          </a:bodyPr>
          <a:lstStyle/>
          <a:p>
            <a:pPr algn="l">
              <a:lnSpc>
                <a:spcPct val="120000"/>
              </a:lnSpc>
              <a:spcAft>
                <a:spcPts val="1200"/>
              </a:spcAft>
              <a:buClr>
                <a:srgbClr val="B2008F"/>
              </a:buClr>
            </a:pPr>
            <a:r>
              <a:rPr lang="en-US" sz="1500" dirty="0">
                <a:ea typeface="Amazon Ember Display" panose="020F0603020204020204" pitchFamily="34" charset="0"/>
                <a:cs typeface="Amazon Ember Display" panose="020F0603020204020204" pitchFamily="34" charset="0"/>
              </a:rPr>
              <a:t>Minimum of 15 qualified opportunities in ACE within the past 12 months (“Primary Partner Need” must be “Co-Sell with AWS”)</a:t>
            </a:r>
          </a:p>
        </p:txBody>
      </p:sp>
      <p:sp>
        <p:nvSpPr>
          <p:cNvPr id="18" name="Rounded Rectangle 8">
            <a:extLst>
              <a:ext uri="{FF2B5EF4-FFF2-40B4-BE49-F238E27FC236}">
                <a16:creationId xmlns:a16="http://schemas.microsoft.com/office/drawing/2014/main" id="{EE52FE6A-544A-12D1-CF79-3BDB072B1D80}"/>
              </a:ext>
            </a:extLst>
          </p:cNvPr>
          <p:cNvSpPr>
            <a:spLocks noChangeAspect="1"/>
          </p:cNvSpPr>
          <p:nvPr/>
        </p:nvSpPr>
        <p:spPr>
          <a:xfrm>
            <a:off x="609600" y="5096659"/>
            <a:ext cx="457200" cy="457200"/>
          </a:xfrm>
          <a:prstGeom prst="roundRect">
            <a:avLst/>
          </a:prstGeom>
          <a:solidFill>
            <a:srgbClr val="5327F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sz="1500" b="1" dirty="0">
                <a:solidFill>
                  <a:schemeClr val="bg1"/>
                </a:solidFill>
                <a:ea typeface="Amazon Ember Mono" panose="020B0509020204020204" pitchFamily="49" charset="0"/>
                <a:cs typeface="Amazon Ember Mono" panose="020B0509020204020204" pitchFamily="49" charset="0"/>
              </a:rPr>
              <a:t>7</a:t>
            </a:r>
          </a:p>
        </p:txBody>
      </p:sp>
      <p:sp>
        <p:nvSpPr>
          <p:cNvPr id="53" name="TextBox 52">
            <a:extLst>
              <a:ext uri="{FF2B5EF4-FFF2-40B4-BE49-F238E27FC236}">
                <a16:creationId xmlns:a16="http://schemas.microsoft.com/office/drawing/2014/main" id="{F7094DAB-A3EF-409D-7B06-8A5B76D8D6E8}"/>
              </a:ext>
            </a:extLst>
          </p:cNvPr>
          <p:cNvSpPr txBox="1"/>
          <p:nvPr/>
        </p:nvSpPr>
        <p:spPr>
          <a:xfrm>
            <a:off x="1066800" y="5206489"/>
            <a:ext cx="10287000" cy="259495"/>
          </a:xfrm>
          <a:prstGeom prst="rect">
            <a:avLst/>
          </a:prstGeom>
          <a:noFill/>
        </p:spPr>
        <p:txBody>
          <a:bodyPr wrap="square" lIns="182880" tIns="0" rIns="0" bIns="0" rtlCol="0" anchor="ctr">
            <a:spAutoFit/>
          </a:bodyPr>
          <a:lstStyle/>
          <a:p>
            <a:pPr algn="l">
              <a:lnSpc>
                <a:spcPct val="120000"/>
              </a:lnSpc>
              <a:spcAft>
                <a:spcPts val="1200"/>
              </a:spcAft>
              <a:buClr>
                <a:srgbClr val="B2008F"/>
              </a:buClr>
            </a:pPr>
            <a:r>
              <a:rPr lang="en-US" sz="1500" dirty="0">
                <a:ea typeface="Amazon Ember Display" panose="020F0603020204020204" pitchFamily="34" charset="0"/>
                <a:cs typeface="Amazon Ember Display" panose="020F0603020204020204" pitchFamily="34" charset="0"/>
              </a:rPr>
              <a:t>Minimum of 1 individual having completed the </a:t>
            </a:r>
            <a:r>
              <a:rPr lang="en-US" sz="1500" dirty="0">
                <a:solidFill>
                  <a:srgbClr val="5327F5"/>
                </a:solidFill>
                <a:ea typeface="Amazon Ember Display" panose="020F0603020204020204" pitchFamily="34" charset="0"/>
                <a:cs typeface="Amazon Ember Display" panose="020F0603020204020204" pitchFamily="34" charset="0"/>
                <a:hlinkClick r:id="rId5">
                  <a:extLst>
                    <a:ext uri="{A12FA001-AC4F-418D-AE19-62706E023703}">
                      <ahyp:hlinkClr xmlns:ahyp="http://schemas.microsoft.com/office/drawing/2018/hyperlinkcolor" val="tx"/>
                    </a:ext>
                  </a:extLst>
                </a:hlinkClick>
              </a:rPr>
              <a:t>Co-Selling with AWS</a:t>
            </a:r>
            <a:r>
              <a:rPr lang="en-US" sz="1500" dirty="0">
                <a:ea typeface="Amazon Ember Display" panose="020F0603020204020204" pitchFamily="34" charset="0"/>
                <a:cs typeface="Amazon Ember Display" panose="020F0603020204020204" pitchFamily="34" charset="0"/>
              </a:rPr>
              <a:t> learning module.</a:t>
            </a:r>
          </a:p>
        </p:txBody>
      </p:sp>
      <p:sp>
        <p:nvSpPr>
          <p:cNvPr id="4" name="Rounded Rectangle 8">
            <a:extLst>
              <a:ext uri="{FF2B5EF4-FFF2-40B4-BE49-F238E27FC236}">
                <a16:creationId xmlns:a16="http://schemas.microsoft.com/office/drawing/2014/main" id="{643CEEC7-A444-DC01-2C7C-FB2C3D0CC84A}"/>
              </a:ext>
            </a:extLst>
          </p:cNvPr>
          <p:cNvSpPr>
            <a:spLocks noChangeAspect="1"/>
          </p:cNvSpPr>
          <p:nvPr/>
        </p:nvSpPr>
        <p:spPr>
          <a:xfrm>
            <a:off x="609600" y="5718826"/>
            <a:ext cx="457200" cy="457200"/>
          </a:xfrm>
          <a:prstGeom prst="roundRect">
            <a:avLst/>
          </a:prstGeom>
          <a:solidFill>
            <a:srgbClr val="5327F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sz="1500" b="1" dirty="0">
                <a:solidFill>
                  <a:schemeClr val="bg1"/>
                </a:solidFill>
                <a:ea typeface="Amazon Ember Mono" panose="020B0509020204020204" pitchFamily="49" charset="0"/>
                <a:cs typeface="Amazon Ember Mono" panose="020B0509020204020204" pitchFamily="49" charset="0"/>
              </a:rPr>
              <a:t>8</a:t>
            </a:r>
          </a:p>
        </p:txBody>
      </p:sp>
      <p:sp>
        <p:nvSpPr>
          <p:cNvPr id="5" name="TextBox 4">
            <a:extLst>
              <a:ext uri="{FF2B5EF4-FFF2-40B4-BE49-F238E27FC236}">
                <a16:creationId xmlns:a16="http://schemas.microsoft.com/office/drawing/2014/main" id="{812564AA-DBB7-B4A3-2A04-EBED0E4F98BF}"/>
              </a:ext>
            </a:extLst>
          </p:cNvPr>
          <p:cNvSpPr txBox="1"/>
          <p:nvPr/>
        </p:nvSpPr>
        <p:spPr>
          <a:xfrm>
            <a:off x="1066800" y="5397771"/>
            <a:ext cx="10287000" cy="1121269"/>
          </a:xfrm>
          <a:prstGeom prst="rect">
            <a:avLst/>
          </a:prstGeom>
          <a:noFill/>
        </p:spPr>
        <p:txBody>
          <a:bodyPr wrap="square" lIns="182880" tIns="0" rIns="0" bIns="0" rtlCol="0" anchor="ctr">
            <a:spAutoFit/>
          </a:bodyPr>
          <a:lstStyle/>
          <a:p>
            <a:pPr>
              <a:lnSpc>
                <a:spcPct val="120000"/>
              </a:lnSpc>
              <a:spcAft>
                <a:spcPts val="1200"/>
              </a:spcAft>
              <a:buClr>
                <a:srgbClr val="B2008F"/>
              </a:buClr>
            </a:pPr>
            <a:endParaRPr lang="en-US" sz="1500" dirty="0"/>
          </a:p>
          <a:p>
            <a:pPr>
              <a:lnSpc>
                <a:spcPct val="120000"/>
              </a:lnSpc>
              <a:spcAft>
                <a:spcPts val="1200"/>
              </a:spcAft>
              <a:buClr>
                <a:srgbClr val="B2008F"/>
              </a:buClr>
            </a:pPr>
            <a:r>
              <a:rPr lang="en-US" sz="1500" dirty="0"/>
              <a:t>At the time of enrollment reporting ≥ $2,000 in recognized AWS Account revenue</a:t>
            </a:r>
          </a:p>
          <a:p>
            <a:pPr algn="l">
              <a:lnSpc>
                <a:spcPct val="120000"/>
              </a:lnSpc>
              <a:spcAft>
                <a:spcPts val="1200"/>
              </a:spcAft>
              <a:buClr>
                <a:srgbClr val="B2008F"/>
              </a:buClr>
            </a:pPr>
            <a:endParaRPr lang="en-US" sz="1500" dirty="0">
              <a:ea typeface="Amazon Ember Display" panose="020F0603020204020204" pitchFamily="34" charset="0"/>
              <a:cs typeface="Amazon Ember Display" panose="020F0603020204020204" pitchFamily="34" charset="0"/>
            </a:endParaRPr>
          </a:p>
        </p:txBody>
      </p:sp>
    </p:spTree>
    <p:extLst>
      <p:ext uri="{BB962C8B-B14F-4D97-AF65-F5344CB8AC3E}">
        <p14:creationId xmlns:p14="http://schemas.microsoft.com/office/powerpoint/2010/main" val="3176038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64298-24D1-1C06-6D35-1E7BCFD91FA4}"/>
              </a:ext>
            </a:extLst>
          </p:cNvPr>
          <p:cNvSpPr>
            <a:spLocks noGrp="1"/>
          </p:cNvSpPr>
          <p:nvPr>
            <p:ph type="title"/>
          </p:nvPr>
        </p:nvSpPr>
        <p:spPr>
          <a:xfrm>
            <a:off x="1540082" y="1771888"/>
            <a:ext cx="9392078" cy="2713117"/>
          </a:xfrm>
        </p:spPr>
        <p:txBody>
          <a:bodyPr>
            <a:noAutofit/>
          </a:bodyPr>
          <a:lstStyle/>
          <a:p>
            <a:pPr algn="just"/>
            <a:r>
              <a:rPr lang="en-US" sz="2400" dirty="0">
                <a:latin typeface="Amazon Ember" panose="020B0603020204020204" pitchFamily="34" charset="0"/>
                <a:ea typeface="Amazon Ember" panose="020B0603020204020204" pitchFamily="34" charset="0"/>
                <a:cs typeface="Amazon Ember" panose="020B0603020204020204" pitchFamily="34" charset="0"/>
              </a:rPr>
              <a:t>Being a part of the ISV Accelerate Program represents a game-changing opportunity for our team to scale and mature the ways in which we co-sell with AWS. [The SaaS Co-Sell Benefit] is the mechanism through which our teams in the field see their AWS counterparts incentivized to collaborate. This builds a confidence in the mutual benefit of co-sell for </a:t>
            </a:r>
            <a:r>
              <a:rPr lang="en-US" sz="2400" dirty="0" err="1">
                <a:latin typeface="Amazon Ember" panose="020B0603020204020204" pitchFamily="34" charset="0"/>
                <a:ea typeface="Amazon Ember" panose="020B0603020204020204" pitchFamily="34" charset="0"/>
                <a:cs typeface="Amazon Ember" panose="020B0603020204020204" pitchFamily="34" charset="0"/>
              </a:rPr>
              <a:t>Contentsquare</a:t>
            </a:r>
            <a:r>
              <a:rPr lang="en-US" sz="2400" dirty="0">
                <a:latin typeface="Amazon Ember" panose="020B0603020204020204" pitchFamily="34" charset="0"/>
                <a:ea typeface="Amazon Ember" panose="020B0603020204020204" pitchFamily="34" charset="0"/>
                <a:cs typeface="Amazon Ember" panose="020B0603020204020204" pitchFamily="34" charset="0"/>
              </a:rPr>
              <a:t>, AWS and our shared customers that represents an exciting new chapter for our Partnership.</a:t>
            </a:r>
          </a:p>
        </p:txBody>
      </p:sp>
      <p:sp>
        <p:nvSpPr>
          <p:cNvPr id="3" name="Text Placeholder 2">
            <a:extLst>
              <a:ext uri="{FF2B5EF4-FFF2-40B4-BE49-F238E27FC236}">
                <a16:creationId xmlns:a16="http://schemas.microsoft.com/office/drawing/2014/main" id="{2CE71DEF-6599-0F90-084A-9EA86798D586}"/>
              </a:ext>
            </a:extLst>
          </p:cNvPr>
          <p:cNvSpPr>
            <a:spLocks noGrp="1"/>
          </p:cNvSpPr>
          <p:nvPr>
            <p:ph type="body" sz="quarter" idx="15"/>
          </p:nvPr>
        </p:nvSpPr>
        <p:spPr>
          <a:xfrm>
            <a:off x="1540082" y="4716780"/>
            <a:ext cx="8067261" cy="369332"/>
          </a:xfrm>
        </p:spPr>
        <p: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Helen O’Hara</a:t>
            </a:r>
          </a:p>
          <a:p>
            <a:endParaRPr lang="en-US" dirty="0"/>
          </a:p>
        </p:txBody>
      </p:sp>
      <p:sp>
        <p:nvSpPr>
          <p:cNvPr id="4" name="Text Placeholder 3">
            <a:extLst>
              <a:ext uri="{FF2B5EF4-FFF2-40B4-BE49-F238E27FC236}">
                <a16:creationId xmlns:a16="http://schemas.microsoft.com/office/drawing/2014/main" id="{5CFA03FA-21EE-AA1D-4E54-91C5AEE3BC91}"/>
              </a:ext>
            </a:extLst>
          </p:cNvPr>
          <p:cNvSpPr>
            <a:spLocks noGrp="1"/>
          </p:cNvSpPr>
          <p:nvPr>
            <p:ph type="body" sz="quarter" idx="16"/>
          </p:nvPr>
        </p:nvSpPr>
        <p:spPr>
          <a:xfrm>
            <a:off x="1540082" y="5086112"/>
            <a:ext cx="8067261" cy="313932"/>
          </a:xfrm>
        </p:spPr>
        <p:txBody>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Cloud Partnerships Director, </a:t>
            </a:r>
            <a:r>
              <a:rPr lang="en-US" dirty="0" err="1">
                <a:latin typeface="Amazon Ember" panose="020B0603020204020204" pitchFamily="34" charset="0"/>
                <a:ea typeface="Amazon Ember" panose="020B0603020204020204" pitchFamily="34" charset="0"/>
                <a:cs typeface="Amazon Ember" panose="020B0603020204020204" pitchFamily="34" charset="0"/>
              </a:rPr>
              <a:t>Contentsquare</a:t>
            </a:r>
            <a:endParaRPr lang="en-US" dirty="0">
              <a:latin typeface="Amazon Ember" panose="020B0603020204020204" pitchFamily="34" charset="0"/>
              <a:ea typeface="Amazon Ember" panose="020B0603020204020204" pitchFamily="34" charset="0"/>
              <a:cs typeface="Amazon Ember" panose="020B0603020204020204" pitchFamily="34" charset="0"/>
            </a:endParaRPr>
          </a:p>
          <a:p>
            <a:endParaRPr lang="en-US" dirty="0"/>
          </a:p>
        </p:txBody>
      </p:sp>
      <p:sp>
        <p:nvSpPr>
          <p:cNvPr id="5" name="Slide Number Placeholder 4">
            <a:extLst>
              <a:ext uri="{FF2B5EF4-FFF2-40B4-BE49-F238E27FC236}">
                <a16:creationId xmlns:a16="http://schemas.microsoft.com/office/drawing/2014/main" id="{22AEB269-2D50-49F7-208F-E1952F4F0ACF}"/>
              </a:ext>
            </a:extLst>
          </p:cNvPr>
          <p:cNvSpPr>
            <a:spLocks noGrp="1"/>
          </p:cNvSpPr>
          <p:nvPr>
            <p:ph type="sldNum" sz="quarter" idx="19"/>
          </p:nvPr>
        </p:nvSpPr>
        <p:spPr/>
        <p:txBody>
          <a:bodyPr/>
          <a:lstStyle/>
          <a:p>
            <a:fld id="{EB4B8DE2-A4E8-46E4-8BBF-D75455EFF32C}" type="slidenum">
              <a:rPr lang="en-US" smtClean="0"/>
              <a:pPr/>
              <a:t>10</a:t>
            </a:fld>
            <a:endParaRPr lang="en-US" dirty="0"/>
          </a:p>
        </p:txBody>
      </p:sp>
      <p:pic>
        <p:nvPicPr>
          <p:cNvPr id="8" name="Picture 7">
            <a:extLst>
              <a:ext uri="{FF2B5EF4-FFF2-40B4-BE49-F238E27FC236}">
                <a16:creationId xmlns:a16="http://schemas.microsoft.com/office/drawing/2014/main" id="{B0ECCA67-73D3-E519-9A60-F6DAB34549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0761" y="4275533"/>
            <a:ext cx="1621157" cy="1621157"/>
          </a:xfrm>
          <a:prstGeom prst="rect">
            <a:avLst/>
          </a:prstGeom>
        </p:spPr>
      </p:pic>
    </p:spTree>
    <p:extLst>
      <p:ext uri="{BB962C8B-B14F-4D97-AF65-F5344CB8AC3E}">
        <p14:creationId xmlns:p14="http://schemas.microsoft.com/office/powerpoint/2010/main" val="2057353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19B9E-70B3-6303-5B6B-FE22610C436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36DFD43-4AE8-4302-9052-B5D18FDE3397}"/>
              </a:ext>
            </a:extLst>
          </p:cNvPr>
          <p:cNvSpPr>
            <a:spLocks noGrp="1"/>
          </p:cNvSpPr>
          <p:nvPr>
            <p:ph type="title"/>
          </p:nvPr>
        </p:nvSpPr>
        <p:spPr/>
        <p:txBody>
          <a:bodyPr/>
          <a:lstStyle/>
          <a:p>
            <a:r>
              <a:rPr lang="en-US" dirty="0"/>
              <a:t>Resources</a:t>
            </a:r>
          </a:p>
        </p:txBody>
      </p:sp>
      <p:sp>
        <p:nvSpPr>
          <p:cNvPr id="56" name="Rounded Rectangle 12">
            <a:extLst>
              <a:ext uri="{FF2B5EF4-FFF2-40B4-BE49-F238E27FC236}">
                <a16:creationId xmlns:a16="http://schemas.microsoft.com/office/drawing/2014/main" id="{32E42A42-542F-67C6-5D20-CE7876678596}"/>
              </a:ext>
            </a:extLst>
          </p:cNvPr>
          <p:cNvSpPr/>
          <p:nvPr/>
        </p:nvSpPr>
        <p:spPr>
          <a:xfrm>
            <a:off x="594360" y="2530615"/>
            <a:ext cx="2545080" cy="2162036"/>
          </a:xfrm>
          <a:prstGeom prst="roundRect">
            <a:avLst>
              <a:gd name="adj" fmla="val 5311"/>
            </a:avLst>
          </a:prstGeom>
          <a:solidFill>
            <a:schemeClr val="bg1"/>
          </a:solidFill>
          <a:ln>
            <a:noFill/>
          </a:ln>
          <a:effectLst>
            <a:outerShdw blurRad="2032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37160" tIns="548640" rIns="137160" bIns="91440" rtlCol="0" anchor="t"/>
          <a:lstStyle/>
          <a:p>
            <a:pPr lvl="0" defTabSz="685800">
              <a:spcAft>
                <a:spcPts val="1200"/>
              </a:spcAft>
              <a:defRPr/>
            </a:pPr>
            <a:r>
              <a:rPr lang="en-US" sz="2000" kern="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Explore the </a:t>
            </a:r>
            <a:r>
              <a:rPr lang="it-IT" sz="2000" kern="0" dirty="0">
                <a:solidFill>
                  <a:srgbClr val="5327F5"/>
                </a:solidFill>
                <a:latin typeface="Amazon Ember" panose="020B0603020204020204" pitchFamily="34" charset="0"/>
                <a:ea typeface="Amazon Ember" panose="020B0603020204020204" pitchFamily="34" charset="0"/>
                <a:cs typeface="Amazon Ember" panose="020B0603020204020204" pitchFamily="34" charset="0"/>
                <a:hlinkClick r:id="rId3">
                  <a:extLst>
                    <a:ext uri="{A12FA001-AC4F-418D-AE19-62706E023703}">
                      <ahyp:hlinkClr xmlns:ahyp="http://schemas.microsoft.com/office/drawing/2018/hyperlinkcolor" val="tx"/>
                    </a:ext>
                  </a:extLst>
                </a:hlinkClick>
              </a:rPr>
              <a:t>AWS ISV Accelerate Program guide</a:t>
            </a:r>
            <a:r>
              <a:rPr lang="en-US" sz="2000" kern="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in</a:t>
            </a:r>
            <a:br>
              <a:rPr lang="en-US" sz="2000" kern="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2000" kern="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Partner Central</a:t>
            </a:r>
          </a:p>
        </p:txBody>
      </p:sp>
      <p:sp>
        <p:nvSpPr>
          <p:cNvPr id="57" name="Rounded Rectangle 13">
            <a:extLst>
              <a:ext uri="{FF2B5EF4-FFF2-40B4-BE49-F238E27FC236}">
                <a16:creationId xmlns:a16="http://schemas.microsoft.com/office/drawing/2014/main" id="{369F1D34-9BD9-0F38-5262-12ADAB7A7858}"/>
              </a:ext>
            </a:extLst>
          </p:cNvPr>
          <p:cNvSpPr/>
          <p:nvPr/>
        </p:nvSpPr>
        <p:spPr>
          <a:xfrm>
            <a:off x="3413760" y="2530615"/>
            <a:ext cx="2545080" cy="2162036"/>
          </a:xfrm>
          <a:prstGeom prst="roundRect">
            <a:avLst>
              <a:gd name="adj" fmla="val 5311"/>
            </a:avLst>
          </a:prstGeom>
          <a:solidFill>
            <a:schemeClr val="bg1"/>
          </a:solidFill>
          <a:ln>
            <a:noFill/>
          </a:ln>
          <a:effectLst>
            <a:outerShdw blurRad="2032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37160" tIns="548640" rIns="137160" bIns="91440" rtlCol="0" anchor="t"/>
          <a:lstStyle/>
          <a:p>
            <a:pPr lvl="0" defTabSz="685800">
              <a:spcAft>
                <a:spcPts val="1200"/>
              </a:spcAft>
              <a:defRPr/>
            </a:pPr>
            <a:r>
              <a:rPr lang="en-US" sz="2000" kern="0" dirty="0">
                <a:solidFill>
                  <a:schemeClr val="tx1"/>
                </a:solidFill>
                <a:ea typeface="Amazon Ember Display" panose="020F0603020204020204" pitchFamily="34" charset="0"/>
                <a:cs typeface="Amazon Ember Display" panose="020F0603020204020204" pitchFamily="34" charset="0"/>
              </a:rPr>
              <a:t>Watch the</a:t>
            </a:r>
            <a:r>
              <a:rPr lang="en-US" sz="2000" b="1" kern="0" dirty="0">
                <a:solidFill>
                  <a:schemeClr val="accent2"/>
                </a:solidFill>
                <a:ea typeface="Amazon Ember Display" panose="020F0603020204020204" pitchFamily="34" charset="0"/>
                <a:cs typeface="Amazon Ember Display" panose="020F0603020204020204" pitchFamily="34" charset="0"/>
              </a:rPr>
              <a:t> </a:t>
            </a:r>
            <a:r>
              <a:rPr lang="en-US" sz="2000" dirty="0">
                <a:solidFill>
                  <a:srgbClr val="5327F5"/>
                </a:solidFill>
                <a:latin typeface="Amazon Ember" panose="020B0603020204020204" pitchFamily="34" charset="0"/>
                <a:ea typeface="Amazon Ember" panose="020B0603020204020204" pitchFamily="34" charset="0"/>
                <a:cs typeface="Amazon Ember" panose="020B0603020204020204" pitchFamily="34" charset="0"/>
                <a:hlinkClick r:id="rId4">
                  <a:extLst>
                    <a:ext uri="{A12FA001-AC4F-418D-AE19-62706E023703}">
                      <ahyp:hlinkClr xmlns:ahyp="http://schemas.microsoft.com/office/drawing/2018/hyperlinkcolor" val="tx"/>
                    </a:ext>
                  </a:extLst>
                </a:hlinkClick>
              </a:rPr>
              <a:t>How to Register as an AWS Marketplace Seller</a:t>
            </a:r>
            <a:r>
              <a:rPr lang="en-US" sz="2000" u="sng" dirty="0">
                <a:solidFill>
                  <a:srgbClr val="660052"/>
                </a:solidFill>
                <a:latin typeface="Amazon Ember" panose="020B0603020204020204" pitchFamily="34" charset="0"/>
                <a:ea typeface="Amazon Ember" panose="020B0603020204020204" pitchFamily="34" charset="0"/>
                <a:cs typeface="Amazon Ember" panose="020B0603020204020204" pitchFamily="34" charset="0"/>
                <a:hlinkClick r:id="rId4">
                  <a:extLst>
                    <a:ext uri="{A12FA001-AC4F-418D-AE19-62706E023703}">
                      <ahyp:hlinkClr xmlns:ahyp="http://schemas.microsoft.com/office/drawing/2018/hyperlinkcolor" val="tx"/>
                    </a:ext>
                  </a:extLst>
                </a:hlinkClick>
              </a:rPr>
              <a:t> </a:t>
            </a:r>
            <a:r>
              <a:rPr lang="en-US" sz="2000" dirty="0">
                <a:solidFill>
                  <a:schemeClr val="tx1"/>
                </a:solidFill>
              </a:rPr>
              <a:t>video</a:t>
            </a:r>
            <a:endParaRPr lang="en-US" sz="2000" b="1" u="sng" kern="0" dirty="0">
              <a:solidFill>
                <a:schemeClr val="tx1"/>
              </a:solidFill>
              <a:ea typeface="Amazon Ember Display" panose="020F0603020204020204" pitchFamily="34" charset="0"/>
              <a:cs typeface="Amazon Ember Display" panose="020F0603020204020204" pitchFamily="34" charset="0"/>
            </a:endParaRPr>
          </a:p>
        </p:txBody>
      </p:sp>
      <p:sp>
        <p:nvSpPr>
          <p:cNvPr id="58" name="Rounded Rectangle 14">
            <a:extLst>
              <a:ext uri="{FF2B5EF4-FFF2-40B4-BE49-F238E27FC236}">
                <a16:creationId xmlns:a16="http://schemas.microsoft.com/office/drawing/2014/main" id="{0288EB4C-1DDE-A84E-F2B3-58803A7007E7}"/>
              </a:ext>
            </a:extLst>
          </p:cNvPr>
          <p:cNvSpPr/>
          <p:nvPr/>
        </p:nvSpPr>
        <p:spPr>
          <a:xfrm>
            <a:off x="6233160" y="2530615"/>
            <a:ext cx="2545080" cy="2162036"/>
          </a:xfrm>
          <a:prstGeom prst="roundRect">
            <a:avLst>
              <a:gd name="adj" fmla="val 5311"/>
            </a:avLst>
          </a:prstGeom>
          <a:solidFill>
            <a:schemeClr val="bg1"/>
          </a:solidFill>
          <a:ln>
            <a:noFill/>
          </a:ln>
          <a:effectLst>
            <a:outerShdw blurRad="2032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37160" tIns="548640" rIns="137160" bIns="91440" rtlCol="0" anchor="t"/>
          <a:lstStyle/>
          <a:p>
            <a:pPr defTabSz="685800">
              <a:spcAft>
                <a:spcPts val="1200"/>
              </a:spcAft>
              <a:defRPr/>
            </a:pPr>
            <a:r>
              <a:rPr lang="en-US" dirty="0">
                <a:solidFill>
                  <a:schemeClr val="tx1"/>
                </a:solidFill>
              </a:rPr>
              <a:t>Review</a:t>
            </a:r>
            <a:r>
              <a:rPr lang="en-US" dirty="0">
                <a:solidFill>
                  <a:schemeClr val="accent2"/>
                </a:solidFill>
              </a:rPr>
              <a:t> </a:t>
            </a:r>
            <a:r>
              <a:rPr lang="en-US" dirty="0">
                <a:solidFill>
                  <a:srgbClr val="5327F5"/>
                </a:solidFill>
                <a:hlinkClick r:id="rId5">
                  <a:extLst>
                    <a:ext uri="{A12FA001-AC4F-418D-AE19-62706E023703}">
                      <ahyp:hlinkClr xmlns:ahyp="http://schemas.microsoft.com/office/drawing/2018/hyperlinkcolor" val="tx"/>
                    </a:ext>
                  </a:extLst>
                </a:hlinkClick>
              </a:rPr>
              <a:t>Best Practices for Listing a SaaS Contract Solution in AWS Marketplace</a:t>
            </a:r>
            <a:endParaRPr lang="en-US" dirty="0">
              <a:solidFill>
                <a:srgbClr val="5327F5"/>
              </a:solidFill>
            </a:endParaRPr>
          </a:p>
        </p:txBody>
      </p:sp>
      <p:sp>
        <p:nvSpPr>
          <p:cNvPr id="59" name="Rounded Rectangle 15">
            <a:extLst>
              <a:ext uri="{FF2B5EF4-FFF2-40B4-BE49-F238E27FC236}">
                <a16:creationId xmlns:a16="http://schemas.microsoft.com/office/drawing/2014/main" id="{DD4451A0-D773-616F-548C-9FA8DA4AA069}"/>
              </a:ext>
            </a:extLst>
          </p:cNvPr>
          <p:cNvSpPr/>
          <p:nvPr/>
        </p:nvSpPr>
        <p:spPr>
          <a:xfrm>
            <a:off x="9052560" y="2530615"/>
            <a:ext cx="2545080" cy="2162036"/>
          </a:xfrm>
          <a:prstGeom prst="roundRect">
            <a:avLst>
              <a:gd name="adj" fmla="val 5311"/>
            </a:avLst>
          </a:prstGeom>
          <a:solidFill>
            <a:schemeClr val="bg1"/>
          </a:solidFill>
          <a:ln>
            <a:noFill/>
          </a:ln>
          <a:effectLst>
            <a:outerShdw blurRad="2032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37160" tIns="548640" rIns="137160" bIns="91440" rtlCol="0" anchor="t"/>
          <a:lstStyle/>
          <a:p>
            <a:pPr defTabSz="685800">
              <a:spcAft>
                <a:spcPts val="1200"/>
              </a:spcAft>
              <a:defRPr/>
            </a:pPr>
            <a:r>
              <a:rPr lang="en-US" sz="2000" dirty="0">
                <a:solidFill>
                  <a:schemeClr val="tx1"/>
                </a:solidFill>
              </a:rPr>
              <a:t>Read the </a:t>
            </a:r>
            <a:r>
              <a:rPr lang="en-US" sz="2000" u="sng" kern="0" dirty="0">
                <a:solidFill>
                  <a:srgbClr val="5327F5"/>
                </a:solidFill>
                <a:ea typeface="Amazon Ember Display" panose="020F0603020204020204" pitchFamily="34" charset="0"/>
                <a:cs typeface="Amazon Ember Display" panose="020F0603020204020204" pitchFamily="34" charset="0"/>
                <a:hlinkClick r:id="rId6">
                  <a:extLst>
                    <a:ext uri="{A12FA001-AC4F-418D-AE19-62706E023703}">
                      <ahyp:hlinkClr xmlns:ahyp="http://schemas.microsoft.com/office/drawing/2018/hyperlinkcolor" val="tx"/>
                    </a:ext>
                  </a:extLst>
                </a:hlinkClick>
              </a:rPr>
              <a:t>APN Blog</a:t>
            </a:r>
            <a:endParaRPr lang="en-US" sz="1100" dirty="0">
              <a:solidFill>
                <a:srgbClr val="5327F5"/>
              </a:solidFill>
            </a:endParaRPr>
          </a:p>
        </p:txBody>
      </p:sp>
      <p:sp>
        <p:nvSpPr>
          <p:cNvPr id="60" name="Rounded Rectangle 8">
            <a:extLst>
              <a:ext uri="{FF2B5EF4-FFF2-40B4-BE49-F238E27FC236}">
                <a16:creationId xmlns:a16="http://schemas.microsoft.com/office/drawing/2014/main" id="{D7AEFAF6-938D-2E48-C8D3-29640040500C}"/>
              </a:ext>
            </a:extLst>
          </p:cNvPr>
          <p:cNvSpPr>
            <a:spLocks noChangeAspect="1"/>
          </p:cNvSpPr>
          <p:nvPr/>
        </p:nvSpPr>
        <p:spPr>
          <a:xfrm>
            <a:off x="772160" y="2073414"/>
            <a:ext cx="914400" cy="914400"/>
          </a:xfrm>
          <a:prstGeom prst="roundRect">
            <a:avLst>
              <a:gd name="adj" fmla="val 13746"/>
            </a:avLst>
          </a:prstGeom>
          <a:solidFill>
            <a:srgbClr val="5327F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dirty="0" err="1">
              <a:solidFill>
                <a:schemeClr val="tx1"/>
              </a:solidFill>
            </a:endParaRPr>
          </a:p>
        </p:txBody>
      </p:sp>
      <p:sp>
        <p:nvSpPr>
          <p:cNvPr id="61" name="Rounded Rectangle 9">
            <a:extLst>
              <a:ext uri="{FF2B5EF4-FFF2-40B4-BE49-F238E27FC236}">
                <a16:creationId xmlns:a16="http://schemas.microsoft.com/office/drawing/2014/main" id="{B9F0B279-7506-DC04-434E-1B4AA96EC0B7}"/>
              </a:ext>
            </a:extLst>
          </p:cNvPr>
          <p:cNvSpPr>
            <a:spLocks noChangeAspect="1"/>
          </p:cNvSpPr>
          <p:nvPr/>
        </p:nvSpPr>
        <p:spPr>
          <a:xfrm>
            <a:off x="3591560" y="2073414"/>
            <a:ext cx="914400" cy="914400"/>
          </a:xfrm>
          <a:prstGeom prst="roundRect">
            <a:avLst>
              <a:gd name="adj" fmla="val 13746"/>
            </a:avLst>
          </a:prstGeom>
          <a:solidFill>
            <a:srgbClr val="5327F5"/>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dirty="0" err="1">
              <a:solidFill>
                <a:schemeClr val="tx1"/>
              </a:solidFill>
            </a:endParaRPr>
          </a:p>
        </p:txBody>
      </p:sp>
      <p:sp>
        <p:nvSpPr>
          <p:cNvPr id="62" name="Rounded Rectangle 10">
            <a:extLst>
              <a:ext uri="{FF2B5EF4-FFF2-40B4-BE49-F238E27FC236}">
                <a16:creationId xmlns:a16="http://schemas.microsoft.com/office/drawing/2014/main" id="{F275E353-B5C6-92F4-E30A-8B80756BA54B}"/>
              </a:ext>
            </a:extLst>
          </p:cNvPr>
          <p:cNvSpPr>
            <a:spLocks noChangeAspect="1"/>
          </p:cNvSpPr>
          <p:nvPr/>
        </p:nvSpPr>
        <p:spPr>
          <a:xfrm>
            <a:off x="6410960" y="2073414"/>
            <a:ext cx="914400" cy="914400"/>
          </a:xfrm>
          <a:prstGeom prst="roundRect">
            <a:avLst>
              <a:gd name="adj" fmla="val 13746"/>
            </a:avLst>
          </a:prstGeom>
          <a:solidFill>
            <a:srgbClr val="5327F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dirty="0" err="1">
              <a:solidFill>
                <a:schemeClr val="tx1"/>
              </a:solidFill>
            </a:endParaRPr>
          </a:p>
        </p:txBody>
      </p:sp>
      <p:sp>
        <p:nvSpPr>
          <p:cNvPr id="63" name="Rounded Rectangle 11">
            <a:extLst>
              <a:ext uri="{FF2B5EF4-FFF2-40B4-BE49-F238E27FC236}">
                <a16:creationId xmlns:a16="http://schemas.microsoft.com/office/drawing/2014/main" id="{1323E0ED-9AF7-F890-6D08-866D672714A0}"/>
              </a:ext>
            </a:extLst>
          </p:cNvPr>
          <p:cNvSpPr>
            <a:spLocks noChangeAspect="1"/>
          </p:cNvSpPr>
          <p:nvPr/>
        </p:nvSpPr>
        <p:spPr>
          <a:xfrm>
            <a:off x="9230360" y="2073414"/>
            <a:ext cx="914400" cy="914400"/>
          </a:xfrm>
          <a:prstGeom prst="roundRect">
            <a:avLst>
              <a:gd name="adj" fmla="val 13746"/>
            </a:avLst>
          </a:prstGeom>
          <a:solidFill>
            <a:srgbClr val="5327F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dirty="0" err="1">
              <a:solidFill>
                <a:schemeClr val="tx1"/>
              </a:solidFill>
            </a:endParaRPr>
          </a:p>
        </p:txBody>
      </p:sp>
      <p:grpSp>
        <p:nvGrpSpPr>
          <p:cNvPr id="64" name="Group 63">
            <a:extLst>
              <a:ext uri="{FF2B5EF4-FFF2-40B4-BE49-F238E27FC236}">
                <a16:creationId xmlns:a16="http://schemas.microsoft.com/office/drawing/2014/main" id="{BF00779A-5AB9-986F-168E-8D95C25F8B8B}"/>
              </a:ext>
            </a:extLst>
          </p:cNvPr>
          <p:cNvGrpSpPr>
            <a:grpSpLocks noChangeAspect="1"/>
          </p:cNvGrpSpPr>
          <p:nvPr/>
        </p:nvGrpSpPr>
        <p:grpSpPr>
          <a:xfrm>
            <a:off x="3684593" y="2307266"/>
            <a:ext cx="771067" cy="459663"/>
            <a:chOff x="6933152" y="5000691"/>
            <a:chExt cx="892981" cy="532340"/>
          </a:xfrm>
        </p:grpSpPr>
        <p:grpSp>
          <p:nvGrpSpPr>
            <p:cNvPr id="65" name="Picture 21">
              <a:extLst>
                <a:ext uri="{FF2B5EF4-FFF2-40B4-BE49-F238E27FC236}">
                  <a16:creationId xmlns:a16="http://schemas.microsoft.com/office/drawing/2014/main" id="{92A4810A-016B-2F68-D452-B6E9FF830E0F}"/>
                </a:ext>
              </a:extLst>
            </p:cNvPr>
            <p:cNvGrpSpPr/>
            <p:nvPr/>
          </p:nvGrpSpPr>
          <p:grpSpPr>
            <a:xfrm>
              <a:off x="6997458" y="5149852"/>
              <a:ext cx="519744" cy="383179"/>
              <a:chOff x="9021719" y="4315466"/>
              <a:chExt cx="519744" cy="383179"/>
            </a:xfrm>
            <a:noFill/>
          </p:grpSpPr>
          <p:sp>
            <p:nvSpPr>
              <p:cNvPr id="74" name="Freeform 20">
                <a:extLst>
                  <a:ext uri="{FF2B5EF4-FFF2-40B4-BE49-F238E27FC236}">
                    <a16:creationId xmlns:a16="http://schemas.microsoft.com/office/drawing/2014/main" id="{9F188519-8B48-537C-2931-FF92A4DC9D56}"/>
                  </a:ext>
                </a:extLst>
              </p:cNvPr>
              <p:cNvSpPr/>
              <p:nvPr/>
            </p:nvSpPr>
            <p:spPr>
              <a:xfrm>
                <a:off x="9021719" y="4315466"/>
                <a:ext cx="519744" cy="383179"/>
              </a:xfrm>
              <a:custGeom>
                <a:avLst/>
                <a:gdLst>
                  <a:gd name="connsiteX0" fmla="*/ 324841 w 519744"/>
                  <a:gd name="connsiteY0" fmla="*/ 383179 h 383179"/>
                  <a:gd name="connsiteX1" fmla="*/ 10607 w 519744"/>
                  <a:gd name="connsiteY1" fmla="*/ 383179 h 383179"/>
                  <a:gd name="connsiteX2" fmla="*/ 0 w 519744"/>
                  <a:gd name="connsiteY2" fmla="*/ 372572 h 383179"/>
                  <a:gd name="connsiteX3" fmla="*/ 0 w 519744"/>
                  <a:gd name="connsiteY3" fmla="*/ 10607 h 383179"/>
                  <a:gd name="connsiteX4" fmla="*/ 10607 w 519744"/>
                  <a:gd name="connsiteY4" fmla="*/ 0 h 383179"/>
                  <a:gd name="connsiteX5" fmla="*/ 509138 w 519744"/>
                  <a:gd name="connsiteY5" fmla="*/ 0 h 383179"/>
                  <a:gd name="connsiteX6" fmla="*/ 519745 w 519744"/>
                  <a:gd name="connsiteY6" fmla="*/ 10607 h 383179"/>
                  <a:gd name="connsiteX7" fmla="*/ 519745 w 519744"/>
                  <a:gd name="connsiteY7" fmla="*/ 372572 h 383179"/>
                  <a:gd name="connsiteX8" fmla="*/ 509138 w 519744"/>
                  <a:gd name="connsiteY8" fmla="*/ 383179 h 383179"/>
                  <a:gd name="connsiteX9" fmla="*/ 448147 w 519744"/>
                  <a:gd name="connsiteY9" fmla="*/ 383179 h 383179"/>
                  <a:gd name="connsiteX10" fmla="*/ 324841 w 519744"/>
                  <a:gd name="connsiteY10" fmla="*/ 383179 h 383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9744" h="383179">
                    <a:moveTo>
                      <a:pt x="324841" y="383179"/>
                    </a:moveTo>
                    <a:lnTo>
                      <a:pt x="10607" y="383179"/>
                    </a:lnTo>
                    <a:cubicBezTo>
                      <a:pt x="4641" y="383179"/>
                      <a:pt x="0" y="378539"/>
                      <a:pt x="0" y="372572"/>
                    </a:cubicBezTo>
                    <a:lnTo>
                      <a:pt x="0" y="10607"/>
                    </a:lnTo>
                    <a:cubicBezTo>
                      <a:pt x="0" y="4641"/>
                      <a:pt x="4641" y="0"/>
                      <a:pt x="10607" y="0"/>
                    </a:cubicBezTo>
                    <a:lnTo>
                      <a:pt x="509138" y="0"/>
                    </a:lnTo>
                    <a:cubicBezTo>
                      <a:pt x="515104" y="0"/>
                      <a:pt x="519745" y="4641"/>
                      <a:pt x="519745" y="10607"/>
                    </a:cubicBezTo>
                    <a:lnTo>
                      <a:pt x="519745" y="372572"/>
                    </a:lnTo>
                    <a:cubicBezTo>
                      <a:pt x="519745" y="378539"/>
                      <a:pt x="515104" y="383179"/>
                      <a:pt x="509138" y="383179"/>
                    </a:cubicBezTo>
                    <a:lnTo>
                      <a:pt x="448147" y="383179"/>
                    </a:lnTo>
                    <a:lnTo>
                      <a:pt x="324841" y="383179"/>
                    </a:lnTo>
                    <a:close/>
                  </a:path>
                </a:pathLst>
              </a:custGeom>
              <a:noFill/>
              <a:ln w="12700" cap="flat">
                <a:solidFill>
                  <a:schemeClr val="accent5"/>
                </a:solidFill>
                <a:prstDash val="solid"/>
                <a:round/>
              </a:ln>
            </p:spPr>
            <p:txBody>
              <a:bodyPr rtlCol="0" anchor="ctr"/>
              <a:lstStyle/>
              <a:p>
                <a:endParaRPr lang="en-US"/>
              </a:p>
            </p:txBody>
          </p:sp>
          <p:grpSp>
            <p:nvGrpSpPr>
              <p:cNvPr id="75" name="Picture 21">
                <a:extLst>
                  <a:ext uri="{FF2B5EF4-FFF2-40B4-BE49-F238E27FC236}">
                    <a16:creationId xmlns:a16="http://schemas.microsoft.com/office/drawing/2014/main" id="{9AF32C3C-677A-5FE1-E360-71BED2BC45A9}"/>
                  </a:ext>
                </a:extLst>
              </p:cNvPr>
              <p:cNvGrpSpPr/>
              <p:nvPr/>
            </p:nvGrpSpPr>
            <p:grpSpPr>
              <a:xfrm>
                <a:off x="9080720" y="4354579"/>
                <a:ext cx="389145" cy="298323"/>
                <a:chOff x="9080720" y="4354579"/>
                <a:chExt cx="389145" cy="298323"/>
              </a:xfrm>
              <a:noFill/>
            </p:grpSpPr>
            <p:grpSp>
              <p:nvGrpSpPr>
                <p:cNvPr id="76" name="Picture 21">
                  <a:extLst>
                    <a:ext uri="{FF2B5EF4-FFF2-40B4-BE49-F238E27FC236}">
                      <a16:creationId xmlns:a16="http://schemas.microsoft.com/office/drawing/2014/main" id="{1B89D4F0-DB6B-10F1-4E00-6AE451953FCE}"/>
                    </a:ext>
                  </a:extLst>
                </p:cNvPr>
                <p:cNvGrpSpPr/>
                <p:nvPr/>
              </p:nvGrpSpPr>
              <p:grpSpPr>
                <a:xfrm>
                  <a:off x="9125800" y="4354579"/>
                  <a:ext cx="344065" cy="298323"/>
                  <a:chOff x="9125800" y="4354579"/>
                  <a:chExt cx="344065" cy="298323"/>
                </a:xfrm>
                <a:noFill/>
              </p:grpSpPr>
              <p:grpSp>
                <p:nvGrpSpPr>
                  <p:cNvPr id="80" name="Picture 21">
                    <a:extLst>
                      <a:ext uri="{FF2B5EF4-FFF2-40B4-BE49-F238E27FC236}">
                        <a16:creationId xmlns:a16="http://schemas.microsoft.com/office/drawing/2014/main" id="{7E45692A-72E0-2865-B76E-F3404F8FB68B}"/>
                      </a:ext>
                    </a:extLst>
                  </p:cNvPr>
                  <p:cNvGrpSpPr/>
                  <p:nvPr/>
                </p:nvGrpSpPr>
                <p:grpSpPr>
                  <a:xfrm>
                    <a:off x="9125800" y="4471257"/>
                    <a:ext cx="344065" cy="64968"/>
                    <a:chOff x="9125800" y="4471257"/>
                    <a:chExt cx="344065" cy="64968"/>
                  </a:xfrm>
                  <a:noFill/>
                </p:grpSpPr>
                <p:sp>
                  <p:nvSpPr>
                    <p:cNvPr id="89" name="Freeform 24">
                      <a:extLst>
                        <a:ext uri="{FF2B5EF4-FFF2-40B4-BE49-F238E27FC236}">
                          <a16:creationId xmlns:a16="http://schemas.microsoft.com/office/drawing/2014/main" id="{A5DFB89D-D607-ED06-BCA2-8422C7C8EC72}"/>
                        </a:ext>
                      </a:extLst>
                    </p:cNvPr>
                    <p:cNvSpPr/>
                    <p:nvPr/>
                  </p:nvSpPr>
                  <p:spPr>
                    <a:xfrm>
                      <a:off x="9125800" y="4503741"/>
                      <a:ext cx="149824" cy="6629"/>
                    </a:xfrm>
                    <a:custGeom>
                      <a:avLst/>
                      <a:gdLst>
                        <a:gd name="connsiteX0" fmla="*/ 0 w 149824"/>
                        <a:gd name="connsiteY0" fmla="*/ 0 h 6629"/>
                        <a:gd name="connsiteX1" fmla="*/ 149824 w 149824"/>
                        <a:gd name="connsiteY1" fmla="*/ 0 h 6629"/>
                      </a:gdLst>
                      <a:ahLst/>
                      <a:cxnLst>
                        <a:cxn ang="0">
                          <a:pos x="connsiteX0" y="connsiteY0"/>
                        </a:cxn>
                        <a:cxn ang="0">
                          <a:pos x="connsiteX1" y="connsiteY1"/>
                        </a:cxn>
                      </a:cxnLst>
                      <a:rect l="l" t="t" r="r" b="b"/>
                      <a:pathLst>
                        <a:path w="149824" h="6629">
                          <a:moveTo>
                            <a:pt x="0" y="0"/>
                          </a:moveTo>
                          <a:lnTo>
                            <a:pt x="149824" y="0"/>
                          </a:lnTo>
                        </a:path>
                      </a:pathLst>
                    </a:custGeom>
                    <a:ln w="12700" cap="flat">
                      <a:solidFill>
                        <a:schemeClr val="accent5"/>
                      </a:solidFill>
                      <a:prstDash val="solid"/>
                      <a:round/>
                    </a:ln>
                  </p:spPr>
                  <p:txBody>
                    <a:bodyPr rtlCol="0" anchor="ctr"/>
                    <a:lstStyle/>
                    <a:p>
                      <a:endParaRPr lang="en-US"/>
                    </a:p>
                  </p:txBody>
                </p:sp>
                <p:sp>
                  <p:nvSpPr>
                    <p:cNvPr id="90" name="Freeform 25">
                      <a:extLst>
                        <a:ext uri="{FF2B5EF4-FFF2-40B4-BE49-F238E27FC236}">
                          <a16:creationId xmlns:a16="http://schemas.microsoft.com/office/drawing/2014/main" id="{6B63EA27-7212-25B2-13FF-014332E0A7B4}"/>
                        </a:ext>
                      </a:extLst>
                    </p:cNvPr>
                    <p:cNvSpPr/>
                    <p:nvPr/>
                  </p:nvSpPr>
                  <p:spPr>
                    <a:xfrm>
                      <a:off x="9275625" y="4471257"/>
                      <a:ext cx="64968" cy="64968"/>
                    </a:xfrm>
                    <a:custGeom>
                      <a:avLst/>
                      <a:gdLst>
                        <a:gd name="connsiteX0" fmla="*/ 64968 w 64968"/>
                        <a:gd name="connsiteY0" fmla="*/ 32484 h 64968"/>
                        <a:gd name="connsiteX1" fmla="*/ 32484 w 64968"/>
                        <a:gd name="connsiteY1" fmla="*/ 64968 h 64968"/>
                        <a:gd name="connsiteX2" fmla="*/ 0 w 64968"/>
                        <a:gd name="connsiteY2" fmla="*/ 32484 h 64968"/>
                        <a:gd name="connsiteX3" fmla="*/ 32484 w 64968"/>
                        <a:gd name="connsiteY3" fmla="*/ 0 h 64968"/>
                        <a:gd name="connsiteX4" fmla="*/ 64968 w 64968"/>
                        <a:gd name="connsiteY4" fmla="*/ 32484 h 64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68" h="64968">
                          <a:moveTo>
                            <a:pt x="64968" y="32484"/>
                          </a:moveTo>
                          <a:cubicBezTo>
                            <a:pt x="64968" y="50425"/>
                            <a:pt x="50425" y="64968"/>
                            <a:pt x="32484" y="64968"/>
                          </a:cubicBezTo>
                          <a:cubicBezTo>
                            <a:pt x="14544" y="64968"/>
                            <a:pt x="0" y="50425"/>
                            <a:pt x="0" y="32484"/>
                          </a:cubicBezTo>
                          <a:cubicBezTo>
                            <a:pt x="0" y="14544"/>
                            <a:pt x="14544" y="0"/>
                            <a:pt x="32484" y="0"/>
                          </a:cubicBezTo>
                          <a:cubicBezTo>
                            <a:pt x="50425" y="0"/>
                            <a:pt x="64968" y="14544"/>
                            <a:pt x="64968" y="32484"/>
                          </a:cubicBezTo>
                          <a:close/>
                        </a:path>
                      </a:pathLst>
                    </a:custGeom>
                    <a:noFill/>
                    <a:ln w="12700" cap="flat">
                      <a:solidFill>
                        <a:schemeClr val="accent5"/>
                      </a:solidFill>
                      <a:prstDash val="solid"/>
                      <a:round/>
                    </a:ln>
                  </p:spPr>
                  <p:txBody>
                    <a:bodyPr rtlCol="0" anchor="ctr"/>
                    <a:lstStyle/>
                    <a:p>
                      <a:endParaRPr lang="en-US"/>
                    </a:p>
                  </p:txBody>
                </p:sp>
                <p:sp>
                  <p:nvSpPr>
                    <p:cNvPr id="91" name="Freeform 26">
                      <a:extLst>
                        <a:ext uri="{FF2B5EF4-FFF2-40B4-BE49-F238E27FC236}">
                          <a16:creationId xmlns:a16="http://schemas.microsoft.com/office/drawing/2014/main" id="{7736E9BB-9D72-7A79-F084-FBD84FCA633F}"/>
                        </a:ext>
                      </a:extLst>
                    </p:cNvPr>
                    <p:cNvSpPr/>
                    <p:nvPr/>
                  </p:nvSpPr>
                  <p:spPr>
                    <a:xfrm>
                      <a:off x="9340593" y="4503741"/>
                      <a:ext cx="129273" cy="6629"/>
                    </a:xfrm>
                    <a:custGeom>
                      <a:avLst/>
                      <a:gdLst>
                        <a:gd name="connsiteX0" fmla="*/ 0 w 129273"/>
                        <a:gd name="connsiteY0" fmla="*/ 0 h 6629"/>
                        <a:gd name="connsiteX1" fmla="*/ 129273 w 129273"/>
                        <a:gd name="connsiteY1" fmla="*/ 0 h 6629"/>
                      </a:gdLst>
                      <a:ahLst/>
                      <a:cxnLst>
                        <a:cxn ang="0">
                          <a:pos x="connsiteX0" y="connsiteY0"/>
                        </a:cxn>
                        <a:cxn ang="0">
                          <a:pos x="connsiteX1" y="connsiteY1"/>
                        </a:cxn>
                      </a:cxnLst>
                      <a:rect l="l" t="t" r="r" b="b"/>
                      <a:pathLst>
                        <a:path w="129273" h="6629">
                          <a:moveTo>
                            <a:pt x="0" y="0"/>
                          </a:moveTo>
                          <a:lnTo>
                            <a:pt x="129273" y="0"/>
                          </a:lnTo>
                        </a:path>
                      </a:pathLst>
                    </a:custGeom>
                    <a:ln w="12700" cap="flat">
                      <a:solidFill>
                        <a:schemeClr val="accent5"/>
                      </a:solidFill>
                      <a:prstDash val="solid"/>
                      <a:round/>
                    </a:ln>
                  </p:spPr>
                  <p:txBody>
                    <a:bodyPr rtlCol="0" anchor="ctr"/>
                    <a:lstStyle/>
                    <a:p>
                      <a:endParaRPr lang="en-US"/>
                    </a:p>
                  </p:txBody>
                </p:sp>
              </p:grpSp>
              <p:grpSp>
                <p:nvGrpSpPr>
                  <p:cNvPr id="81" name="Picture 21">
                    <a:extLst>
                      <a:ext uri="{FF2B5EF4-FFF2-40B4-BE49-F238E27FC236}">
                        <a16:creationId xmlns:a16="http://schemas.microsoft.com/office/drawing/2014/main" id="{604F797C-9FBE-4552-9E16-48DF50E5069C}"/>
                      </a:ext>
                    </a:extLst>
                  </p:cNvPr>
                  <p:cNvGrpSpPr/>
                  <p:nvPr/>
                </p:nvGrpSpPr>
                <p:grpSpPr>
                  <a:xfrm>
                    <a:off x="9125800" y="4354579"/>
                    <a:ext cx="344065" cy="64968"/>
                    <a:chOff x="9125800" y="4354579"/>
                    <a:chExt cx="344065" cy="64968"/>
                  </a:xfrm>
                  <a:noFill/>
                </p:grpSpPr>
                <p:sp>
                  <p:nvSpPr>
                    <p:cNvPr id="86" name="Freeform 28">
                      <a:extLst>
                        <a:ext uri="{FF2B5EF4-FFF2-40B4-BE49-F238E27FC236}">
                          <a16:creationId xmlns:a16="http://schemas.microsoft.com/office/drawing/2014/main" id="{31D39588-44D6-58F0-C377-B41A2B0C3E3F}"/>
                        </a:ext>
                      </a:extLst>
                    </p:cNvPr>
                    <p:cNvSpPr/>
                    <p:nvPr/>
                  </p:nvSpPr>
                  <p:spPr>
                    <a:xfrm>
                      <a:off x="9125800" y="4387064"/>
                      <a:ext cx="84856" cy="6629"/>
                    </a:xfrm>
                    <a:custGeom>
                      <a:avLst/>
                      <a:gdLst>
                        <a:gd name="connsiteX0" fmla="*/ 0 w 84856"/>
                        <a:gd name="connsiteY0" fmla="*/ 0 h 6629"/>
                        <a:gd name="connsiteX1" fmla="*/ 84856 w 84856"/>
                        <a:gd name="connsiteY1" fmla="*/ 0 h 6629"/>
                      </a:gdLst>
                      <a:ahLst/>
                      <a:cxnLst>
                        <a:cxn ang="0">
                          <a:pos x="connsiteX0" y="connsiteY0"/>
                        </a:cxn>
                        <a:cxn ang="0">
                          <a:pos x="connsiteX1" y="connsiteY1"/>
                        </a:cxn>
                      </a:cxnLst>
                      <a:rect l="l" t="t" r="r" b="b"/>
                      <a:pathLst>
                        <a:path w="84856" h="6629">
                          <a:moveTo>
                            <a:pt x="0" y="0"/>
                          </a:moveTo>
                          <a:lnTo>
                            <a:pt x="84856" y="0"/>
                          </a:lnTo>
                        </a:path>
                      </a:pathLst>
                    </a:custGeom>
                    <a:ln w="12700" cap="flat">
                      <a:solidFill>
                        <a:schemeClr val="accent5"/>
                      </a:solidFill>
                      <a:prstDash val="solid"/>
                      <a:round/>
                    </a:ln>
                  </p:spPr>
                  <p:txBody>
                    <a:bodyPr rtlCol="0" anchor="ctr"/>
                    <a:lstStyle/>
                    <a:p>
                      <a:endParaRPr lang="en-US"/>
                    </a:p>
                  </p:txBody>
                </p:sp>
                <p:sp>
                  <p:nvSpPr>
                    <p:cNvPr id="87" name="Freeform 29">
                      <a:extLst>
                        <a:ext uri="{FF2B5EF4-FFF2-40B4-BE49-F238E27FC236}">
                          <a16:creationId xmlns:a16="http://schemas.microsoft.com/office/drawing/2014/main" id="{7F6D4FC3-9470-1E1A-0E59-8BA92AB91534}"/>
                        </a:ext>
                      </a:extLst>
                    </p:cNvPr>
                    <p:cNvSpPr/>
                    <p:nvPr/>
                  </p:nvSpPr>
                  <p:spPr>
                    <a:xfrm>
                      <a:off x="9210656" y="4354579"/>
                      <a:ext cx="64968" cy="64968"/>
                    </a:xfrm>
                    <a:custGeom>
                      <a:avLst/>
                      <a:gdLst>
                        <a:gd name="connsiteX0" fmla="*/ 64968 w 64968"/>
                        <a:gd name="connsiteY0" fmla="*/ 32484 h 64968"/>
                        <a:gd name="connsiteX1" fmla="*/ 32484 w 64968"/>
                        <a:gd name="connsiteY1" fmla="*/ 64968 h 64968"/>
                        <a:gd name="connsiteX2" fmla="*/ 0 w 64968"/>
                        <a:gd name="connsiteY2" fmla="*/ 32484 h 64968"/>
                        <a:gd name="connsiteX3" fmla="*/ 32484 w 64968"/>
                        <a:gd name="connsiteY3" fmla="*/ 0 h 64968"/>
                        <a:gd name="connsiteX4" fmla="*/ 64968 w 64968"/>
                        <a:gd name="connsiteY4" fmla="*/ 32484 h 64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68" h="64968">
                          <a:moveTo>
                            <a:pt x="64968" y="32484"/>
                          </a:moveTo>
                          <a:cubicBezTo>
                            <a:pt x="64968" y="50425"/>
                            <a:pt x="50425" y="64968"/>
                            <a:pt x="32484" y="64968"/>
                          </a:cubicBezTo>
                          <a:cubicBezTo>
                            <a:pt x="14544" y="64968"/>
                            <a:pt x="0" y="50425"/>
                            <a:pt x="0" y="32484"/>
                          </a:cubicBezTo>
                          <a:cubicBezTo>
                            <a:pt x="0" y="14544"/>
                            <a:pt x="14544" y="0"/>
                            <a:pt x="32484" y="0"/>
                          </a:cubicBezTo>
                          <a:cubicBezTo>
                            <a:pt x="50424" y="0"/>
                            <a:pt x="64968" y="14544"/>
                            <a:pt x="64968" y="32484"/>
                          </a:cubicBezTo>
                          <a:close/>
                        </a:path>
                      </a:pathLst>
                    </a:custGeom>
                    <a:noFill/>
                    <a:ln w="12700" cap="flat">
                      <a:solidFill>
                        <a:schemeClr val="accent5"/>
                      </a:solidFill>
                      <a:prstDash val="solid"/>
                      <a:round/>
                    </a:ln>
                  </p:spPr>
                  <p:txBody>
                    <a:bodyPr rtlCol="0" anchor="ctr"/>
                    <a:lstStyle/>
                    <a:p>
                      <a:endParaRPr lang="en-US"/>
                    </a:p>
                  </p:txBody>
                </p:sp>
                <p:sp>
                  <p:nvSpPr>
                    <p:cNvPr id="88" name="Freeform 30">
                      <a:extLst>
                        <a:ext uri="{FF2B5EF4-FFF2-40B4-BE49-F238E27FC236}">
                          <a16:creationId xmlns:a16="http://schemas.microsoft.com/office/drawing/2014/main" id="{9FED4182-968E-6E17-AFC9-35D2156FB80D}"/>
                        </a:ext>
                      </a:extLst>
                    </p:cNvPr>
                    <p:cNvSpPr/>
                    <p:nvPr/>
                  </p:nvSpPr>
                  <p:spPr>
                    <a:xfrm>
                      <a:off x="9268995" y="4387064"/>
                      <a:ext cx="200870" cy="6629"/>
                    </a:xfrm>
                    <a:custGeom>
                      <a:avLst/>
                      <a:gdLst>
                        <a:gd name="connsiteX0" fmla="*/ 0 w 200870"/>
                        <a:gd name="connsiteY0" fmla="*/ 0 h 6629"/>
                        <a:gd name="connsiteX1" fmla="*/ 200871 w 200870"/>
                        <a:gd name="connsiteY1" fmla="*/ 0 h 6629"/>
                      </a:gdLst>
                      <a:ahLst/>
                      <a:cxnLst>
                        <a:cxn ang="0">
                          <a:pos x="connsiteX0" y="connsiteY0"/>
                        </a:cxn>
                        <a:cxn ang="0">
                          <a:pos x="connsiteX1" y="connsiteY1"/>
                        </a:cxn>
                      </a:cxnLst>
                      <a:rect l="l" t="t" r="r" b="b"/>
                      <a:pathLst>
                        <a:path w="200870" h="6629">
                          <a:moveTo>
                            <a:pt x="0" y="0"/>
                          </a:moveTo>
                          <a:lnTo>
                            <a:pt x="200871" y="0"/>
                          </a:lnTo>
                        </a:path>
                      </a:pathLst>
                    </a:custGeom>
                    <a:ln w="12700" cap="flat">
                      <a:solidFill>
                        <a:schemeClr val="accent5"/>
                      </a:solidFill>
                      <a:prstDash val="solid"/>
                      <a:round/>
                    </a:ln>
                  </p:spPr>
                  <p:txBody>
                    <a:bodyPr rtlCol="0" anchor="ctr"/>
                    <a:lstStyle/>
                    <a:p>
                      <a:endParaRPr lang="en-US"/>
                    </a:p>
                  </p:txBody>
                </p:sp>
              </p:grpSp>
              <p:grpSp>
                <p:nvGrpSpPr>
                  <p:cNvPr id="82" name="Picture 21">
                    <a:extLst>
                      <a:ext uri="{FF2B5EF4-FFF2-40B4-BE49-F238E27FC236}">
                        <a16:creationId xmlns:a16="http://schemas.microsoft.com/office/drawing/2014/main" id="{0BDBDAB4-9A63-9674-D56B-1D569D0C95F5}"/>
                      </a:ext>
                    </a:extLst>
                  </p:cNvPr>
                  <p:cNvGrpSpPr/>
                  <p:nvPr/>
                </p:nvGrpSpPr>
                <p:grpSpPr>
                  <a:xfrm>
                    <a:off x="9125800" y="4587934"/>
                    <a:ext cx="344065" cy="64968"/>
                    <a:chOff x="9125800" y="4587934"/>
                    <a:chExt cx="344065" cy="64968"/>
                  </a:xfrm>
                  <a:noFill/>
                </p:grpSpPr>
                <p:sp>
                  <p:nvSpPr>
                    <p:cNvPr id="83" name="Freeform 32">
                      <a:extLst>
                        <a:ext uri="{FF2B5EF4-FFF2-40B4-BE49-F238E27FC236}">
                          <a16:creationId xmlns:a16="http://schemas.microsoft.com/office/drawing/2014/main" id="{2BD0D9A3-F6D7-0F40-0B87-F5ECDEAC9B5F}"/>
                        </a:ext>
                      </a:extLst>
                    </p:cNvPr>
                    <p:cNvSpPr/>
                    <p:nvPr/>
                  </p:nvSpPr>
                  <p:spPr>
                    <a:xfrm>
                      <a:off x="9125800" y="4614452"/>
                      <a:ext cx="45742" cy="6629"/>
                    </a:xfrm>
                    <a:custGeom>
                      <a:avLst/>
                      <a:gdLst>
                        <a:gd name="connsiteX0" fmla="*/ 0 w 45742"/>
                        <a:gd name="connsiteY0" fmla="*/ 0 h 6629"/>
                        <a:gd name="connsiteX1" fmla="*/ 45743 w 45742"/>
                        <a:gd name="connsiteY1" fmla="*/ 0 h 6629"/>
                      </a:gdLst>
                      <a:ahLst/>
                      <a:cxnLst>
                        <a:cxn ang="0">
                          <a:pos x="connsiteX0" y="connsiteY0"/>
                        </a:cxn>
                        <a:cxn ang="0">
                          <a:pos x="connsiteX1" y="connsiteY1"/>
                        </a:cxn>
                      </a:cxnLst>
                      <a:rect l="l" t="t" r="r" b="b"/>
                      <a:pathLst>
                        <a:path w="45742" h="6629">
                          <a:moveTo>
                            <a:pt x="0" y="0"/>
                          </a:moveTo>
                          <a:lnTo>
                            <a:pt x="45743" y="0"/>
                          </a:lnTo>
                        </a:path>
                      </a:pathLst>
                    </a:custGeom>
                    <a:ln w="12700" cap="flat">
                      <a:solidFill>
                        <a:schemeClr val="accent5"/>
                      </a:solidFill>
                      <a:prstDash val="solid"/>
                      <a:round/>
                    </a:ln>
                  </p:spPr>
                  <p:txBody>
                    <a:bodyPr rtlCol="0" anchor="ctr"/>
                    <a:lstStyle/>
                    <a:p>
                      <a:endParaRPr lang="en-US"/>
                    </a:p>
                  </p:txBody>
                </p:sp>
                <p:sp>
                  <p:nvSpPr>
                    <p:cNvPr id="84" name="Freeform 33">
                      <a:extLst>
                        <a:ext uri="{FF2B5EF4-FFF2-40B4-BE49-F238E27FC236}">
                          <a16:creationId xmlns:a16="http://schemas.microsoft.com/office/drawing/2014/main" id="{06774C35-DA1D-CEAD-0CAB-79AF3D7C12FC}"/>
                        </a:ext>
                      </a:extLst>
                    </p:cNvPr>
                    <p:cNvSpPr/>
                    <p:nvPr/>
                  </p:nvSpPr>
                  <p:spPr>
                    <a:xfrm>
                      <a:off x="9171543" y="4587934"/>
                      <a:ext cx="64968" cy="64968"/>
                    </a:xfrm>
                    <a:custGeom>
                      <a:avLst/>
                      <a:gdLst>
                        <a:gd name="connsiteX0" fmla="*/ 64968 w 64968"/>
                        <a:gd name="connsiteY0" fmla="*/ 32484 h 64968"/>
                        <a:gd name="connsiteX1" fmla="*/ 32484 w 64968"/>
                        <a:gd name="connsiteY1" fmla="*/ 64968 h 64968"/>
                        <a:gd name="connsiteX2" fmla="*/ 0 w 64968"/>
                        <a:gd name="connsiteY2" fmla="*/ 32484 h 64968"/>
                        <a:gd name="connsiteX3" fmla="*/ 32484 w 64968"/>
                        <a:gd name="connsiteY3" fmla="*/ 0 h 64968"/>
                        <a:gd name="connsiteX4" fmla="*/ 64968 w 64968"/>
                        <a:gd name="connsiteY4" fmla="*/ 32484 h 64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68" h="64968">
                          <a:moveTo>
                            <a:pt x="64968" y="32484"/>
                          </a:moveTo>
                          <a:cubicBezTo>
                            <a:pt x="64968" y="50424"/>
                            <a:pt x="50425" y="64968"/>
                            <a:pt x="32484" y="64968"/>
                          </a:cubicBezTo>
                          <a:cubicBezTo>
                            <a:pt x="14544" y="64968"/>
                            <a:pt x="0" y="50424"/>
                            <a:pt x="0" y="32484"/>
                          </a:cubicBezTo>
                          <a:cubicBezTo>
                            <a:pt x="0" y="14544"/>
                            <a:pt x="14544" y="0"/>
                            <a:pt x="32484" y="0"/>
                          </a:cubicBezTo>
                          <a:cubicBezTo>
                            <a:pt x="50424" y="0"/>
                            <a:pt x="64968" y="14544"/>
                            <a:pt x="64968" y="32484"/>
                          </a:cubicBezTo>
                          <a:close/>
                        </a:path>
                      </a:pathLst>
                    </a:custGeom>
                    <a:noFill/>
                    <a:ln w="12700" cap="flat">
                      <a:solidFill>
                        <a:schemeClr val="accent5"/>
                      </a:solidFill>
                      <a:prstDash val="solid"/>
                      <a:round/>
                    </a:ln>
                  </p:spPr>
                  <p:txBody>
                    <a:bodyPr rtlCol="0" anchor="ctr"/>
                    <a:lstStyle/>
                    <a:p>
                      <a:endParaRPr lang="en-US"/>
                    </a:p>
                  </p:txBody>
                </p:sp>
                <p:sp>
                  <p:nvSpPr>
                    <p:cNvPr id="85" name="Freeform 34">
                      <a:extLst>
                        <a:ext uri="{FF2B5EF4-FFF2-40B4-BE49-F238E27FC236}">
                          <a16:creationId xmlns:a16="http://schemas.microsoft.com/office/drawing/2014/main" id="{50E4031C-C5DD-FAC9-904D-4E7D524748D7}"/>
                        </a:ext>
                      </a:extLst>
                    </p:cNvPr>
                    <p:cNvSpPr/>
                    <p:nvPr/>
                  </p:nvSpPr>
                  <p:spPr>
                    <a:xfrm>
                      <a:off x="9236511" y="4614452"/>
                      <a:ext cx="233354" cy="6629"/>
                    </a:xfrm>
                    <a:custGeom>
                      <a:avLst/>
                      <a:gdLst>
                        <a:gd name="connsiteX0" fmla="*/ 0 w 233354"/>
                        <a:gd name="connsiteY0" fmla="*/ 0 h 6629"/>
                        <a:gd name="connsiteX1" fmla="*/ 233355 w 233354"/>
                        <a:gd name="connsiteY1" fmla="*/ 0 h 6629"/>
                      </a:gdLst>
                      <a:ahLst/>
                      <a:cxnLst>
                        <a:cxn ang="0">
                          <a:pos x="connsiteX0" y="connsiteY0"/>
                        </a:cxn>
                        <a:cxn ang="0">
                          <a:pos x="connsiteX1" y="connsiteY1"/>
                        </a:cxn>
                      </a:cxnLst>
                      <a:rect l="l" t="t" r="r" b="b"/>
                      <a:pathLst>
                        <a:path w="233354" h="6629">
                          <a:moveTo>
                            <a:pt x="0" y="0"/>
                          </a:moveTo>
                          <a:lnTo>
                            <a:pt x="233355" y="0"/>
                          </a:lnTo>
                        </a:path>
                      </a:pathLst>
                    </a:custGeom>
                    <a:ln w="12700" cap="flat">
                      <a:solidFill>
                        <a:schemeClr val="accent5"/>
                      </a:solidFill>
                      <a:prstDash val="solid"/>
                      <a:round/>
                    </a:ln>
                  </p:spPr>
                  <p:txBody>
                    <a:bodyPr rtlCol="0" anchor="ctr"/>
                    <a:lstStyle/>
                    <a:p>
                      <a:endParaRPr lang="en-US"/>
                    </a:p>
                  </p:txBody>
                </p:sp>
              </p:grpSp>
            </p:grpSp>
            <p:sp>
              <p:nvSpPr>
                <p:cNvPr id="77" name="Freeform 35">
                  <a:extLst>
                    <a:ext uri="{FF2B5EF4-FFF2-40B4-BE49-F238E27FC236}">
                      <a16:creationId xmlns:a16="http://schemas.microsoft.com/office/drawing/2014/main" id="{B228D95B-0409-148C-4CE7-BA0DD7593ABD}"/>
                    </a:ext>
                  </a:extLst>
                </p:cNvPr>
                <p:cNvSpPr/>
                <p:nvPr/>
              </p:nvSpPr>
              <p:spPr>
                <a:xfrm>
                  <a:off x="9080720" y="4387064"/>
                  <a:ext cx="19225" cy="6629"/>
                </a:xfrm>
                <a:custGeom>
                  <a:avLst/>
                  <a:gdLst>
                    <a:gd name="connsiteX0" fmla="*/ 0 w 19225"/>
                    <a:gd name="connsiteY0" fmla="*/ 0 h 6629"/>
                    <a:gd name="connsiteX1" fmla="*/ 19225 w 19225"/>
                    <a:gd name="connsiteY1" fmla="*/ 0 h 6629"/>
                  </a:gdLst>
                  <a:ahLst/>
                  <a:cxnLst>
                    <a:cxn ang="0">
                      <a:pos x="connsiteX0" y="connsiteY0"/>
                    </a:cxn>
                    <a:cxn ang="0">
                      <a:pos x="connsiteX1" y="connsiteY1"/>
                    </a:cxn>
                  </a:cxnLst>
                  <a:rect l="l" t="t" r="r" b="b"/>
                  <a:pathLst>
                    <a:path w="19225" h="6629">
                      <a:moveTo>
                        <a:pt x="0" y="0"/>
                      </a:moveTo>
                      <a:lnTo>
                        <a:pt x="19225" y="0"/>
                      </a:lnTo>
                    </a:path>
                  </a:pathLst>
                </a:custGeom>
                <a:ln w="12700" cap="flat">
                  <a:solidFill>
                    <a:schemeClr val="accent5"/>
                  </a:solidFill>
                  <a:prstDash val="solid"/>
                  <a:round/>
                </a:ln>
              </p:spPr>
              <p:txBody>
                <a:bodyPr rtlCol="0" anchor="ctr"/>
                <a:lstStyle/>
                <a:p>
                  <a:endParaRPr lang="en-US"/>
                </a:p>
              </p:txBody>
            </p:sp>
            <p:sp>
              <p:nvSpPr>
                <p:cNvPr id="78" name="Freeform 36">
                  <a:extLst>
                    <a:ext uri="{FF2B5EF4-FFF2-40B4-BE49-F238E27FC236}">
                      <a16:creationId xmlns:a16="http://schemas.microsoft.com/office/drawing/2014/main" id="{BE1C8930-04A5-49D4-3268-CCE7B6EABEF1}"/>
                    </a:ext>
                  </a:extLst>
                </p:cNvPr>
                <p:cNvSpPr/>
                <p:nvPr/>
              </p:nvSpPr>
              <p:spPr>
                <a:xfrm>
                  <a:off x="9080720" y="4503741"/>
                  <a:ext cx="19225" cy="6629"/>
                </a:xfrm>
                <a:custGeom>
                  <a:avLst/>
                  <a:gdLst>
                    <a:gd name="connsiteX0" fmla="*/ 0 w 19225"/>
                    <a:gd name="connsiteY0" fmla="*/ 0 h 6629"/>
                    <a:gd name="connsiteX1" fmla="*/ 19225 w 19225"/>
                    <a:gd name="connsiteY1" fmla="*/ 0 h 6629"/>
                  </a:gdLst>
                  <a:ahLst/>
                  <a:cxnLst>
                    <a:cxn ang="0">
                      <a:pos x="connsiteX0" y="connsiteY0"/>
                    </a:cxn>
                    <a:cxn ang="0">
                      <a:pos x="connsiteX1" y="connsiteY1"/>
                    </a:cxn>
                  </a:cxnLst>
                  <a:rect l="l" t="t" r="r" b="b"/>
                  <a:pathLst>
                    <a:path w="19225" h="6629">
                      <a:moveTo>
                        <a:pt x="0" y="0"/>
                      </a:moveTo>
                      <a:lnTo>
                        <a:pt x="19225" y="0"/>
                      </a:lnTo>
                    </a:path>
                  </a:pathLst>
                </a:custGeom>
                <a:ln w="12700" cap="flat">
                  <a:solidFill>
                    <a:schemeClr val="accent5"/>
                  </a:solidFill>
                  <a:prstDash val="solid"/>
                  <a:round/>
                </a:ln>
              </p:spPr>
              <p:txBody>
                <a:bodyPr rtlCol="0" anchor="ctr"/>
                <a:lstStyle/>
                <a:p>
                  <a:endParaRPr lang="en-US"/>
                </a:p>
              </p:txBody>
            </p:sp>
            <p:sp>
              <p:nvSpPr>
                <p:cNvPr id="79" name="Freeform 37">
                  <a:extLst>
                    <a:ext uri="{FF2B5EF4-FFF2-40B4-BE49-F238E27FC236}">
                      <a16:creationId xmlns:a16="http://schemas.microsoft.com/office/drawing/2014/main" id="{7117C457-9DFF-E724-7422-B2828F807E6C}"/>
                    </a:ext>
                  </a:extLst>
                </p:cNvPr>
                <p:cNvSpPr/>
                <p:nvPr/>
              </p:nvSpPr>
              <p:spPr>
                <a:xfrm>
                  <a:off x="9080720" y="4614452"/>
                  <a:ext cx="19225" cy="6629"/>
                </a:xfrm>
                <a:custGeom>
                  <a:avLst/>
                  <a:gdLst>
                    <a:gd name="connsiteX0" fmla="*/ 0 w 19225"/>
                    <a:gd name="connsiteY0" fmla="*/ 0 h 6629"/>
                    <a:gd name="connsiteX1" fmla="*/ 19225 w 19225"/>
                    <a:gd name="connsiteY1" fmla="*/ 0 h 6629"/>
                  </a:gdLst>
                  <a:ahLst/>
                  <a:cxnLst>
                    <a:cxn ang="0">
                      <a:pos x="connsiteX0" y="connsiteY0"/>
                    </a:cxn>
                    <a:cxn ang="0">
                      <a:pos x="connsiteX1" y="connsiteY1"/>
                    </a:cxn>
                  </a:cxnLst>
                  <a:rect l="l" t="t" r="r" b="b"/>
                  <a:pathLst>
                    <a:path w="19225" h="6629">
                      <a:moveTo>
                        <a:pt x="0" y="0"/>
                      </a:moveTo>
                      <a:lnTo>
                        <a:pt x="19225" y="0"/>
                      </a:lnTo>
                    </a:path>
                  </a:pathLst>
                </a:custGeom>
                <a:ln w="12700" cap="flat">
                  <a:solidFill>
                    <a:schemeClr val="accent5"/>
                  </a:solidFill>
                  <a:prstDash val="solid"/>
                  <a:round/>
                </a:ln>
              </p:spPr>
              <p:txBody>
                <a:bodyPr rtlCol="0" anchor="ctr"/>
                <a:lstStyle/>
                <a:p>
                  <a:endParaRPr lang="en-US"/>
                </a:p>
              </p:txBody>
            </p:sp>
          </p:grpSp>
        </p:grpSp>
        <p:grpSp>
          <p:nvGrpSpPr>
            <p:cNvPr id="66" name="Picture 21">
              <a:extLst>
                <a:ext uri="{FF2B5EF4-FFF2-40B4-BE49-F238E27FC236}">
                  <a16:creationId xmlns:a16="http://schemas.microsoft.com/office/drawing/2014/main" id="{CA8A8BE1-3585-16D0-E64A-FF555490CD6D}"/>
                </a:ext>
              </a:extLst>
            </p:cNvPr>
            <p:cNvGrpSpPr/>
            <p:nvPr/>
          </p:nvGrpSpPr>
          <p:grpSpPr>
            <a:xfrm>
              <a:off x="6933152" y="5000691"/>
              <a:ext cx="649018" cy="468035"/>
              <a:chOff x="8957413" y="4166305"/>
              <a:chExt cx="649018" cy="468035"/>
            </a:xfrm>
            <a:noFill/>
          </p:grpSpPr>
          <p:grpSp>
            <p:nvGrpSpPr>
              <p:cNvPr id="68" name="Picture 21">
                <a:extLst>
                  <a:ext uri="{FF2B5EF4-FFF2-40B4-BE49-F238E27FC236}">
                    <a16:creationId xmlns:a16="http://schemas.microsoft.com/office/drawing/2014/main" id="{83C07BD1-B5B1-79B6-00ED-0CC88A7E7737}"/>
                  </a:ext>
                </a:extLst>
              </p:cNvPr>
              <p:cNvGrpSpPr/>
              <p:nvPr/>
            </p:nvGrpSpPr>
            <p:grpSpPr>
              <a:xfrm>
                <a:off x="8957413" y="4166305"/>
                <a:ext cx="649018" cy="468035"/>
                <a:chOff x="8957413" y="4166305"/>
                <a:chExt cx="649018" cy="468035"/>
              </a:xfrm>
              <a:noFill/>
            </p:grpSpPr>
            <p:sp>
              <p:nvSpPr>
                <p:cNvPr id="72" name="Freeform 40">
                  <a:extLst>
                    <a:ext uri="{FF2B5EF4-FFF2-40B4-BE49-F238E27FC236}">
                      <a16:creationId xmlns:a16="http://schemas.microsoft.com/office/drawing/2014/main" id="{02DD3405-CA1E-2B1C-70A1-8878209CA45D}"/>
                    </a:ext>
                  </a:extLst>
                </p:cNvPr>
                <p:cNvSpPr/>
                <p:nvPr/>
              </p:nvSpPr>
              <p:spPr>
                <a:xfrm>
                  <a:off x="8957413" y="4250498"/>
                  <a:ext cx="649018" cy="6629"/>
                </a:xfrm>
                <a:custGeom>
                  <a:avLst/>
                  <a:gdLst>
                    <a:gd name="connsiteX0" fmla="*/ 0 w 649018"/>
                    <a:gd name="connsiteY0" fmla="*/ 0 h 6629"/>
                    <a:gd name="connsiteX1" fmla="*/ 649018 w 649018"/>
                    <a:gd name="connsiteY1" fmla="*/ 0 h 6629"/>
                  </a:gdLst>
                  <a:ahLst/>
                  <a:cxnLst>
                    <a:cxn ang="0">
                      <a:pos x="connsiteX0" y="connsiteY0"/>
                    </a:cxn>
                    <a:cxn ang="0">
                      <a:pos x="connsiteX1" y="connsiteY1"/>
                    </a:cxn>
                  </a:cxnLst>
                  <a:rect l="l" t="t" r="r" b="b"/>
                  <a:pathLst>
                    <a:path w="649018" h="6629">
                      <a:moveTo>
                        <a:pt x="0" y="0"/>
                      </a:moveTo>
                      <a:lnTo>
                        <a:pt x="649018" y="0"/>
                      </a:lnTo>
                    </a:path>
                  </a:pathLst>
                </a:custGeom>
                <a:ln w="12700" cap="flat">
                  <a:solidFill>
                    <a:schemeClr val="accent5"/>
                  </a:solidFill>
                  <a:prstDash val="solid"/>
                  <a:round/>
                </a:ln>
              </p:spPr>
              <p:txBody>
                <a:bodyPr rtlCol="0" anchor="ctr"/>
                <a:lstStyle/>
                <a:p>
                  <a:endParaRPr lang="en-US"/>
                </a:p>
              </p:txBody>
            </p:sp>
            <p:sp>
              <p:nvSpPr>
                <p:cNvPr id="73" name="Freeform 41">
                  <a:extLst>
                    <a:ext uri="{FF2B5EF4-FFF2-40B4-BE49-F238E27FC236}">
                      <a16:creationId xmlns:a16="http://schemas.microsoft.com/office/drawing/2014/main" id="{AABB1324-0753-70F2-B6E8-FDCFBFA68B47}"/>
                    </a:ext>
                  </a:extLst>
                </p:cNvPr>
                <p:cNvSpPr/>
                <p:nvPr/>
              </p:nvSpPr>
              <p:spPr>
                <a:xfrm>
                  <a:off x="8957413" y="4166305"/>
                  <a:ext cx="649018" cy="468035"/>
                </a:xfrm>
                <a:custGeom>
                  <a:avLst/>
                  <a:gdLst>
                    <a:gd name="connsiteX0" fmla="*/ 584050 w 649018"/>
                    <a:gd name="connsiteY0" fmla="*/ 467373 h 468035"/>
                    <a:gd name="connsiteX1" fmla="*/ 635759 w 649018"/>
                    <a:gd name="connsiteY1" fmla="*/ 467373 h 468035"/>
                    <a:gd name="connsiteX2" fmla="*/ 649018 w 649018"/>
                    <a:gd name="connsiteY2" fmla="*/ 454114 h 468035"/>
                    <a:gd name="connsiteX3" fmla="*/ 649018 w 649018"/>
                    <a:gd name="connsiteY3" fmla="*/ 13259 h 468035"/>
                    <a:gd name="connsiteX4" fmla="*/ 635759 w 649018"/>
                    <a:gd name="connsiteY4" fmla="*/ 0 h 468035"/>
                    <a:gd name="connsiteX5" fmla="*/ 13922 w 649018"/>
                    <a:gd name="connsiteY5" fmla="*/ 0 h 468035"/>
                    <a:gd name="connsiteX6" fmla="*/ 663 w 649018"/>
                    <a:gd name="connsiteY6" fmla="*/ 13259 h 468035"/>
                    <a:gd name="connsiteX7" fmla="*/ 0 w 649018"/>
                    <a:gd name="connsiteY7" fmla="*/ 454777 h 468035"/>
                    <a:gd name="connsiteX8" fmla="*/ 13259 w 649018"/>
                    <a:gd name="connsiteY8" fmla="*/ 468036 h 468035"/>
                    <a:gd name="connsiteX9" fmla="*/ 64968 w 649018"/>
                    <a:gd name="connsiteY9" fmla="*/ 468036 h 468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9018" h="468035">
                      <a:moveTo>
                        <a:pt x="584050" y="467373"/>
                      </a:moveTo>
                      <a:lnTo>
                        <a:pt x="635759" y="467373"/>
                      </a:lnTo>
                      <a:cubicBezTo>
                        <a:pt x="643052" y="467373"/>
                        <a:pt x="649018" y="461406"/>
                        <a:pt x="649018" y="454114"/>
                      </a:cubicBezTo>
                      <a:lnTo>
                        <a:pt x="649018" y="13259"/>
                      </a:lnTo>
                      <a:cubicBezTo>
                        <a:pt x="649018" y="5966"/>
                        <a:pt x="643052" y="0"/>
                        <a:pt x="635759" y="0"/>
                      </a:cubicBezTo>
                      <a:lnTo>
                        <a:pt x="13922" y="0"/>
                      </a:lnTo>
                      <a:cubicBezTo>
                        <a:pt x="6629" y="0"/>
                        <a:pt x="663" y="5966"/>
                        <a:pt x="663" y="13259"/>
                      </a:cubicBezTo>
                      <a:lnTo>
                        <a:pt x="0" y="454777"/>
                      </a:lnTo>
                      <a:cubicBezTo>
                        <a:pt x="0" y="462069"/>
                        <a:pt x="5966" y="468036"/>
                        <a:pt x="13259" y="468036"/>
                      </a:cubicBezTo>
                      <a:lnTo>
                        <a:pt x="64968" y="468036"/>
                      </a:lnTo>
                    </a:path>
                  </a:pathLst>
                </a:custGeom>
                <a:noFill/>
                <a:ln w="12700" cap="flat">
                  <a:solidFill>
                    <a:schemeClr val="accent5"/>
                  </a:solidFill>
                  <a:prstDash val="solid"/>
                  <a:round/>
                </a:ln>
              </p:spPr>
              <p:txBody>
                <a:bodyPr rtlCol="0" anchor="ctr"/>
                <a:lstStyle/>
                <a:p>
                  <a:endParaRPr lang="en-US"/>
                </a:p>
              </p:txBody>
            </p:sp>
          </p:grpSp>
          <p:sp>
            <p:nvSpPr>
              <p:cNvPr id="69" name="Freeform 42">
                <a:extLst>
                  <a:ext uri="{FF2B5EF4-FFF2-40B4-BE49-F238E27FC236}">
                    <a16:creationId xmlns:a16="http://schemas.microsoft.com/office/drawing/2014/main" id="{9F35DBAD-0191-AB25-4D44-52742D786DF6}"/>
                  </a:ext>
                </a:extLst>
              </p:cNvPr>
              <p:cNvSpPr/>
              <p:nvPr/>
            </p:nvSpPr>
            <p:spPr>
              <a:xfrm>
                <a:off x="8989897" y="4205418"/>
                <a:ext cx="32484" cy="6629"/>
              </a:xfrm>
              <a:custGeom>
                <a:avLst/>
                <a:gdLst>
                  <a:gd name="connsiteX0" fmla="*/ 0 w 32484"/>
                  <a:gd name="connsiteY0" fmla="*/ 0 h 6629"/>
                  <a:gd name="connsiteX1" fmla="*/ 32484 w 32484"/>
                  <a:gd name="connsiteY1" fmla="*/ 0 h 6629"/>
                </a:gdLst>
                <a:ahLst/>
                <a:cxnLst>
                  <a:cxn ang="0">
                    <a:pos x="connsiteX0" y="connsiteY0"/>
                  </a:cxn>
                  <a:cxn ang="0">
                    <a:pos x="connsiteX1" y="connsiteY1"/>
                  </a:cxn>
                </a:cxnLst>
                <a:rect l="l" t="t" r="r" b="b"/>
                <a:pathLst>
                  <a:path w="32484" h="6629">
                    <a:moveTo>
                      <a:pt x="0" y="0"/>
                    </a:moveTo>
                    <a:lnTo>
                      <a:pt x="32484" y="0"/>
                    </a:lnTo>
                  </a:path>
                </a:pathLst>
              </a:custGeom>
              <a:ln w="12700" cap="flat">
                <a:solidFill>
                  <a:schemeClr val="accent5"/>
                </a:solidFill>
                <a:prstDash val="solid"/>
                <a:round/>
              </a:ln>
            </p:spPr>
            <p:txBody>
              <a:bodyPr rtlCol="0" anchor="ctr"/>
              <a:lstStyle/>
              <a:p>
                <a:endParaRPr lang="en-US"/>
              </a:p>
            </p:txBody>
          </p:sp>
          <p:sp>
            <p:nvSpPr>
              <p:cNvPr id="70" name="Freeform 43">
                <a:extLst>
                  <a:ext uri="{FF2B5EF4-FFF2-40B4-BE49-F238E27FC236}">
                    <a16:creationId xmlns:a16="http://schemas.microsoft.com/office/drawing/2014/main" id="{14EA468D-078D-7315-08FF-C61EEF06247C}"/>
                  </a:ext>
                </a:extLst>
              </p:cNvPr>
              <p:cNvSpPr/>
              <p:nvPr/>
            </p:nvSpPr>
            <p:spPr>
              <a:xfrm>
                <a:off x="9035640" y="4205418"/>
                <a:ext cx="32484" cy="6629"/>
              </a:xfrm>
              <a:custGeom>
                <a:avLst/>
                <a:gdLst>
                  <a:gd name="connsiteX0" fmla="*/ 0 w 32484"/>
                  <a:gd name="connsiteY0" fmla="*/ 0 h 6629"/>
                  <a:gd name="connsiteX1" fmla="*/ 32484 w 32484"/>
                  <a:gd name="connsiteY1" fmla="*/ 0 h 6629"/>
                </a:gdLst>
                <a:ahLst/>
                <a:cxnLst>
                  <a:cxn ang="0">
                    <a:pos x="connsiteX0" y="connsiteY0"/>
                  </a:cxn>
                  <a:cxn ang="0">
                    <a:pos x="connsiteX1" y="connsiteY1"/>
                  </a:cxn>
                </a:cxnLst>
                <a:rect l="l" t="t" r="r" b="b"/>
                <a:pathLst>
                  <a:path w="32484" h="6629">
                    <a:moveTo>
                      <a:pt x="0" y="0"/>
                    </a:moveTo>
                    <a:lnTo>
                      <a:pt x="32484" y="0"/>
                    </a:lnTo>
                  </a:path>
                </a:pathLst>
              </a:custGeom>
              <a:ln w="12700" cap="flat">
                <a:solidFill>
                  <a:schemeClr val="accent5"/>
                </a:solidFill>
                <a:prstDash val="solid"/>
                <a:round/>
              </a:ln>
            </p:spPr>
            <p:txBody>
              <a:bodyPr rtlCol="0" anchor="ctr"/>
              <a:lstStyle/>
              <a:p>
                <a:endParaRPr lang="en-US"/>
              </a:p>
            </p:txBody>
          </p:sp>
          <p:sp>
            <p:nvSpPr>
              <p:cNvPr id="71" name="Freeform 44">
                <a:extLst>
                  <a:ext uri="{FF2B5EF4-FFF2-40B4-BE49-F238E27FC236}">
                    <a16:creationId xmlns:a16="http://schemas.microsoft.com/office/drawing/2014/main" id="{FF196557-E800-79BA-C330-D8B9AF1721EE}"/>
                  </a:ext>
                </a:extLst>
              </p:cNvPr>
              <p:cNvSpPr/>
              <p:nvPr/>
            </p:nvSpPr>
            <p:spPr>
              <a:xfrm>
                <a:off x="9080720" y="4205418"/>
                <a:ext cx="32484" cy="6629"/>
              </a:xfrm>
              <a:custGeom>
                <a:avLst/>
                <a:gdLst>
                  <a:gd name="connsiteX0" fmla="*/ 0 w 32484"/>
                  <a:gd name="connsiteY0" fmla="*/ 0 h 6629"/>
                  <a:gd name="connsiteX1" fmla="*/ 32484 w 32484"/>
                  <a:gd name="connsiteY1" fmla="*/ 0 h 6629"/>
                </a:gdLst>
                <a:ahLst/>
                <a:cxnLst>
                  <a:cxn ang="0">
                    <a:pos x="connsiteX0" y="connsiteY0"/>
                  </a:cxn>
                  <a:cxn ang="0">
                    <a:pos x="connsiteX1" y="connsiteY1"/>
                  </a:cxn>
                </a:cxnLst>
                <a:rect l="l" t="t" r="r" b="b"/>
                <a:pathLst>
                  <a:path w="32484" h="6629">
                    <a:moveTo>
                      <a:pt x="0" y="0"/>
                    </a:moveTo>
                    <a:lnTo>
                      <a:pt x="32484" y="0"/>
                    </a:lnTo>
                  </a:path>
                </a:pathLst>
              </a:custGeom>
              <a:ln w="12700" cap="flat">
                <a:solidFill>
                  <a:schemeClr val="accent5"/>
                </a:solidFill>
                <a:prstDash val="solid"/>
                <a:round/>
              </a:ln>
            </p:spPr>
            <p:txBody>
              <a:bodyPr rtlCol="0" anchor="ctr"/>
              <a:lstStyle/>
              <a:p>
                <a:endParaRPr lang="en-US"/>
              </a:p>
            </p:txBody>
          </p:sp>
        </p:grpSp>
        <p:sp>
          <p:nvSpPr>
            <p:cNvPr id="67" name="Freeform 45">
              <a:extLst>
                <a:ext uri="{FF2B5EF4-FFF2-40B4-BE49-F238E27FC236}">
                  <a16:creationId xmlns:a16="http://schemas.microsoft.com/office/drawing/2014/main" id="{522F2C5B-9D75-E6EF-B75F-4E46E41E5EC4}"/>
                </a:ext>
              </a:extLst>
            </p:cNvPr>
            <p:cNvSpPr/>
            <p:nvPr/>
          </p:nvSpPr>
          <p:spPr>
            <a:xfrm>
              <a:off x="7606037" y="5000691"/>
              <a:ext cx="220096" cy="467372"/>
            </a:xfrm>
            <a:custGeom>
              <a:avLst/>
              <a:gdLst>
                <a:gd name="connsiteX0" fmla="*/ 2652 w 220096"/>
                <a:gd name="connsiteY0" fmla="*/ 467373 h 467372"/>
                <a:gd name="connsiteX1" fmla="*/ 25855 w 220096"/>
                <a:gd name="connsiteY1" fmla="*/ 467373 h 467372"/>
                <a:gd name="connsiteX2" fmla="*/ 35799 w 220096"/>
                <a:gd name="connsiteY2" fmla="*/ 457429 h 467372"/>
                <a:gd name="connsiteX3" fmla="*/ 35799 w 220096"/>
                <a:gd name="connsiteY3" fmla="*/ 422956 h 467372"/>
                <a:gd name="connsiteX4" fmla="*/ 43091 w 220096"/>
                <a:gd name="connsiteY4" fmla="*/ 413012 h 467372"/>
                <a:gd name="connsiteX5" fmla="*/ 74249 w 220096"/>
                <a:gd name="connsiteY5" fmla="*/ 399753 h 467372"/>
                <a:gd name="connsiteX6" fmla="*/ 86182 w 220096"/>
                <a:gd name="connsiteY6" fmla="*/ 401742 h 467372"/>
                <a:gd name="connsiteX7" fmla="*/ 110711 w 220096"/>
                <a:gd name="connsiteY7" fmla="*/ 426270 h 467372"/>
                <a:gd name="connsiteX8" fmla="*/ 125296 w 220096"/>
                <a:gd name="connsiteY8" fmla="*/ 426270 h 467372"/>
                <a:gd name="connsiteX9" fmla="*/ 180320 w 220096"/>
                <a:gd name="connsiteY9" fmla="*/ 371246 h 467372"/>
                <a:gd name="connsiteX10" fmla="*/ 180320 w 220096"/>
                <a:gd name="connsiteY10" fmla="*/ 356662 h 467372"/>
                <a:gd name="connsiteX11" fmla="*/ 155791 w 220096"/>
                <a:gd name="connsiteY11" fmla="*/ 332133 h 467372"/>
                <a:gd name="connsiteX12" fmla="*/ 153802 w 220096"/>
                <a:gd name="connsiteY12" fmla="*/ 320200 h 467372"/>
                <a:gd name="connsiteX13" fmla="*/ 166398 w 220096"/>
                <a:gd name="connsiteY13" fmla="*/ 289042 h 467372"/>
                <a:gd name="connsiteX14" fmla="*/ 175679 w 220096"/>
                <a:gd name="connsiteY14" fmla="*/ 281750 h 467372"/>
                <a:gd name="connsiteX15" fmla="*/ 210152 w 220096"/>
                <a:gd name="connsiteY15" fmla="*/ 281750 h 467372"/>
                <a:gd name="connsiteX16" fmla="*/ 220096 w 220096"/>
                <a:gd name="connsiteY16" fmla="*/ 271805 h 467372"/>
                <a:gd name="connsiteX17" fmla="*/ 220096 w 220096"/>
                <a:gd name="connsiteY17" fmla="*/ 194241 h 467372"/>
                <a:gd name="connsiteX18" fmla="*/ 210152 w 220096"/>
                <a:gd name="connsiteY18" fmla="*/ 184297 h 467372"/>
                <a:gd name="connsiteX19" fmla="*/ 175016 w 220096"/>
                <a:gd name="connsiteY19" fmla="*/ 184297 h 467372"/>
                <a:gd name="connsiteX20" fmla="*/ 165735 w 220096"/>
                <a:gd name="connsiteY20" fmla="*/ 177668 h 467372"/>
                <a:gd name="connsiteX21" fmla="*/ 153139 w 220096"/>
                <a:gd name="connsiteY21" fmla="*/ 147173 h 467372"/>
                <a:gd name="connsiteX22" fmla="*/ 155128 w 220096"/>
                <a:gd name="connsiteY22" fmla="*/ 135240 h 467372"/>
                <a:gd name="connsiteX23" fmla="*/ 180320 w 220096"/>
                <a:gd name="connsiteY23" fmla="*/ 110048 h 467372"/>
                <a:gd name="connsiteX24" fmla="*/ 180320 w 220096"/>
                <a:gd name="connsiteY24" fmla="*/ 95463 h 467372"/>
                <a:gd name="connsiteX25" fmla="*/ 125296 w 220096"/>
                <a:gd name="connsiteY25" fmla="*/ 40439 h 467372"/>
                <a:gd name="connsiteX26" fmla="*/ 110711 w 220096"/>
                <a:gd name="connsiteY26" fmla="*/ 40439 h 467372"/>
                <a:gd name="connsiteX27" fmla="*/ 85519 w 220096"/>
                <a:gd name="connsiteY27" fmla="*/ 65631 h 467372"/>
                <a:gd name="connsiteX28" fmla="*/ 73586 w 220096"/>
                <a:gd name="connsiteY28" fmla="*/ 67620 h 467372"/>
                <a:gd name="connsiteX29" fmla="*/ 43091 w 220096"/>
                <a:gd name="connsiteY29" fmla="*/ 55024 h 467372"/>
                <a:gd name="connsiteX30" fmla="*/ 35799 w 220096"/>
                <a:gd name="connsiteY30" fmla="*/ 45743 h 467372"/>
                <a:gd name="connsiteX31" fmla="*/ 35799 w 220096"/>
                <a:gd name="connsiteY31" fmla="*/ 6629 h 467372"/>
                <a:gd name="connsiteX32" fmla="*/ 29169 w 220096"/>
                <a:gd name="connsiteY32" fmla="*/ 0 h 467372"/>
                <a:gd name="connsiteX33" fmla="*/ 3315 w 220096"/>
                <a:gd name="connsiteY33" fmla="*/ 0 h 467372"/>
                <a:gd name="connsiteX34" fmla="*/ 1326 w 220096"/>
                <a:gd name="connsiteY34" fmla="*/ 147836 h 467372"/>
                <a:gd name="connsiteX35" fmla="*/ 73586 w 220096"/>
                <a:gd name="connsiteY35" fmla="*/ 228051 h 467372"/>
                <a:gd name="connsiteX36" fmla="*/ 0 w 220096"/>
                <a:gd name="connsiteY36" fmla="*/ 320200 h 467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20096" h="467372">
                  <a:moveTo>
                    <a:pt x="2652" y="467373"/>
                  </a:moveTo>
                  <a:lnTo>
                    <a:pt x="25855" y="467373"/>
                  </a:lnTo>
                  <a:cubicBezTo>
                    <a:pt x="31158" y="467373"/>
                    <a:pt x="35799" y="462732"/>
                    <a:pt x="35799" y="457429"/>
                  </a:cubicBezTo>
                  <a:lnTo>
                    <a:pt x="35799" y="422956"/>
                  </a:lnTo>
                  <a:cubicBezTo>
                    <a:pt x="35799" y="418315"/>
                    <a:pt x="38451" y="414338"/>
                    <a:pt x="43091" y="413012"/>
                  </a:cubicBezTo>
                  <a:cubicBezTo>
                    <a:pt x="53698" y="409697"/>
                    <a:pt x="64305" y="405056"/>
                    <a:pt x="74249" y="399753"/>
                  </a:cubicBezTo>
                  <a:cubicBezTo>
                    <a:pt x="78227" y="397764"/>
                    <a:pt x="82868" y="398427"/>
                    <a:pt x="86182" y="401742"/>
                  </a:cubicBezTo>
                  <a:lnTo>
                    <a:pt x="110711" y="426270"/>
                  </a:lnTo>
                  <a:cubicBezTo>
                    <a:pt x="114689" y="430248"/>
                    <a:pt x="121318" y="430248"/>
                    <a:pt x="125296" y="426270"/>
                  </a:cubicBezTo>
                  <a:lnTo>
                    <a:pt x="180320" y="371246"/>
                  </a:lnTo>
                  <a:cubicBezTo>
                    <a:pt x="184297" y="367269"/>
                    <a:pt x="184297" y="360639"/>
                    <a:pt x="180320" y="356662"/>
                  </a:cubicBezTo>
                  <a:lnTo>
                    <a:pt x="155791" y="332133"/>
                  </a:lnTo>
                  <a:cubicBezTo>
                    <a:pt x="152476" y="328818"/>
                    <a:pt x="151813" y="324178"/>
                    <a:pt x="153802" y="320200"/>
                  </a:cubicBezTo>
                  <a:cubicBezTo>
                    <a:pt x="159106" y="310256"/>
                    <a:pt x="163083" y="299649"/>
                    <a:pt x="166398" y="289042"/>
                  </a:cubicBezTo>
                  <a:cubicBezTo>
                    <a:pt x="167724" y="285064"/>
                    <a:pt x="171701" y="281750"/>
                    <a:pt x="175679" y="281750"/>
                  </a:cubicBezTo>
                  <a:lnTo>
                    <a:pt x="210152" y="281750"/>
                  </a:lnTo>
                  <a:cubicBezTo>
                    <a:pt x="215456" y="281750"/>
                    <a:pt x="220096" y="277109"/>
                    <a:pt x="220096" y="271805"/>
                  </a:cubicBezTo>
                  <a:lnTo>
                    <a:pt x="220096" y="194241"/>
                  </a:lnTo>
                  <a:cubicBezTo>
                    <a:pt x="220096" y="188938"/>
                    <a:pt x="215456" y="184297"/>
                    <a:pt x="210152" y="184297"/>
                  </a:cubicBezTo>
                  <a:lnTo>
                    <a:pt x="175016" y="184297"/>
                  </a:lnTo>
                  <a:cubicBezTo>
                    <a:pt x="170376" y="184297"/>
                    <a:pt x="167061" y="181646"/>
                    <a:pt x="165735" y="177668"/>
                  </a:cubicBezTo>
                  <a:cubicBezTo>
                    <a:pt x="162420" y="167061"/>
                    <a:pt x="157780" y="156454"/>
                    <a:pt x="153139" y="147173"/>
                  </a:cubicBezTo>
                  <a:cubicBezTo>
                    <a:pt x="151150" y="143195"/>
                    <a:pt x="151813" y="138554"/>
                    <a:pt x="155128" y="135240"/>
                  </a:cubicBezTo>
                  <a:lnTo>
                    <a:pt x="180320" y="110048"/>
                  </a:lnTo>
                  <a:cubicBezTo>
                    <a:pt x="184297" y="106070"/>
                    <a:pt x="184297" y="99441"/>
                    <a:pt x="180320" y="95463"/>
                  </a:cubicBezTo>
                  <a:lnTo>
                    <a:pt x="125296" y="40439"/>
                  </a:lnTo>
                  <a:cubicBezTo>
                    <a:pt x="121318" y="36462"/>
                    <a:pt x="114689" y="36462"/>
                    <a:pt x="110711" y="40439"/>
                  </a:cubicBezTo>
                  <a:lnTo>
                    <a:pt x="85519" y="65631"/>
                  </a:lnTo>
                  <a:cubicBezTo>
                    <a:pt x="82205" y="68946"/>
                    <a:pt x="77564" y="69609"/>
                    <a:pt x="73586" y="67620"/>
                  </a:cubicBezTo>
                  <a:cubicBezTo>
                    <a:pt x="63642" y="62316"/>
                    <a:pt x="53698" y="58339"/>
                    <a:pt x="43091" y="55024"/>
                  </a:cubicBezTo>
                  <a:cubicBezTo>
                    <a:pt x="39113" y="53698"/>
                    <a:pt x="35799" y="49721"/>
                    <a:pt x="35799" y="45743"/>
                  </a:cubicBezTo>
                  <a:lnTo>
                    <a:pt x="35799" y="6629"/>
                  </a:lnTo>
                  <a:cubicBezTo>
                    <a:pt x="35799" y="2652"/>
                    <a:pt x="32484" y="0"/>
                    <a:pt x="29169" y="0"/>
                  </a:cubicBezTo>
                  <a:lnTo>
                    <a:pt x="3315" y="0"/>
                  </a:lnTo>
                  <a:moveTo>
                    <a:pt x="1326" y="147836"/>
                  </a:moveTo>
                  <a:cubicBezTo>
                    <a:pt x="40439" y="154465"/>
                    <a:pt x="70935" y="187612"/>
                    <a:pt x="73586" y="228051"/>
                  </a:cubicBezTo>
                  <a:cubicBezTo>
                    <a:pt x="76901" y="274457"/>
                    <a:pt x="43754" y="313571"/>
                    <a:pt x="0" y="320200"/>
                  </a:cubicBezTo>
                </a:path>
              </a:pathLst>
            </a:custGeom>
            <a:noFill/>
            <a:ln w="12700" cap="flat">
              <a:solidFill>
                <a:schemeClr val="accent5"/>
              </a:solidFill>
              <a:prstDash val="solid"/>
              <a:round/>
            </a:ln>
          </p:spPr>
          <p:txBody>
            <a:bodyPr rtlCol="0" anchor="ctr"/>
            <a:lstStyle/>
            <a:p>
              <a:endParaRPr lang="en-US"/>
            </a:p>
          </p:txBody>
        </p:sp>
      </p:grpSp>
      <p:pic>
        <p:nvPicPr>
          <p:cNvPr id="99" name="Picture 19">
            <a:extLst>
              <a:ext uri="{FF2B5EF4-FFF2-40B4-BE49-F238E27FC236}">
                <a16:creationId xmlns:a16="http://schemas.microsoft.com/office/drawing/2014/main" id="{D5456089-4907-E3B1-286E-D0B8CBF9F0F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9230360" y="2103243"/>
            <a:ext cx="854742" cy="854742"/>
          </a:xfrm>
          <a:prstGeom prst="rect">
            <a:avLst/>
          </a:prstGeom>
        </p:spPr>
      </p:pic>
      <p:pic>
        <p:nvPicPr>
          <p:cNvPr id="100" name="Picture 99">
            <a:extLst>
              <a:ext uri="{FF2B5EF4-FFF2-40B4-BE49-F238E27FC236}">
                <a16:creationId xmlns:a16="http://schemas.microsoft.com/office/drawing/2014/main" id="{E5599D57-7F90-B449-FF5E-5E296D3C15C5}"/>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731520" y="2032774"/>
            <a:ext cx="995680" cy="995680"/>
          </a:xfrm>
          <a:prstGeom prst="rect">
            <a:avLst/>
          </a:prstGeom>
        </p:spPr>
      </p:pic>
      <p:pic>
        <p:nvPicPr>
          <p:cNvPr id="101" name="Picture 28">
            <a:extLst>
              <a:ext uri="{FF2B5EF4-FFF2-40B4-BE49-F238E27FC236}">
                <a16:creationId xmlns:a16="http://schemas.microsoft.com/office/drawing/2014/main" id="{6658F9A8-0C31-9681-AC10-54720D0E126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a:xfrm>
            <a:off x="6354688" y="2030882"/>
            <a:ext cx="1060358" cy="1060358"/>
          </a:xfrm>
          <a:prstGeom prst="rect">
            <a:avLst/>
          </a:prstGeom>
        </p:spPr>
      </p:pic>
      <p:sp>
        <p:nvSpPr>
          <p:cNvPr id="102" name="Slide Number Placeholder 2">
            <a:extLst>
              <a:ext uri="{FF2B5EF4-FFF2-40B4-BE49-F238E27FC236}">
                <a16:creationId xmlns:a16="http://schemas.microsoft.com/office/drawing/2014/main" id="{20D8D334-2D50-5B55-8BC2-BC8D39B66121}"/>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82000"/>
                  </a:schemeClr>
                </a:solidFill>
                <a:latin typeface="Amazon Ember Display" panose="020F06030202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B4B8DE2-A4E8-46E4-8BBF-D75455EFF32C}" type="slidenum">
              <a:rPr kumimoji="0" lang="en-US" sz="1200" b="0" i="0" u="none" strike="noStrike" kern="1200" cap="none" spc="0" normalizeH="0" baseline="0" noProof="0" smtClean="0">
                <a:ln>
                  <a:noFill/>
                </a:ln>
                <a:solidFill>
                  <a:prstClr val="black">
                    <a:tint val="82000"/>
                  </a:prstClr>
                </a:solidFill>
                <a:effectLst/>
                <a:uLnTx/>
                <a:uFillTx/>
                <a:latin typeface="Amazon Ember Display" panose="020F0603020204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tint val="82000"/>
                </a:prstClr>
              </a:solidFill>
              <a:effectLst/>
              <a:uLnTx/>
              <a:uFillTx/>
              <a:latin typeface="Amazon Ember Display" panose="020F0603020204020204" pitchFamily="34" charset="0"/>
              <a:ea typeface="+mn-ea"/>
              <a:cs typeface="+mn-cs"/>
            </a:endParaRPr>
          </a:p>
        </p:txBody>
      </p:sp>
    </p:spTree>
    <p:extLst>
      <p:ext uri="{BB962C8B-B14F-4D97-AF65-F5344CB8AC3E}">
        <p14:creationId xmlns:p14="http://schemas.microsoft.com/office/powerpoint/2010/main" val="902145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07A020-E3CC-4B96-AC45-FCD9859908F2}"/>
              </a:ext>
            </a:extLst>
          </p:cNvPr>
          <p:cNvSpPr>
            <a:spLocks noGrp="1"/>
          </p:cNvSpPr>
          <p:nvPr>
            <p:ph type="body" sz="quarter" idx="10"/>
          </p:nvPr>
        </p:nvSpPr>
        <p:spPr/>
        <p:txBody>
          <a:bodyPr/>
          <a:lstStyle/>
          <a:p>
            <a:endParaRPr lang="en-US" dirty="0"/>
          </a:p>
        </p:txBody>
      </p:sp>
      <p:sp>
        <p:nvSpPr>
          <p:cNvPr id="4" name="Text Placeholder 3">
            <a:extLst>
              <a:ext uri="{FF2B5EF4-FFF2-40B4-BE49-F238E27FC236}">
                <a16:creationId xmlns:a16="http://schemas.microsoft.com/office/drawing/2014/main" id="{FA68AFE9-BA39-4145-A8A9-3C014FD86748}"/>
              </a:ext>
            </a:extLst>
          </p:cNvPr>
          <p:cNvSpPr>
            <a:spLocks noGrp="1"/>
          </p:cNvSpPr>
          <p:nvPr>
            <p:ph type="body" sz="quarter" idx="11"/>
          </p:nvPr>
        </p:nvSpPr>
        <p:spPr>
          <a:xfrm>
            <a:off x="619125" y="3990975"/>
            <a:ext cx="1994088" cy="313932"/>
          </a:xfrm>
        </p:spPr>
        <p:txBody>
          <a:bodyPr/>
          <a:lstStyle/>
          <a:p>
            <a:endParaRPr lang="en-US" dirty="0"/>
          </a:p>
        </p:txBody>
      </p:sp>
      <p:sp>
        <p:nvSpPr>
          <p:cNvPr id="5" name="Text Placeholder 4">
            <a:extLst>
              <a:ext uri="{FF2B5EF4-FFF2-40B4-BE49-F238E27FC236}">
                <a16:creationId xmlns:a16="http://schemas.microsoft.com/office/drawing/2014/main" id="{2F2099EE-682D-484F-A8A5-8DB2F177C264}"/>
              </a:ext>
            </a:extLst>
          </p:cNvPr>
          <p:cNvSpPr>
            <a:spLocks noGrp="1"/>
          </p:cNvSpPr>
          <p:nvPr>
            <p:ph type="body" sz="quarter" idx="12"/>
          </p:nvPr>
        </p:nvSpPr>
        <p:spPr/>
        <p:txBody>
          <a:bodyPr/>
          <a:lstStyle/>
          <a:p>
            <a:endParaRPr lang="en-US" dirty="0"/>
          </a:p>
        </p:txBody>
      </p:sp>
      <p:sp>
        <p:nvSpPr>
          <p:cNvPr id="6" name="Text Placeholder 5">
            <a:extLst>
              <a:ext uri="{FF2B5EF4-FFF2-40B4-BE49-F238E27FC236}">
                <a16:creationId xmlns:a16="http://schemas.microsoft.com/office/drawing/2014/main" id="{EF152D8F-E291-48DF-B9A3-F234293E70E2}"/>
              </a:ext>
            </a:extLst>
          </p:cNvPr>
          <p:cNvSpPr>
            <a:spLocks noGrp="1"/>
          </p:cNvSpPr>
          <p:nvPr>
            <p:ph type="body" sz="quarter" idx="13"/>
          </p:nvPr>
        </p:nvSpPr>
        <p:spPr>
          <a:xfrm>
            <a:off x="2714625" y="3990975"/>
            <a:ext cx="1994088" cy="313932"/>
          </a:xfrm>
        </p:spPr>
        <p:txBody>
          <a:bodyPr/>
          <a:lstStyle/>
          <a:p>
            <a:endParaRPr lang="en-US" dirty="0"/>
          </a:p>
        </p:txBody>
      </p:sp>
      <p:sp>
        <p:nvSpPr>
          <p:cNvPr id="7" name="Text Placeholder 6">
            <a:extLst>
              <a:ext uri="{FF2B5EF4-FFF2-40B4-BE49-F238E27FC236}">
                <a16:creationId xmlns:a16="http://schemas.microsoft.com/office/drawing/2014/main" id="{DE78C4E4-511B-49E3-8FAD-1AE9BC248C79}"/>
              </a:ext>
            </a:extLst>
          </p:cNvPr>
          <p:cNvSpPr>
            <a:spLocks noGrp="1"/>
          </p:cNvSpPr>
          <p:nvPr>
            <p:ph type="body" sz="quarter" idx="14"/>
          </p:nvPr>
        </p:nvSpPr>
        <p:spPr/>
        <p:txBody>
          <a:bodyPr/>
          <a:lstStyle/>
          <a:p>
            <a:endParaRPr lang="en-US" dirty="0"/>
          </a:p>
        </p:txBody>
      </p:sp>
      <p:sp>
        <p:nvSpPr>
          <p:cNvPr id="8" name="Text Placeholder 7">
            <a:extLst>
              <a:ext uri="{FF2B5EF4-FFF2-40B4-BE49-F238E27FC236}">
                <a16:creationId xmlns:a16="http://schemas.microsoft.com/office/drawing/2014/main" id="{51CA35D5-7D4A-49C3-8742-19972DA6D844}"/>
              </a:ext>
            </a:extLst>
          </p:cNvPr>
          <p:cNvSpPr>
            <a:spLocks noGrp="1"/>
          </p:cNvSpPr>
          <p:nvPr>
            <p:ph type="body" sz="quarter" idx="15"/>
          </p:nvPr>
        </p:nvSpPr>
        <p:spPr>
          <a:xfrm>
            <a:off x="4810125" y="3990975"/>
            <a:ext cx="1994088" cy="313932"/>
          </a:xfrm>
        </p:spPr>
        <p:txBody>
          <a:bodyPr/>
          <a:lstStyle/>
          <a:p>
            <a:endParaRPr lang="en-US" dirty="0"/>
          </a:p>
        </p:txBody>
      </p:sp>
    </p:spTree>
    <p:extLst>
      <p:ext uri="{BB962C8B-B14F-4D97-AF65-F5344CB8AC3E}">
        <p14:creationId xmlns:p14="http://schemas.microsoft.com/office/powerpoint/2010/main" val="2382536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AWS Confidential Light">
  <a:themeElements>
    <a:clrScheme name="AWS APN Coseller 1">
      <a:dk1>
        <a:srgbClr val="161D26"/>
      </a:dk1>
      <a:lt1>
        <a:srgbClr val="FFFFFF"/>
      </a:lt1>
      <a:dk2>
        <a:srgbClr val="333843"/>
      </a:dk2>
      <a:lt2>
        <a:srgbClr val="F6F6F9"/>
      </a:lt2>
      <a:accent1>
        <a:srgbClr val="660052"/>
      </a:accent1>
      <a:accent2>
        <a:srgbClr val="8F0071"/>
      </a:accent2>
      <a:accent3>
        <a:srgbClr val="B2008F"/>
      </a:accent3>
      <a:accent4>
        <a:srgbClr val="D600BA"/>
      </a:accent4>
      <a:accent5>
        <a:srgbClr val="FFE0FB"/>
      </a:accent5>
      <a:accent6>
        <a:srgbClr val="656871"/>
      </a:accent6>
      <a:hlink>
        <a:srgbClr val="660052"/>
      </a:hlink>
      <a:folHlink>
        <a:srgbClr val="660052"/>
      </a:folHlink>
    </a:clrScheme>
    <a:fontScheme name="Ember Heavy and Ember">
      <a:majorFont>
        <a:latin typeface="Amazon Ember Display"/>
        <a:ea typeface=""/>
        <a:cs typeface=""/>
      </a:majorFont>
      <a:minorFont>
        <a:latin typeface="Amazon Ember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45720" tIns="45720" rIns="4572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tx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l">
          <a:defRPr dirty="0" err="1" smtClean="0"/>
        </a:defPPr>
      </a:lstStyle>
    </a:txDef>
  </a:objectDefaults>
  <a:extraClrSchemeLst/>
  <a:extLst>
    <a:ext uri="{05A4C25C-085E-4340-85A3-A5531E510DB2}">
      <thm15:themeFamily xmlns:thm15="http://schemas.microsoft.com/office/thememl/2012/main" name="Presentation2" id="{9669ED17-9462-D14C-B6E5-447B788E9B2B}" vid="{91E6B8BE-7767-2D49-A594-4B5A32E9F08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5583</TotalTime>
  <Words>1857</Words>
  <Application>Microsoft Office PowerPoint</Application>
  <PresentationFormat>Widescreen</PresentationFormat>
  <Paragraphs>143</Paragraphs>
  <Slides>12</Slides>
  <Notes>12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12</vt:i4>
      </vt:variant>
    </vt:vector>
  </HeadingPairs>
  <TitlesOfParts>
    <vt:vector size="23" baseType="lpstr">
      <vt:lpstr>Amazon Ember</vt:lpstr>
      <vt:lpstr>Amazon Ember Display</vt:lpstr>
      <vt:lpstr>Amazon Ember Mono</vt:lpstr>
      <vt:lpstr>Aptos</vt:lpstr>
      <vt:lpstr>Aptos Display</vt:lpstr>
      <vt:lpstr>Arial</vt:lpstr>
      <vt:lpstr>Calibri</vt:lpstr>
      <vt:lpstr>Twemoji Country Flags</vt:lpstr>
      <vt:lpstr>Wingdings</vt:lpstr>
      <vt:lpstr>Office Theme</vt:lpstr>
      <vt:lpstr>AWS Confidential Light</vt:lpstr>
      <vt:lpstr>AWS ISV Accelerate Program</vt:lpstr>
      <vt:lpstr>Agenda</vt:lpstr>
      <vt:lpstr>AWS ISV  Accelerate Program </vt:lpstr>
      <vt:lpstr>Co-selling with AWS</vt:lpstr>
      <vt:lpstr>Why co-sell with AWS?</vt:lpstr>
      <vt:lpstr>Partnering with AWS has delivered proven results in an unheard-of time frame. Eight months in, our Partnership is a key component of every sales motion we have. We’re both customer obsessed, and quickly align on each and every deal. Seeing deals close faster, convert better, expand in scope and size is the magic powder that enables us to grow faster and more efficient.</vt:lpstr>
      <vt:lpstr>PowerPoint Presentation</vt:lpstr>
      <vt:lpstr>PowerPoint Presentation</vt:lpstr>
      <vt:lpstr>PowerPoint Presentation</vt:lpstr>
      <vt:lpstr>Being a part of the ISV Accelerate Program represents a game-changing opportunity for our team to scale and mature the ways in which we co-sell with AWS. [The SaaS Co-Sell Benefit] is the mechanism through which our teams in the field see their AWS counterparts incentivized to collaborate. This builds a confidence in the mutual benefit of co-sell for Contentsquare, AWS and our shared customers that represents an exciting new chapter for our Partnership.</vt:lpstr>
      <vt:lpstr>Resources</vt:lpstr>
      <vt:lpstr>PowerPoint Presentation</vt:lpstr>
    </vt:vector>
  </TitlesOfParts>
  <Company>Amazon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France, Luana</dc:creator>
  <cp:lastModifiedBy>Schrader, Macey</cp:lastModifiedBy>
  <cp:revision>6</cp:revision>
  <dcterms:created xsi:type="dcterms:W3CDTF">2025-11-26T17:36:28Z</dcterms:created>
  <dcterms:modified xsi:type="dcterms:W3CDTF">2026-02-09T16:35:28Z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2025-11-26T21:00:21Z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b5f873db-76eb-4173-a073-fd5a6c08bac0</vt:lpwstr>
  </property>
  <property fmtid="{D5CDD505-2E9C-101B-9397-08002B2CF9AE}" pid="8" name="MSIP_Label_19e68092-05df-4271-8e3e-b2a4c82ba797_ContentBits">
    <vt:lpwstr>0</vt:lpwstr>
  </property>
  <property fmtid="{D5CDD505-2E9C-101B-9397-08002B2CF9AE}" pid="9" name="MSIP_Label_19e68092-05df-4271-8e3e-b2a4c82ba797_Tag">
    <vt:lpwstr>10, 3, 0, 1</vt:lpwstr>
  </property>
</Properties>
</file>