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1371600"/>
            <a:ext cx="10058400" cy="1097280"/>
          </a:xfrm>
          <a:prstGeom prst="rect">
            <a:avLst/>
          </a:prstGeom>
          <a:noFill/>
        </p:spPr>
        <p:txBody>
          <a:bodyPr wrap="square">
            <a:spAutoFit/>
          </a:bodyPr>
          <a:lstStyle/>
          <a:p>
            <a:pPr algn="l">
              <a:defRPr sz="4800" b="1">
                <a:solidFill>
                  <a:srgbClr val="2D2D2D"/>
                </a:solidFill>
              </a:defRPr>
            </a:pPr>
            <a:r>
              <a:t>Gregory Black</a:t>
            </a:r>
          </a:p>
        </p:txBody>
      </p:sp>
      <p:sp>
        <p:nvSpPr>
          <p:cNvPr id="3" name="Rectangle 2"/>
          <p:cNvSpPr/>
          <p:nvPr/>
        </p:nvSpPr>
        <p:spPr>
          <a:xfrm>
            <a:off x="731520" y="25603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2834640"/>
            <a:ext cx="10058400" cy="1371600"/>
          </a:xfrm>
          <a:prstGeom prst="rect">
            <a:avLst/>
          </a:prstGeom>
          <a:noFill/>
        </p:spPr>
        <p:txBody>
          <a:bodyPr wrap="square">
            <a:spAutoFit/>
          </a:bodyPr>
          <a:lstStyle/>
          <a:p>
            <a:pPr algn="l">
              <a:defRPr sz="2200" b="0">
                <a:solidFill>
                  <a:srgbClr val="666666"/>
                </a:solidFill>
              </a:defRPr>
            </a:pPr>
            <a:r>
              <a:t>Client Research Dossier</a:t>
            </a:r>
            <a:br/>
            <a:r>
              <a:t>Data &amp; Automation Expert | Agentic Engineering | Claude Code SDK</a:t>
            </a:r>
          </a:p>
        </p:txBody>
      </p:sp>
      <p:sp>
        <p:nvSpPr>
          <p:cNvPr id="5" name="TextBox 4"/>
          <p:cNvSpPr txBox="1"/>
          <p:nvPr/>
        </p:nvSpPr>
        <p:spPr>
          <a:xfrm>
            <a:off x="731520" y="5029200"/>
            <a:ext cx="5486400" cy="457200"/>
          </a:xfrm>
          <a:prstGeom prst="rect">
            <a:avLst/>
          </a:prstGeom>
          <a:noFill/>
        </p:spPr>
        <p:txBody>
          <a:bodyPr wrap="square">
            <a:spAutoFit/>
          </a:bodyPr>
          <a:lstStyle/>
          <a:p>
            <a:pPr algn="l">
              <a:defRPr sz="1400" b="0">
                <a:solidFill>
                  <a:srgbClr val="666666"/>
                </a:solidFill>
              </a:defRPr>
            </a:pPr>
            <a:r>
              <a:t>GBAutomation Consulting  |  March 8,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Profile Overview</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600" b="0">
                <a:solidFill>
                  <a:srgbClr val="2D2D2D"/>
                </a:solidFill>
              </a:defRPr>
            </a:pPr>
            <a:r>
              <a:t>Name:  Gregory Black</a:t>
            </a:r>
          </a:p>
          <a:p>
            <a:pPr>
              <a:spcBef>
                <a:spcPts val="400"/>
              </a:spcBef>
              <a:defRPr sz="1600" b="0">
                <a:solidFill>
                  <a:srgbClr val="2D2D2D"/>
                </a:solidFill>
              </a:defRPr>
            </a:pPr>
            <a:r>
              <a:t>Headline:  Data &amp; Automation Expert | Agentic Engineering | Production-Ready AI Pipelines | Claude Code SDK Implementations</a:t>
            </a:r>
          </a:p>
          <a:p>
            <a:pPr>
              <a:spcBef>
                <a:spcPts val="400"/>
              </a:spcBef>
              <a:defRPr sz="1600" b="0">
                <a:solidFill>
                  <a:srgbClr val="2D2D2D"/>
                </a:solidFill>
              </a:defRPr>
            </a:pPr>
            <a:r>
              <a:t>Location:  New York, New York (bio says Venice, LA)</a:t>
            </a:r>
          </a:p>
          <a:p>
            <a:pPr>
              <a:spcBef>
                <a:spcPts val="400"/>
              </a:spcBef>
              <a:defRPr sz="1600" b="0">
                <a:solidFill>
                  <a:srgbClr val="2D2D2D"/>
                </a:solidFill>
              </a:defRPr>
            </a:pPr>
            <a:r>
              <a:t>Current Role:  Lead AI Engineer at Accenture Federal Services (Jan 2026)</a:t>
            </a:r>
          </a:p>
          <a:p>
            <a:pPr>
              <a:spcBef>
                <a:spcPts val="400"/>
              </a:spcBef>
              <a:defRPr sz="1600" b="0">
                <a:solidFill>
                  <a:srgbClr val="2D2D2D"/>
                </a:solidFill>
              </a:defRPr>
            </a:pPr>
            <a:r>
              <a:t>Side Business:  GB Automation — Claude Code-driven agentic systems (Jun 2024)</a:t>
            </a:r>
          </a:p>
          <a:p>
            <a:pPr>
              <a:spcBef>
                <a:spcPts val="400"/>
              </a:spcBef>
              <a:defRPr sz="1600" b="0">
                <a:solidFill>
                  <a:srgbClr val="2D2D2D"/>
                </a:solidFill>
              </a:defRPr>
            </a:pPr>
            <a:r>
              <a:t>Education:  Penn State (BS Real Estate Economics) + UC Irvine (Data Analytics)</a:t>
            </a:r>
          </a:p>
          <a:p>
            <a:pPr>
              <a:spcBef>
                <a:spcPts val="400"/>
              </a:spcBef>
              <a:defRPr sz="1600" b="0">
                <a:solidFill>
                  <a:srgbClr val="2D2D2D"/>
                </a:solidFill>
              </a:defRPr>
            </a:pPr>
            <a:r>
              <a:t>Connections:  500+ LinkedIn | 1,428 IG | ~3M Threads</a:t>
            </a:r>
          </a:p>
          <a:p>
            <a:pPr>
              <a:spcBef>
                <a:spcPts val="400"/>
              </a:spcBef>
              <a:defRPr sz="1600" b="0">
                <a:solidFill>
                  <a:srgbClr val="2D2D2D"/>
                </a:solidFill>
              </a:defRPr>
            </a:pPr>
            <a:r>
              <a:t>LinkedIn:  linkedin.com/in/gregory-black-gbautomation/</a:t>
            </a:r>
          </a:p>
          <a:p>
            <a:pPr>
              <a:spcBef>
                <a:spcPts val="400"/>
              </a:spcBef>
              <a:defRPr sz="1600" b="0">
                <a:solidFill>
                  <a:srgbClr val="2D2D2D"/>
                </a:solidFill>
              </a:defRPr>
            </a:pPr>
            <a:r>
              <a:t>Instagram:  @gregorablack | @gb.noir.lugar (secondary)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Career Timeline</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5029200"/>
          </a:xfrm>
          <a:prstGeom prst="rect">
            <a:avLst/>
          </a:prstGeom>
          <a:noFill/>
        </p:spPr>
        <p:txBody>
          <a:bodyPr wrap="square">
            <a:spAutoFit/>
          </a:bodyPr>
          <a:lstStyle/>
          <a:p>
            <a:pPr algn="l">
              <a:defRPr sz="1400" b="0">
                <a:solidFill>
                  <a:srgbClr val="2D2D2D"/>
                </a:solidFill>
              </a:defRPr>
            </a:pPr>
          </a:p>
          <a:p>
            <a:pPr>
              <a:spcBef>
                <a:spcPts val="400"/>
              </a:spcBef>
              <a:defRPr sz="1500" b="1">
                <a:solidFill>
                  <a:srgbClr val="2D2D2D"/>
                </a:solidFill>
              </a:defRPr>
            </a:pPr>
            <a:r>
              <a:t>2026 – Present  —  Lead AI Engineer  @  Accenture Federal Services</a:t>
            </a:r>
          </a:p>
          <a:p>
            <a:pPr>
              <a:spcBef>
                <a:spcPts val="400"/>
              </a:spcBef>
              <a:defRPr sz="1300" b="0">
                <a:solidFill>
                  <a:srgbClr val="666666"/>
                </a:solidFill>
              </a:defRPr>
            </a:pPr>
            <a:r>
              <a:t>     Full-time, 3 months</a:t>
            </a:r>
          </a:p>
          <a:p>
            <a:pPr>
              <a:spcBef>
                <a:spcPts val="400"/>
              </a:spcBef>
              <a:defRPr sz="1500" b="1">
                <a:solidFill>
                  <a:srgbClr val="2D2D2D"/>
                </a:solidFill>
              </a:defRPr>
            </a:pPr>
            <a:r>
              <a:t>2024 – Present  —  Founder / AI Consultant  @  GB Automation (Self-employed)</a:t>
            </a:r>
          </a:p>
          <a:p>
            <a:pPr>
              <a:spcBef>
                <a:spcPts val="400"/>
              </a:spcBef>
              <a:defRPr sz="1300" b="0">
                <a:solidFill>
                  <a:srgbClr val="666666"/>
                </a:solidFill>
              </a:defRPr>
            </a:pPr>
            <a:r>
              <a:t>     Claude Code agentic systems, 1yr 10 mos</a:t>
            </a:r>
          </a:p>
          <a:p>
            <a:pPr>
              <a:spcBef>
                <a:spcPts val="400"/>
              </a:spcBef>
              <a:defRPr sz="1500" b="1">
                <a:solidFill>
                  <a:srgbClr val="2D2D2D"/>
                </a:solidFill>
              </a:defRPr>
            </a:pPr>
            <a:r>
              <a:t>~2021 – 2024  —  Sr Data and AI Engineer  @  (Company visible in profile)</a:t>
            </a:r>
          </a:p>
          <a:p>
            <a:pPr>
              <a:spcBef>
                <a:spcPts val="400"/>
              </a:spcBef>
              <a:defRPr sz="1300" b="0">
                <a:solidFill>
                  <a:srgbClr val="666666"/>
                </a:solidFill>
              </a:defRPr>
            </a:pPr>
            <a:r>
              <a:t>     ETL, PowerShell, Power Automate, ArcGIS, PBI</a:t>
            </a:r>
          </a:p>
          <a:p>
            <a:pPr>
              <a:spcBef>
                <a:spcPts val="400"/>
              </a:spcBef>
              <a:defRPr sz="1500" b="1">
                <a:solidFill>
                  <a:srgbClr val="2D2D2D"/>
                </a:solidFill>
              </a:defRPr>
            </a:pPr>
            <a:r>
              <a:t>2019 – 2021  —  Data Science Associate  @  Axtria - Ingenious Insights</a:t>
            </a:r>
          </a:p>
          <a:p>
            <a:pPr>
              <a:spcBef>
                <a:spcPts val="400"/>
              </a:spcBef>
              <a:defRPr sz="1300" b="0">
                <a:solidFill>
                  <a:srgbClr val="666666"/>
                </a:solidFill>
              </a:defRPr>
            </a:pPr>
            <a:r>
              <a:t>     Pharma consulting, Dataiku DSS, 1B+ records in Redshift</a:t>
            </a:r>
          </a:p>
          <a:p>
            <a:pPr>
              <a:spcBef>
                <a:spcPts val="400"/>
              </a:spcBef>
              <a:defRPr sz="1500" b="1">
                <a:solidFill>
                  <a:srgbClr val="2D2D2D"/>
                </a:solidFill>
              </a:defRPr>
            </a:pPr>
            <a:r>
              <a:t>2019  —  Excel VBA Consulting  @  Econsult (Santiago, Chile)</a:t>
            </a:r>
          </a:p>
          <a:p>
            <a:pPr>
              <a:spcBef>
                <a:spcPts val="400"/>
              </a:spcBef>
              <a:defRPr sz="1300" b="0">
                <a:solidFill>
                  <a:srgbClr val="666666"/>
                </a:solidFill>
              </a:defRPr>
            </a:pPr>
            <a:r>
              <a:t>     6 months international consulting</a:t>
            </a:r>
          </a:p>
          <a:p>
            <a:pPr>
              <a:spcBef>
                <a:spcPts val="400"/>
              </a:spcBef>
              <a:defRPr sz="1500" b="1">
                <a:solidFill>
                  <a:srgbClr val="2D2D2D"/>
                </a:solidFill>
              </a:defRPr>
            </a:pPr>
            <a:r>
              <a:t>2017 – 2018  —  Associate  @  Province West (LA)</a:t>
            </a:r>
          </a:p>
          <a:p>
            <a:pPr>
              <a:spcBef>
                <a:spcPts val="400"/>
              </a:spcBef>
              <a:defRPr sz="1300" b="0">
                <a:solidFill>
                  <a:srgbClr val="666666"/>
                </a:solidFill>
              </a:defRPr>
            </a:pPr>
            <a:r>
              <a:t>     Land acquisitions, real estate development</a:t>
            </a:r>
          </a:p>
          <a:p>
            <a:pPr>
              <a:spcBef>
                <a:spcPts val="400"/>
              </a:spcBef>
              <a:defRPr sz="1500" b="1">
                <a:solidFill>
                  <a:srgbClr val="2D2D2D"/>
                </a:solidFill>
              </a:defRPr>
            </a:pPr>
            <a:r>
              <a:t>2015 – 2016  —  Analyst  @  The Abbey Company (LA)</a:t>
            </a:r>
          </a:p>
          <a:p>
            <a:pPr>
              <a:spcBef>
                <a:spcPts val="400"/>
              </a:spcBef>
              <a:defRPr sz="1300" b="0">
                <a:solidFill>
                  <a:srgbClr val="666666"/>
                </a:solidFill>
              </a:defRPr>
            </a:pPr>
            <a:r>
              <a:t>     CRE operations, 150K sf property mgmt</a:t>
            </a:r>
          </a:p>
          <a:p>
            <a:pPr>
              <a:spcBef>
                <a:spcPts val="400"/>
              </a:spcBef>
              <a:defRPr sz="1500" b="1">
                <a:solidFill>
                  <a:srgbClr val="2D2D2D"/>
                </a:solidFill>
              </a:defRPr>
            </a:pPr>
            <a:r>
              <a:t>2014  —  Capital Markets Intern  @  Cassidy Turley (NYC)</a:t>
            </a:r>
          </a:p>
          <a:p>
            <a:pPr>
              <a:spcBef>
                <a:spcPts val="400"/>
              </a:spcBef>
              <a:defRPr sz="1300" b="0">
                <a:solidFill>
                  <a:srgbClr val="666666"/>
                </a:solidFill>
              </a:defRPr>
            </a:pPr>
            <a:r>
              <a:t>     DCF, lease analyses, waterfall structures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Company Deep Dive</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D97757"/>
                </a:solidFill>
              </a:defRPr>
            </a:pPr>
            <a:r>
              <a:t>Accenture Federal Services (AFS)</a:t>
            </a:r>
          </a:p>
          <a:p>
            <a:pPr>
              <a:spcBef>
                <a:spcPts val="400"/>
              </a:spcBef>
              <a:defRPr sz="1500" b="0">
                <a:solidFill>
                  <a:srgbClr val="2D2D2D"/>
                </a:solidFill>
              </a:defRPr>
            </a:pPr>
            <a:r>
              <a:t>Federal IT consulting arm of Accenture</a:t>
            </a:r>
          </a:p>
          <a:p>
            <a:pPr>
              <a:spcBef>
                <a:spcPts val="400"/>
              </a:spcBef>
              <a:defRPr sz="1500" b="0">
                <a:solidFill>
                  <a:srgbClr val="2D2D2D"/>
                </a:solidFill>
              </a:defRPr>
            </a:pPr>
            <a:r>
              <a:t>Serves DoD, Intel Community, civilian agencies</a:t>
            </a:r>
          </a:p>
          <a:p>
            <a:pPr>
              <a:spcBef>
                <a:spcPts val="400"/>
              </a:spcBef>
              <a:defRPr sz="1500" b="0">
                <a:solidFill>
                  <a:srgbClr val="2D2D2D"/>
                </a:solidFill>
              </a:defRPr>
            </a:pPr>
            <a:r>
              <a:t>~$5.5B revenue, 15,500 employees</a:t>
            </a:r>
          </a:p>
          <a:p>
            <a:pPr>
              <a:spcBef>
                <a:spcPts val="400"/>
              </a:spcBef>
              <a:defRPr sz="1500" b="0">
                <a:solidFill>
                  <a:srgbClr val="2D2D2D"/>
                </a:solidFill>
              </a:defRPr>
            </a:pPr>
            <a:r>
              <a:t>#11 Top 100 US Government Contractors</a:t>
            </a:r>
          </a:p>
          <a:p>
            <a:pPr>
              <a:spcBef>
                <a:spcPts val="400"/>
              </a:spcBef>
              <a:defRPr sz="1500" b="0">
                <a:solidFill>
                  <a:srgbClr val="2D2D2D"/>
                </a:solidFill>
              </a:defRPr>
            </a:pPr>
            <a:r>
              <a:t>HQ: Arlington, VA | afs.com</a:t>
            </a:r>
          </a:p>
          <a:p>
            <a:pPr>
              <a:spcBef>
                <a:spcPts val="400"/>
              </a:spcBef>
              <a:defRPr sz="1500" b="0">
                <a:solidFill>
                  <a:srgbClr val="2D2D2D"/>
                </a:solidFill>
              </a:defRPr>
            </a:pPr>
            <a:r>
              <a:t>Focus: AI/GenAI, cloud, cybersecurity, Salesforce/ServiceNow</a:t>
            </a:r>
          </a:p>
          <a:p>
            <a:pPr>
              <a:spcBef>
                <a:spcPts val="400"/>
              </a:spcBef>
              <a:defRPr sz="1500" b="0">
                <a:solidFill>
                  <a:srgbClr val="2D2D2D"/>
                </a:solidFill>
              </a:defRPr>
            </a:pPr>
            <a:r>
              <a:t>CEO: Ron Ash (appointed Sep 2024)</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D97757"/>
                </a:solidFill>
              </a:defRPr>
            </a:pPr>
            <a:r>
              <a:t>GB Automation (Side Business)</a:t>
            </a:r>
          </a:p>
          <a:p>
            <a:pPr>
              <a:spcBef>
                <a:spcPts val="400"/>
              </a:spcBef>
              <a:defRPr sz="1500" b="0">
                <a:solidFill>
                  <a:srgbClr val="2D2D2D"/>
                </a:solidFill>
              </a:defRPr>
            </a:pPr>
            <a:r>
              <a:t>gbautomation.xyz (under construction)</a:t>
            </a:r>
          </a:p>
          <a:p>
            <a:pPr>
              <a:spcBef>
                <a:spcPts val="400"/>
              </a:spcBef>
              <a:defRPr sz="1500" b="0">
                <a:solidFill>
                  <a:srgbClr val="2D2D2D"/>
                </a:solidFill>
              </a:defRPr>
            </a:pPr>
            <a:r>
              <a:t>Self-employed since Jun 2024</a:t>
            </a:r>
          </a:p>
          <a:p>
            <a:pPr>
              <a:spcBef>
                <a:spcPts val="400"/>
              </a:spcBef>
              <a:defRPr sz="1500" b="0">
                <a:solidFill>
                  <a:srgbClr val="2D2D2D"/>
                </a:solidFill>
              </a:defRPr>
            </a:pPr>
            <a:r>
              <a:t>25+ n8n/Zapier automations, 5+ Supabase backends</a:t>
            </a:r>
          </a:p>
          <a:p>
            <a:pPr>
              <a:spcBef>
                <a:spcPts val="400"/>
              </a:spcBef>
              <a:defRPr sz="1500" b="0">
                <a:solidFill>
                  <a:srgbClr val="2D2D2D"/>
                </a:solidFill>
              </a:defRPr>
            </a:pPr>
            <a:r>
              <a:t>Clients: UK FinTech, Private Jet Co, Music Mgmt</a:t>
            </a:r>
          </a:p>
          <a:p>
            <a:pPr>
              <a:spcBef>
                <a:spcPts val="400"/>
              </a:spcBef>
              <a:defRPr sz="1500" b="0">
                <a:solidFill>
                  <a:srgbClr val="2D2D2D"/>
                </a:solidFill>
              </a:defRPr>
            </a:pPr>
            <a:r>
              <a:t>Tech: Claude API, LangChain, RAG, LangGraph, OpenRouter</a:t>
            </a:r>
          </a:p>
          <a:p>
            <a:pPr>
              <a:spcBef>
                <a:spcPts val="400"/>
              </a:spcBef>
              <a:defRPr sz="1500" b="0">
                <a:solidFill>
                  <a:srgbClr val="2D2D2D"/>
                </a:solidFill>
              </a:defRPr>
            </a:pPr>
            <a:r>
              <a:t>Booking link in Instagram bio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GB Automation — Notable Projects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5029200"/>
          </a:xfrm>
          <a:prstGeom prst="rect">
            <a:avLst/>
          </a:prstGeom>
          <a:noFill/>
        </p:spPr>
        <p:txBody>
          <a:bodyPr wrap="square">
            <a:spAutoFit/>
          </a:bodyPr>
          <a:lstStyle/>
          <a:p>
            <a:pPr algn="l">
              <a:defRPr sz="1400" b="0">
                <a:solidFill>
                  <a:srgbClr val="2D2D2D"/>
                </a:solidFill>
              </a:defRPr>
            </a:pPr>
          </a:p>
          <a:p>
            <a:pPr>
              <a:spcBef>
                <a:spcPts val="400"/>
              </a:spcBef>
              <a:defRPr sz="1600" b="1">
                <a:solidFill>
                  <a:srgbClr val="D97757"/>
                </a:solidFill>
              </a:defRPr>
            </a:pPr>
            <a:r>
              <a:t>AI Sales Operations System (FinTech)</a:t>
            </a:r>
          </a:p>
          <a:p>
            <a:pPr>
              <a:spcBef>
                <a:spcPts val="400"/>
              </a:spcBef>
              <a:defRPr sz="1400" b="0">
                <a:solidFill>
                  <a:srgbClr val="666666"/>
                </a:solidFill>
              </a:defRPr>
            </a:pPr>
            <a:r>
              <a:t>  End-to-end sales ops: CRM, outreach automation, performance analytics for UK financial advisory</a:t>
            </a:r>
          </a:p>
          <a:p>
            <a:pPr>
              <a:spcBef>
                <a:spcPts val="400"/>
              </a:spcBef>
              <a:defRPr sz="1600" b="1">
                <a:solidFill>
                  <a:srgbClr val="D97757"/>
                </a:solidFill>
              </a:defRPr>
            </a:pPr>
            <a:r>
              <a:t>Private Jet Lead Generation</a:t>
            </a:r>
          </a:p>
          <a:p>
            <a:pPr>
              <a:spcBef>
                <a:spcPts val="400"/>
              </a:spcBef>
              <a:defRPr sz="1400" b="0">
                <a:solidFill>
                  <a:srgbClr val="666666"/>
                </a:solidFill>
              </a:defRPr>
            </a:pPr>
            <a:r>
              <a:t>  Automated lead gen + opportunity mgmt with PDF parsing and Salesforce integration</a:t>
            </a:r>
          </a:p>
          <a:p>
            <a:pPr>
              <a:spcBef>
                <a:spcPts val="400"/>
              </a:spcBef>
              <a:defRPr sz="1600" b="1">
                <a:solidFill>
                  <a:srgbClr val="D97757"/>
                </a:solidFill>
              </a:defRPr>
            </a:pPr>
            <a:r>
              <a:t>SMB Acquisition AI Consultant</a:t>
            </a:r>
          </a:p>
          <a:p>
            <a:pPr>
              <a:spcBef>
                <a:spcPts val="400"/>
              </a:spcBef>
              <a:defRPr sz="1400" b="0">
                <a:solidFill>
                  <a:srgbClr val="666666"/>
                </a:solidFill>
              </a:defRPr>
            </a:pPr>
            <a:r>
              <a:t>  LLM-powered consultation using fine-tuned models from real consultation calls</a:t>
            </a:r>
          </a:p>
          <a:p>
            <a:pPr>
              <a:spcBef>
                <a:spcPts val="400"/>
              </a:spcBef>
              <a:defRPr sz="1600" b="1">
                <a:solidFill>
                  <a:srgbClr val="D97757"/>
                </a:solidFill>
              </a:defRPr>
            </a:pPr>
            <a:r>
              <a:t>AI SDR Campaign Manager</a:t>
            </a:r>
          </a:p>
          <a:p>
            <a:pPr>
              <a:spcBef>
                <a:spcPts val="400"/>
              </a:spcBef>
              <a:defRPr sz="1400" b="0">
                <a:solidFill>
                  <a:srgbClr val="666666"/>
                </a:solidFill>
              </a:defRPr>
            </a:pPr>
            <a:r>
              <a:t>  Automated lead qualification + SMS nurture with 40% conversion rate</a:t>
            </a:r>
          </a:p>
          <a:p>
            <a:pPr>
              <a:spcBef>
                <a:spcPts val="400"/>
              </a:spcBef>
              <a:defRPr sz="1600" b="1">
                <a:solidFill>
                  <a:srgbClr val="D97757"/>
                </a:solidFill>
              </a:defRPr>
            </a:pPr>
            <a:r>
              <a:t>Legal CRM Optimization</a:t>
            </a:r>
          </a:p>
          <a:p>
            <a:pPr>
              <a:spcBef>
                <a:spcPts val="400"/>
              </a:spcBef>
              <a:defRPr sz="1400" b="0">
                <a:solidFill>
                  <a:srgbClr val="666666"/>
                </a:solidFill>
              </a:defRPr>
            </a:pPr>
            <a:r>
              <a:t>  Account hierarchy and data unification in Salesforce</a:t>
            </a:r>
          </a:p>
          <a:p>
            <a:pPr>
              <a:spcBef>
                <a:spcPts val="400"/>
              </a:spcBef>
              <a:defRPr sz="1600" b="1">
                <a:solidFill>
                  <a:srgbClr val="D97757"/>
                </a:solidFill>
              </a:defRPr>
            </a:pPr>
            <a:r>
              <a:t>Automated Job Search System</a:t>
            </a:r>
          </a:p>
          <a:p>
            <a:pPr>
              <a:spcBef>
                <a:spcPts val="400"/>
              </a:spcBef>
              <a:defRPr sz="1400" b="0">
                <a:solidFill>
                  <a:srgbClr val="666666"/>
                </a:solidFill>
              </a:defRPr>
            </a:pPr>
            <a:r>
              <a:t>  AI-powered job matching and outreach via Gmail and LinkedIn</a:t>
            </a:r>
          </a:p>
          <a:p>
            <a:pPr>
              <a:spcBef>
                <a:spcPts val="400"/>
              </a:spcBef>
              <a:defRPr sz="1600" b="1">
                <a:solidFill>
                  <a:srgbClr val="D97757"/>
                </a:solidFill>
              </a:defRPr>
            </a:pPr>
            <a:r>
              <a:t>Spotify Artist Lead Pipeline</a:t>
            </a:r>
          </a:p>
          <a:p>
            <a:pPr>
              <a:spcBef>
                <a:spcPts val="400"/>
              </a:spcBef>
              <a:defRPr sz="1400" b="0">
                <a:solidFill>
                  <a:srgbClr val="666666"/>
                </a:solidFill>
              </a:defRPr>
            </a:pPr>
            <a:r>
              <a:t>  Automated artist discovery for Joywave Management (Michael Miller testimonial)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Technical Stack</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700" b="0">
                <a:solidFill>
                  <a:srgbClr val="2D2D2D"/>
                </a:solidFill>
              </a:defRPr>
            </a:pPr>
            <a:r>
              <a:t>AI/ML:  LangChain, OpenAI API, Claude API, RAG, Weaviate, Dataiku DSS</a:t>
            </a:r>
          </a:p>
          <a:p>
            <a:pPr>
              <a:spcBef>
                <a:spcPts val="400"/>
              </a:spcBef>
              <a:defRPr sz="1700" b="0">
                <a:solidFill>
                  <a:srgbClr val="2D2D2D"/>
                </a:solidFill>
              </a:defRPr>
            </a:pPr>
            <a:r>
              <a:t>Automation:  n8n, Zapier, Make.com, Power Automate</a:t>
            </a:r>
          </a:p>
          <a:p>
            <a:pPr>
              <a:spcBef>
                <a:spcPts val="400"/>
              </a:spcBef>
              <a:defRPr sz="1700" b="0">
                <a:solidFill>
                  <a:srgbClr val="2D2D2D"/>
                </a:solidFill>
              </a:defRPr>
            </a:pPr>
            <a:r>
              <a:t>Cloud:  AWS (Redshift, Lambda), GCP, Supabase</a:t>
            </a:r>
          </a:p>
          <a:p>
            <a:pPr>
              <a:spcBef>
                <a:spcPts val="400"/>
              </a:spcBef>
              <a:defRPr sz="1700" b="0">
                <a:solidFill>
                  <a:srgbClr val="2D2D2D"/>
                </a:solidFill>
              </a:defRPr>
            </a:pPr>
            <a:r>
              <a:t>CRM:  Salesforce, monday.com</a:t>
            </a:r>
          </a:p>
          <a:p>
            <a:pPr>
              <a:spcBef>
                <a:spcPts val="400"/>
              </a:spcBef>
              <a:defRPr sz="1700" b="0">
                <a:solidFill>
                  <a:srgbClr val="2D2D2D"/>
                </a:solidFill>
              </a:defRPr>
            </a:pPr>
            <a:r>
              <a:t>Data:  Python, SQL, PostgreSQL, ETL pipelines</a:t>
            </a:r>
          </a:p>
          <a:p>
            <a:pPr>
              <a:spcBef>
                <a:spcPts val="400"/>
              </a:spcBef>
              <a:defRPr sz="1700" b="0">
                <a:solidFill>
                  <a:srgbClr val="2D2D2D"/>
                </a:solidFill>
              </a:defRPr>
            </a:pPr>
            <a:r>
              <a:t>Web:  FastAPI, Docker, Git</a:t>
            </a:r>
          </a:p>
          <a:p>
            <a:pPr>
              <a:spcBef>
                <a:spcPts val="400"/>
              </a:spcBef>
              <a:defRPr sz="1700" b="0">
                <a:solidFill>
                  <a:srgbClr val="2D2D2D"/>
                </a:solidFill>
              </a:defRPr>
            </a:pPr>
            <a:r>
              <a:t>BI/Viz:  Tableau, Power BI, ArcGIS</a:t>
            </a:r>
          </a:p>
          <a:p>
            <a:pPr>
              <a:spcBef>
                <a:spcPts val="400"/>
              </a:spcBef>
              <a:defRPr sz="1700" b="0">
                <a:solidFill>
                  <a:srgbClr val="2D2D2D"/>
                </a:solidFill>
              </a:defRPr>
            </a:pPr>
            <a:r>
              <a:t>Legacy:  Excel VBA, PowerShell, Argus (CRE)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Education &amp; Certifications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Education</a:t>
            </a:r>
          </a:p>
          <a:p>
            <a:pPr>
              <a:spcBef>
                <a:spcPts val="400"/>
              </a:spcBef>
              <a:defRPr sz="1700" b="1">
                <a:solidFill>
                  <a:srgbClr val="2D2D2D"/>
                </a:solidFill>
              </a:defRPr>
            </a:pPr>
            <a:r>
              <a:t>Penn State University (2011–2015)</a:t>
            </a:r>
          </a:p>
          <a:p>
            <a:pPr>
              <a:spcBef>
                <a:spcPts val="400"/>
              </a:spcBef>
              <a:defRPr sz="1500" b="0">
                <a:solidFill>
                  <a:srgbClr val="666666"/>
                </a:solidFill>
              </a:defRPr>
            </a:pPr>
            <a:r>
              <a:t>  BS, Real Estate Economics</a:t>
            </a:r>
          </a:p>
          <a:p>
            <a:pPr>
              <a:spcBef>
                <a:spcPts val="400"/>
              </a:spcBef>
              <a:defRPr sz="1700" b="1">
                <a:solidFill>
                  <a:srgbClr val="2D2D2D"/>
                </a:solidFill>
              </a:defRPr>
            </a:pPr>
            <a:r>
              <a:t>UC Irvine (2018–Present)</a:t>
            </a:r>
          </a:p>
          <a:p>
            <a:pPr>
              <a:spcBef>
                <a:spcPts val="400"/>
              </a:spcBef>
              <a:defRPr sz="1500" b="0">
                <a:solidFill>
                  <a:srgbClr val="666666"/>
                </a:solidFill>
              </a:defRPr>
            </a:pPr>
            <a:r>
              <a:t>  Data Analytics Bootcamp — Python, Tableau, BI Tools</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Certifications</a:t>
            </a:r>
          </a:p>
          <a:p>
            <a:pPr>
              <a:spcBef>
                <a:spcPts val="400"/>
              </a:spcBef>
              <a:defRPr sz="1700" b="1">
                <a:solidFill>
                  <a:srgbClr val="2D2D2D"/>
                </a:solidFill>
              </a:defRPr>
            </a:pPr>
            <a:r>
              <a:t>Intro to Enterprise-ready Gen AI Apps</a:t>
            </a:r>
          </a:p>
          <a:p>
            <a:pPr>
              <a:spcBef>
                <a:spcPts val="400"/>
              </a:spcBef>
              <a:defRPr sz="1500" b="0">
                <a:solidFill>
                  <a:srgbClr val="666666"/>
                </a:solidFill>
              </a:defRPr>
            </a:pPr>
            <a:r>
              <a:t>  Weaviate — Sep 2024</a:t>
            </a:r>
          </a:p>
          <a:p>
            <a:pPr>
              <a:spcBef>
                <a:spcPts val="400"/>
              </a:spcBef>
              <a:defRPr sz="1000" b="0">
                <a:solidFill>
                  <a:srgbClr val="2D2D2D"/>
                </a:solidFill>
              </a:defRPr>
            </a:pPr>
          </a:p>
          <a:p>
            <a:pPr>
              <a:spcBef>
                <a:spcPts val="400"/>
              </a:spcBef>
              <a:defRPr sz="2200" b="1">
                <a:solidFill>
                  <a:srgbClr val="D97757"/>
                </a:solidFill>
              </a:defRPr>
            </a:pPr>
            <a:r>
              <a:t>Courses</a:t>
            </a:r>
          </a:p>
          <a:p>
            <a:pPr>
              <a:spcBef>
                <a:spcPts val="400"/>
              </a:spcBef>
              <a:defRPr sz="1700" b="1">
                <a:solidFill>
                  <a:srgbClr val="2D2D2D"/>
                </a:solidFill>
              </a:defRPr>
            </a:pPr>
            <a:r>
              <a:t>Cash Flow Modeling: MBS</a:t>
            </a:r>
          </a:p>
          <a:p>
            <a:pPr>
              <a:spcBef>
                <a:spcPts val="400"/>
              </a:spcBef>
              <a:defRPr sz="1500" b="0">
                <a:solidFill>
                  <a:srgbClr val="666666"/>
                </a:solidFill>
              </a:defRPr>
            </a:pPr>
            <a:r>
              <a:t>  Independent Study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Client Testimonial</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97280" y="1828800"/>
            <a:ext cx="9601200" cy="2743200"/>
          </a:xfrm>
          <a:prstGeom prst="rect">
            <a:avLst/>
          </a:prstGeom>
          <a:noFill/>
        </p:spPr>
        <p:txBody>
          <a:bodyPr wrap="square">
            <a:spAutoFit/>
          </a:bodyPr>
          <a:lstStyle/>
          <a:p>
            <a:pPr algn="l">
              <a:defRPr sz="1800" b="0">
                <a:solidFill>
                  <a:srgbClr val="2D2D2D"/>
                </a:solidFill>
              </a:defRPr>
            </a:pPr>
            <a:r>
              <a:t>"Greg was a game-changer for our artist lead pipeline. He used the Spotify API to automate what used to be a super tedious process, saving us tons of time and hassle. Now, we've got a system that not only finds potential leads but organizes them in a way that's easy to act on. Greg's technical know-how and out-of-the-box thinking really shined throughout the project, and he made everything so straightforward for us. Thanks to him, we can focus on connecting with artists instead of getting bogged down in data collection."</a:t>
            </a:r>
          </a:p>
        </p:txBody>
      </p:sp>
      <p:sp>
        <p:nvSpPr>
          <p:cNvPr id="5" name="TextBox 4"/>
          <p:cNvSpPr txBox="1"/>
          <p:nvPr/>
        </p:nvSpPr>
        <p:spPr>
          <a:xfrm>
            <a:off x="1097280" y="4754880"/>
            <a:ext cx="9601200" cy="914400"/>
          </a:xfrm>
          <a:prstGeom prst="rect">
            <a:avLst/>
          </a:prstGeom>
          <a:noFill/>
        </p:spPr>
        <p:txBody>
          <a:bodyPr wrap="square">
            <a:spAutoFit/>
          </a:bodyPr>
          <a:lstStyle/>
          <a:p>
            <a:pPr algn="l">
              <a:defRPr sz="1600" b="1">
                <a:solidFill>
                  <a:srgbClr val="D97757"/>
                </a:solidFill>
              </a:defRPr>
            </a:pPr>
            <a:r>
              <a:t>— Michael Miller, Artist Manager &amp; Founder, Joywave Management</a:t>
            </a:r>
            <a:br/>
            <a:r>
              <a:t>   ex-Salesforce/DoorDash  |  November 27, 2024</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200" b="1">
                <a:solidFill>
                  <a:srgbClr val="2D2D2D"/>
                </a:solidFill>
              </a:defRPr>
            </a:pPr>
            <a:r>
              <a:t>Personal Intelligence — Who Greg Is Off The Clock</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486400" cy="4754880"/>
          </a:xfrm>
          <a:prstGeom prst="rect">
            <a:avLst/>
          </a:prstGeom>
          <a:noFill/>
        </p:spPr>
        <p:txBody>
          <a:bodyPr wrap="square">
            <a:spAutoFit/>
          </a:bodyPr>
          <a:lstStyle/>
          <a:p>
            <a:pPr algn="l">
              <a:defRPr sz="1600" b="0">
                <a:solidFill>
                  <a:srgbClr val="2D2D2D"/>
                </a:solidFill>
              </a:defRPr>
            </a:pPr>
          </a:p>
          <a:p>
            <a:pPr>
              <a:spcBef>
                <a:spcPts val="400"/>
              </a:spcBef>
              <a:defRPr sz="1900" b="1">
                <a:solidFill>
                  <a:srgbClr val="D97757"/>
                </a:solidFill>
              </a:defRPr>
            </a:pPr>
            <a:r>
              <a:t>Voice &amp; Language</a:t>
            </a:r>
          </a:p>
          <a:p>
            <a:pPr>
              <a:spcBef>
                <a:spcPts val="400"/>
              </a:spcBef>
              <a:defRPr sz="1500" b="0">
                <a:solidFill>
                  <a:srgbClr val="2D2D2D"/>
                </a:solidFill>
              </a:defRPr>
            </a:pPr>
            <a:r>
              <a:t>Bio: "Me gusta mi voz en español más que inglés"</a:t>
            </a:r>
          </a:p>
          <a:p>
            <a:pPr>
              <a:spcBef>
                <a:spcPts val="400"/>
              </a:spcBef>
              <a:defRPr sz="1500" b="0">
                <a:solidFill>
                  <a:srgbClr val="2D2D2D"/>
                </a:solidFill>
              </a:defRPr>
            </a:pPr>
            <a:r>
              <a:t>Captions in Spanish: "Agradecido", "Buscame aqui",</a:t>
            </a:r>
          </a:p>
          <a:p>
            <a:pPr>
              <a:spcBef>
                <a:spcPts val="400"/>
              </a:spcBef>
              <a:defRPr sz="1500" b="0">
                <a:solidFill>
                  <a:srgbClr val="2D2D2D"/>
                </a:solidFill>
              </a:defRPr>
            </a:pPr>
            <a:r>
              <a:t>  "nos vemos a la proxima", "excelente papito"</a:t>
            </a:r>
          </a:p>
          <a:p>
            <a:pPr>
              <a:spcBef>
                <a:spcPts val="400"/>
              </a:spcBef>
              <a:defRPr sz="1500" b="0">
                <a:solidFill>
                  <a:srgbClr val="2D2D2D"/>
                </a:solidFill>
              </a:defRPr>
            </a:pPr>
            <a:r>
              <a:t>Italian: "Torino sei bellissima 🇮🇹" — Turin trip, Jul 2024</a:t>
            </a:r>
          </a:p>
          <a:p>
            <a:pPr>
              <a:spcBef>
                <a:spcPts val="400"/>
              </a:spcBef>
              <a:defRPr sz="1500" b="0">
                <a:solidFill>
                  <a:srgbClr val="2D2D2D"/>
                </a:solidFill>
              </a:defRPr>
            </a:pPr>
            <a:r>
              <a:t>Posts naturally in 3 languages — not performative</a:t>
            </a:r>
          </a:p>
          <a:p>
            <a:pPr>
              <a:spcBef>
                <a:spcPts val="400"/>
              </a:spcBef>
              <a:defRPr sz="800" b="0">
                <a:solidFill>
                  <a:srgbClr val="2D2D2D"/>
                </a:solidFill>
              </a:defRPr>
            </a:pPr>
          </a:p>
          <a:p>
            <a:pPr>
              <a:spcBef>
                <a:spcPts val="400"/>
              </a:spcBef>
              <a:defRPr sz="1900" b="1">
                <a:solidFill>
                  <a:srgbClr val="D97757"/>
                </a:solidFill>
              </a:defRPr>
            </a:pPr>
            <a:r>
              <a:t>Emotional Tone</a:t>
            </a:r>
          </a:p>
          <a:p>
            <a:pPr>
              <a:spcBef>
                <a:spcPts val="400"/>
              </a:spcBef>
              <a:defRPr sz="1500" b="0">
                <a:solidFill>
                  <a:srgbClr val="2D2D2D"/>
                </a:solidFill>
              </a:defRPr>
            </a:pPr>
            <a:r>
              <a:t>"Could not feel more grateful for these people</a:t>
            </a:r>
          </a:p>
          <a:p>
            <a:pPr>
              <a:spcBef>
                <a:spcPts val="400"/>
              </a:spcBef>
              <a:defRPr sz="1500" b="0">
                <a:solidFill>
                  <a:srgbClr val="2D2D2D"/>
                </a:solidFill>
              </a:defRPr>
            </a:pPr>
            <a:r>
              <a:t>  and the memories made" — Lightning in a Bottle</a:t>
            </a:r>
          </a:p>
          <a:p>
            <a:pPr>
              <a:spcBef>
                <a:spcPts val="400"/>
              </a:spcBef>
              <a:defRPr sz="1500" b="0">
                <a:solidFill>
                  <a:srgbClr val="2D2D2D"/>
                </a:solidFill>
              </a:defRPr>
            </a:pPr>
            <a:r>
              <a:t>"Much love lately 💕" — simple, present, open</a:t>
            </a:r>
          </a:p>
          <a:p>
            <a:pPr>
              <a:spcBef>
                <a:spcPts val="400"/>
              </a:spcBef>
              <a:defRPr sz="1500" b="0">
                <a:solidFill>
                  <a:srgbClr val="2D2D2D"/>
                </a:solidFill>
              </a:defRPr>
            </a:pPr>
            <a:r>
              <a:t>Friends call him: "Big sunshine guy", "Greggy"</a:t>
            </a:r>
          </a:p>
          <a:p>
            <a:pPr>
              <a:spcBef>
                <a:spcPts val="400"/>
              </a:spcBef>
              <a:defRPr sz="1500" b="0">
                <a:solidFill>
                  <a:srgbClr val="2D2D2D"/>
                </a:solidFill>
              </a:defRPr>
            </a:pPr>
            <a:r>
              <a:t>Warm and magnetic — draws people in naturally</a:t>
            </a:r>
          </a:p>
        </p:txBody>
      </p:sp>
      <p:sp>
        <p:nvSpPr>
          <p:cNvPr id="5" name="TextBox 4"/>
          <p:cNvSpPr txBox="1"/>
          <p:nvPr/>
        </p:nvSpPr>
        <p:spPr>
          <a:xfrm>
            <a:off x="6400800" y="1554480"/>
            <a:ext cx="5303520" cy="4754880"/>
          </a:xfrm>
          <a:prstGeom prst="rect">
            <a:avLst/>
          </a:prstGeom>
          <a:noFill/>
        </p:spPr>
        <p:txBody>
          <a:bodyPr wrap="square">
            <a:spAutoFit/>
          </a:bodyPr>
          <a:lstStyle/>
          <a:p>
            <a:pPr algn="l">
              <a:defRPr sz="1600" b="0">
                <a:solidFill>
                  <a:srgbClr val="2D2D2D"/>
                </a:solidFill>
              </a:defRPr>
            </a:pPr>
          </a:p>
          <a:p>
            <a:pPr>
              <a:spcBef>
                <a:spcPts val="400"/>
              </a:spcBef>
              <a:defRPr sz="1900" b="1">
                <a:solidFill>
                  <a:srgbClr val="D97757"/>
                </a:solidFill>
              </a:defRPr>
            </a:pPr>
            <a:r>
              <a:t>Music &amp; Nightlife</a:t>
            </a:r>
          </a:p>
          <a:p>
            <a:pPr>
              <a:spcBef>
                <a:spcPts val="400"/>
              </a:spcBef>
              <a:defRPr sz="1500" b="0">
                <a:solidFill>
                  <a:srgbClr val="2D2D2D"/>
                </a:solidFill>
              </a:defRPr>
            </a:pPr>
            <a:r>
              <a:t>"Just a couple of plant guys at the afters"</a:t>
            </a:r>
          </a:p>
          <a:p>
            <a:pPr>
              <a:spcBef>
                <a:spcPts val="400"/>
              </a:spcBef>
              <a:defRPr sz="1500" b="0">
                <a:solidFill>
                  <a:srgbClr val="2D2D2D"/>
                </a:solidFill>
              </a:defRPr>
            </a:pPr>
            <a:r>
              <a:t>After-party culture, house/electronic music scene</a:t>
            </a:r>
          </a:p>
          <a:p>
            <a:pPr>
              <a:spcBef>
                <a:spcPts val="400"/>
              </a:spcBef>
              <a:defRPr sz="1500" b="0">
                <a:solidFill>
                  <a:srgbClr val="2D2D2D"/>
                </a:solidFill>
              </a:defRPr>
            </a:pPr>
            <a:r>
              <a:t>"Love when homies capture 📷 #CandidInTheMix"</a:t>
            </a:r>
          </a:p>
          <a:p>
            <a:pPr>
              <a:spcBef>
                <a:spcPts val="400"/>
              </a:spcBef>
              <a:defRPr sz="1500" b="0">
                <a:solidFill>
                  <a:srgbClr val="2D2D2D"/>
                </a:solidFill>
              </a:defRPr>
            </a:pPr>
            <a:r>
              <a:t>DJ-adjacent — values unposed, in-the-moment shots</a:t>
            </a:r>
          </a:p>
          <a:p>
            <a:pPr>
              <a:spcBef>
                <a:spcPts val="400"/>
              </a:spcBef>
              <a:defRPr sz="800" b="0">
                <a:solidFill>
                  <a:srgbClr val="2D2D2D"/>
                </a:solidFill>
              </a:defRPr>
            </a:pPr>
          </a:p>
          <a:p>
            <a:pPr>
              <a:spcBef>
                <a:spcPts val="400"/>
              </a:spcBef>
              <a:defRPr sz="1900" b="1">
                <a:solidFill>
                  <a:srgbClr val="D97757"/>
                </a:solidFill>
              </a:defRPr>
            </a:pPr>
            <a:r>
              <a:t>Aesthetics &amp; Style</a:t>
            </a:r>
          </a:p>
          <a:p>
            <a:pPr>
              <a:spcBef>
                <a:spcPts val="400"/>
              </a:spcBef>
              <a:defRPr sz="1500" b="0">
                <a:solidFill>
                  <a:srgbClr val="2D2D2D"/>
                </a:solidFill>
              </a:defRPr>
            </a:pPr>
            <a:r>
              <a:t>Festival: fur coats, tie-dye, bandanas, wristbands</a:t>
            </a:r>
          </a:p>
          <a:p>
            <a:pPr>
              <a:spcBef>
                <a:spcPts val="400"/>
              </a:spcBef>
              <a:defRPr sz="1500" b="0">
                <a:solidFill>
                  <a:srgbClr val="2D2D2D"/>
                </a:solidFill>
              </a:defRPr>
            </a:pPr>
            <a:r>
              <a:t>Formal: sharp black suit, composed mirror selfie</a:t>
            </a:r>
          </a:p>
          <a:p>
            <a:pPr>
              <a:spcBef>
                <a:spcPts val="400"/>
              </a:spcBef>
              <a:defRPr sz="1500" b="0">
                <a:solidFill>
                  <a:srgbClr val="2D2D2D"/>
                </a:solidFill>
              </a:defRPr>
            </a:pPr>
            <a:r>
              <a:t>Moody/cinematic: candlelit smoking shot —</a:t>
            </a:r>
          </a:p>
          <a:p>
            <a:pPr>
              <a:spcBef>
                <a:spcPts val="400"/>
              </a:spcBef>
              <a:defRPr sz="1500" b="0">
                <a:solidFill>
                  <a:srgbClr val="2D2D2D"/>
                </a:solidFill>
              </a:defRPr>
            </a:pPr>
            <a:r>
              <a:t>  friends joked "Narcos theme song", "Pablo Escobar"</a:t>
            </a:r>
          </a:p>
          <a:p>
            <a:pPr>
              <a:spcBef>
                <a:spcPts val="400"/>
              </a:spcBef>
              <a:defRPr sz="1500" b="0">
                <a:solidFill>
                  <a:srgbClr val="2D2D2D"/>
                </a:solidFill>
              </a:defRPr>
            </a:pPr>
            <a:r>
              <a:t>Lives the duality fully — never one-dimensional</a:t>
            </a:r>
          </a:p>
        </p:txBody>
      </p:sp>
      <p:sp>
        <p:nvSpPr>
          <p:cNvPr id="6" name="TextBox 5"/>
          <p:cNvSpPr txBox="1"/>
          <p:nvPr/>
        </p:nvSpPr>
        <p:spPr>
          <a:xfrm>
            <a:off x="731520" y="6217920"/>
            <a:ext cx="10515600" cy="457200"/>
          </a:xfrm>
          <a:prstGeom prst="rect">
            <a:avLst/>
          </a:prstGeom>
          <a:noFill/>
        </p:spPr>
        <p:txBody>
          <a:bodyPr wrap="square">
            <a:spAutoFit/>
          </a:bodyPr>
          <a:lstStyle/>
          <a:p>
            <a:pPr algn="l">
              <a:defRPr sz="900" b="0">
                <a:solidFill>
                  <a:srgbClr val="666666"/>
                </a:solidFill>
              </a:defRPr>
            </a:pPr>
            <a:r>
              <a:t>Sources: /p/CuStB3aMpHZ  /p/C9UER8gO5l7  /p/C0KNxAXPpwl  /p/CsPCnk-vo5g  /p/CrBc8g3rGmW  /p/Cezex8-pe9R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200" b="1">
                <a:solidFill>
                  <a:srgbClr val="2D2D2D"/>
                </a:solidFill>
              </a:defRPr>
            </a:pPr>
            <a:r>
              <a:t>Personal Intelligence — His World, Events &amp; Crew</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486400" cy="4754880"/>
          </a:xfrm>
          <a:prstGeom prst="rect">
            <a:avLst/>
          </a:prstGeom>
          <a:noFill/>
        </p:spPr>
        <p:txBody>
          <a:bodyPr wrap="square">
            <a:spAutoFit/>
          </a:bodyPr>
          <a:lstStyle/>
          <a:p>
            <a:pPr algn="l">
              <a:defRPr sz="1600" b="0">
                <a:solidFill>
                  <a:srgbClr val="2D2D2D"/>
                </a:solidFill>
              </a:defRPr>
            </a:pPr>
          </a:p>
          <a:p>
            <a:pPr>
              <a:spcBef>
                <a:spcPts val="400"/>
              </a:spcBef>
              <a:defRPr sz="1900" b="1">
                <a:solidFill>
                  <a:srgbClr val="D97757"/>
                </a:solidFill>
              </a:defRPr>
            </a:pPr>
            <a:r>
              <a:t>Annual Sacred Events</a:t>
            </a:r>
          </a:p>
          <a:p>
            <a:pPr>
              <a:spcBef>
                <a:spcPts val="400"/>
              </a:spcBef>
              <a:defRPr sz="1500" b="0">
                <a:solidFill>
                  <a:srgbClr val="2D2D2D"/>
                </a:solidFill>
              </a:defRPr>
            </a:pPr>
            <a:r>
              <a:t>Lightning in a Bottle (LiB) — California arts festival</a:t>
            </a:r>
          </a:p>
          <a:p>
            <a:pPr>
              <a:spcBef>
                <a:spcPts val="400"/>
              </a:spcBef>
              <a:defRPr sz="1500" b="0">
                <a:solidFill>
                  <a:srgbClr val="2D2D2D"/>
                </a:solidFill>
              </a:defRPr>
            </a:pPr>
            <a:r>
              <a:t>  "you've done it again... see you next year" — deep devotion</a:t>
            </a:r>
          </a:p>
          <a:p>
            <a:pPr>
              <a:spcBef>
                <a:spcPts val="400"/>
              </a:spcBef>
              <a:defRPr sz="1500" b="0">
                <a:solidFill>
                  <a:srgbClr val="2D2D2D"/>
                </a:solidFill>
              </a:defRPr>
            </a:pPr>
            <a:r>
              <a:t>  Goes with a tight recurring crew every year</a:t>
            </a:r>
          </a:p>
          <a:p>
            <a:pPr>
              <a:spcBef>
                <a:spcPts val="400"/>
              </a:spcBef>
              <a:defRPr sz="1500" b="0">
                <a:solidFill>
                  <a:srgbClr val="2D2D2D"/>
                </a:solidFill>
              </a:defRPr>
            </a:pPr>
            <a:r>
              <a:t>Día de los Muertos — attends annually, captions in Spanish</a:t>
            </a:r>
          </a:p>
          <a:p>
            <a:pPr>
              <a:spcBef>
                <a:spcPts val="400"/>
              </a:spcBef>
              <a:defRPr sz="1500" b="0">
                <a:solidFill>
                  <a:srgbClr val="2D2D2D"/>
                </a:solidFill>
              </a:defRPr>
            </a:pPr>
            <a:r>
              <a:t>  'nos vemos a la próxima' — 'see you next time'</a:t>
            </a:r>
          </a:p>
          <a:p>
            <a:pPr>
              <a:spcBef>
                <a:spcPts val="400"/>
              </a:spcBef>
              <a:defRPr sz="1500" b="0">
                <a:solidFill>
                  <a:srgbClr val="2D2D2D"/>
                </a:solidFill>
              </a:defRPr>
            </a:pPr>
            <a:r>
              <a:t>Coachella-style festival (May 2022) — 'Buscame aqui'</a:t>
            </a:r>
          </a:p>
          <a:p>
            <a:pPr>
              <a:spcBef>
                <a:spcPts val="400"/>
              </a:spcBef>
              <a:defRPr sz="800" b="0">
                <a:solidFill>
                  <a:srgbClr val="2D2D2D"/>
                </a:solidFill>
              </a:defRPr>
            </a:pPr>
          </a:p>
          <a:p>
            <a:pPr>
              <a:spcBef>
                <a:spcPts val="400"/>
              </a:spcBef>
              <a:defRPr sz="1900" b="1">
                <a:solidFill>
                  <a:srgbClr val="D97757"/>
                </a:solidFill>
              </a:defRPr>
            </a:pPr>
            <a:r>
              <a:t>International Life</a:t>
            </a:r>
          </a:p>
          <a:p>
            <a:pPr>
              <a:spcBef>
                <a:spcPts val="400"/>
              </a:spcBef>
              <a:defRPr sz="1500" b="0">
                <a:solidFill>
                  <a:srgbClr val="2D2D2D"/>
                </a:solidFill>
              </a:defRPr>
            </a:pPr>
            <a:r>
              <a:t>Turin, Italy (Jul 2024) — Italian friends, 'see you next year'</a:t>
            </a:r>
          </a:p>
          <a:p>
            <a:pPr>
              <a:spcBef>
                <a:spcPts val="400"/>
              </a:spcBef>
              <a:defRPr sz="1500" b="0">
                <a:solidFill>
                  <a:srgbClr val="2D2D2D"/>
                </a:solidFill>
              </a:defRPr>
            </a:pPr>
            <a:r>
              <a:t>Santiago, Chile (2019) — lived there for work</a:t>
            </a:r>
          </a:p>
          <a:p>
            <a:pPr>
              <a:spcBef>
                <a:spcPts val="400"/>
              </a:spcBef>
              <a:defRPr sz="1500" b="0">
                <a:solidFill>
                  <a:srgbClr val="2D2D2D"/>
                </a:solidFill>
              </a:defRPr>
            </a:pPr>
            <a:r>
              <a:t>Valparaíso, Chile — Instagram highlight 'Valpo'</a:t>
            </a:r>
          </a:p>
          <a:p>
            <a:pPr>
              <a:spcBef>
                <a:spcPts val="400"/>
              </a:spcBef>
              <a:defRPr sz="1500" b="0">
                <a:solidFill>
                  <a:srgbClr val="2D2D2D"/>
                </a:solidFill>
              </a:defRPr>
            </a:pPr>
            <a:r>
              <a:t>Venice, LA — home base, street life, palm trees</a:t>
            </a:r>
          </a:p>
        </p:txBody>
      </p:sp>
      <p:sp>
        <p:nvSpPr>
          <p:cNvPr id="5" name="TextBox 4"/>
          <p:cNvSpPr txBox="1"/>
          <p:nvPr/>
        </p:nvSpPr>
        <p:spPr>
          <a:xfrm>
            <a:off x="6400800" y="1554480"/>
            <a:ext cx="5303520" cy="4754880"/>
          </a:xfrm>
          <a:prstGeom prst="rect">
            <a:avLst/>
          </a:prstGeom>
          <a:noFill/>
        </p:spPr>
        <p:txBody>
          <a:bodyPr wrap="square">
            <a:spAutoFit/>
          </a:bodyPr>
          <a:lstStyle/>
          <a:p>
            <a:pPr algn="l">
              <a:defRPr sz="1600" b="0">
                <a:solidFill>
                  <a:srgbClr val="2D2D2D"/>
                </a:solidFill>
              </a:defRPr>
            </a:pPr>
          </a:p>
          <a:p>
            <a:pPr>
              <a:spcBef>
                <a:spcPts val="400"/>
              </a:spcBef>
              <a:defRPr sz="1900" b="1">
                <a:solidFill>
                  <a:srgbClr val="D97757"/>
                </a:solidFill>
              </a:defRPr>
            </a:pPr>
            <a:r>
              <a:t>Close Circle (Recurring Names)</a:t>
            </a:r>
          </a:p>
          <a:p>
            <a:pPr>
              <a:spcBef>
                <a:spcPts val="400"/>
              </a:spcBef>
              <a:defRPr sz="1500" b="0">
                <a:solidFill>
                  <a:srgbClr val="2D2D2D"/>
                </a:solidFill>
              </a:defRPr>
            </a:pPr>
            <a:r>
              <a:t>evanagony — close friend, calls him 'Al God'</a:t>
            </a:r>
          </a:p>
          <a:p>
            <a:pPr>
              <a:spcBef>
                <a:spcPts val="400"/>
              </a:spcBef>
              <a:defRPr sz="1500" b="0">
                <a:solidFill>
                  <a:srgbClr val="2D2D2D"/>
                </a:solidFill>
              </a:defRPr>
            </a:pPr>
            <a:r>
              <a:t>natalie__harper — appears across multiple posts</a:t>
            </a:r>
          </a:p>
          <a:p>
            <a:pPr>
              <a:spcBef>
                <a:spcPts val="400"/>
              </a:spcBef>
              <a:defRPr sz="1500" b="0">
                <a:solidFill>
                  <a:srgbClr val="2D2D2D"/>
                </a:solidFill>
              </a:defRPr>
            </a:pPr>
            <a:r>
              <a:t>collinjblack — 'Neighborhood swag' (possible family?)</a:t>
            </a:r>
          </a:p>
          <a:p>
            <a:pPr>
              <a:spcBef>
                <a:spcPts val="400"/>
              </a:spcBef>
              <a:defRPr sz="1500" b="0">
                <a:solidFill>
                  <a:srgbClr val="2D2D2D"/>
                </a:solidFill>
              </a:defRPr>
            </a:pPr>
            <a:r>
              <a:t>lauraegalli — recurring across years of posts</a:t>
            </a:r>
          </a:p>
          <a:p>
            <a:pPr>
              <a:spcBef>
                <a:spcPts val="400"/>
              </a:spcBef>
              <a:defRPr sz="1500" b="0">
                <a:solidFill>
                  <a:srgbClr val="2D2D2D"/>
                </a:solidFill>
              </a:defRPr>
            </a:pPr>
            <a:r>
              <a:t>jp.carroll — in his following, festival crew</a:t>
            </a:r>
          </a:p>
          <a:p>
            <a:pPr>
              <a:spcBef>
                <a:spcPts val="400"/>
              </a:spcBef>
              <a:defRPr sz="800" b="0">
                <a:solidFill>
                  <a:srgbClr val="2D2D2D"/>
                </a:solidFill>
              </a:defRPr>
            </a:pPr>
          </a:p>
          <a:p>
            <a:pPr>
              <a:spcBef>
                <a:spcPts val="400"/>
              </a:spcBef>
              <a:defRPr sz="1900" b="1">
                <a:solidFill>
                  <a:srgbClr val="D97757"/>
                </a:solidFill>
              </a:defRPr>
            </a:pPr>
            <a:r>
              <a:t>Conversation Openers From Posts</a:t>
            </a:r>
          </a:p>
          <a:p>
            <a:pPr>
              <a:spcBef>
                <a:spcPts val="400"/>
              </a:spcBef>
              <a:defRPr sz="1500" b="0">
                <a:solidFill>
                  <a:srgbClr val="2D2D2D"/>
                </a:solidFill>
              </a:defRPr>
            </a:pPr>
            <a:r>
              <a:t>"You go to Lightning in a Bottle every year?"</a:t>
            </a:r>
          </a:p>
          <a:p>
            <a:pPr>
              <a:spcBef>
                <a:spcPts val="400"/>
              </a:spcBef>
              <a:defRPr sz="1500" b="0">
                <a:solidFill>
                  <a:srgbClr val="2D2D2D"/>
                </a:solidFill>
              </a:defRPr>
            </a:pPr>
            <a:r>
              <a:t>"What was Turin for — festival or just travel?"</a:t>
            </a:r>
          </a:p>
          <a:p>
            <a:pPr>
              <a:spcBef>
                <a:spcPts val="400"/>
              </a:spcBef>
              <a:defRPr sz="1500" b="0">
                <a:solidFill>
                  <a:srgbClr val="2D2D2D"/>
                </a:solidFill>
              </a:defRPr>
            </a:pPr>
            <a:r>
              <a:t>"Your Día de los Muertos post was wild — where was that?"</a:t>
            </a:r>
          </a:p>
          <a:p>
            <a:pPr>
              <a:spcBef>
                <a:spcPts val="400"/>
              </a:spcBef>
              <a:defRPr sz="1500" b="0">
                <a:solidFill>
                  <a:srgbClr val="2D2D2D"/>
                </a:solidFill>
              </a:defRPr>
            </a:pPr>
            <a:r>
              <a:t>"You DJ or just live in that world?"</a:t>
            </a:r>
          </a:p>
        </p:txBody>
      </p:sp>
      <p:sp>
        <p:nvSpPr>
          <p:cNvPr id="6" name="TextBox 5"/>
          <p:cNvSpPr txBox="1"/>
          <p:nvPr/>
        </p:nvSpPr>
        <p:spPr>
          <a:xfrm>
            <a:off x="731520" y="6217920"/>
            <a:ext cx="10515600" cy="457200"/>
          </a:xfrm>
          <a:prstGeom prst="rect">
            <a:avLst/>
          </a:prstGeom>
          <a:noFill/>
        </p:spPr>
        <p:txBody>
          <a:bodyPr wrap="square">
            <a:spAutoFit/>
          </a:bodyPr>
          <a:lstStyle/>
          <a:p>
            <a:pPr algn="l">
              <a:defRPr sz="900" b="0">
                <a:solidFill>
                  <a:srgbClr val="666666"/>
                </a:solidFill>
              </a:defRPr>
            </a:pPr>
            <a:r>
              <a:t>Sources: /p/CeWJQgELQc9 (LiB)  /p/Czt89wEPpo6 (Dia de Muertos)  /p/CdWE8JcJJ05 (Coachella)  /p/C9UER8gO5l7 (Turin)  instagram.com/gregorablack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Organizations &amp; Influences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Organizations</a:t>
            </a:r>
          </a:p>
          <a:p>
            <a:pPr>
              <a:spcBef>
                <a:spcPts val="400"/>
              </a:spcBef>
              <a:defRPr sz="1700" b="1">
                <a:solidFill>
                  <a:srgbClr val="2D2D2D"/>
                </a:solidFill>
              </a:defRPr>
            </a:pPr>
            <a:r>
              <a:t>Toastmasters International</a:t>
            </a:r>
          </a:p>
          <a:p>
            <a:pPr>
              <a:spcBef>
                <a:spcPts val="400"/>
              </a:spcBef>
              <a:defRPr sz="1500" b="0">
                <a:solidFill>
                  <a:srgbClr val="666666"/>
                </a:solidFill>
              </a:defRPr>
            </a:pPr>
            <a:r>
              <a:t>  Nov 2015 – Present (10+ years)</a:t>
            </a:r>
          </a:p>
          <a:p>
            <a:pPr>
              <a:spcBef>
                <a:spcPts val="400"/>
              </a:spcBef>
              <a:defRPr sz="1700" b="1">
                <a:solidFill>
                  <a:srgbClr val="2D2D2D"/>
                </a:solidFill>
              </a:defRPr>
            </a:pPr>
            <a:r>
              <a:t>Penn State Alumni Association</a:t>
            </a:r>
          </a:p>
          <a:p>
            <a:pPr>
              <a:spcBef>
                <a:spcPts val="400"/>
              </a:spcBef>
              <a:defRPr sz="1500" b="0">
                <a:solidFill>
                  <a:srgbClr val="666666"/>
                </a:solidFill>
              </a:defRPr>
            </a:pPr>
            <a:r>
              <a:t>  Membership Committee Post-Grad Liaison</a:t>
            </a:r>
          </a:p>
          <a:p>
            <a:pPr>
              <a:spcBef>
                <a:spcPts val="400"/>
              </a:spcBef>
              <a:defRPr sz="1500" b="0">
                <a:solidFill>
                  <a:srgbClr val="666666"/>
                </a:solidFill>
              </a:defRPr>
            </a:pPr>
            <a:r>
              <a:t>  Jan 2016 – Present</a:t>
            </a:r>
          </a:p>
        </p:txBody>
      </p:sp>
      <p:sp>
        <p:nvSpPr>
          <p:cNvPr id="5" name="TextBox 4"/>
          <p:cNvSpPr txBox="1"/>
          <p:nvPr/>
        </p:nvSpPr>
        <p:spPr>
          <a:xfrm>
            <a:off x="6217920" y="1554480"/>
            <a:ext cx="50292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Top Voices Followed</a:t>
            </a:r>
          </a:p>
          <a:p>
            <a:pPr>
              <a:spcBef>
                <a:spcPts val="400"/>
              </a:spcBef>
              <a:defRPr sz="1700" b="1">
                <a:solidFill>
                  <a:srgbClr val="2D2D2D"/>
                </a:solidFill>
              </a:defRPr>
            </a:pPr>
            <a:r>
              <a:t>Gary Vaynerchuk (2nd connection)</a:t>
            </a:r>
          </a:p>
          <a:p>
            <a:pPr>
              <a:spcBef>
                <a:spcPts val="400"/>
              </a:spcBef>
              <a:defRPr sz="1500" b="0">
                <a:solidFill>
                  <a:srgbClr val="666666"/>
                </a:solidFill>
              </a:defRPr>
            </a:pPr>
            <a:r>
              <a:t>  VaynerX, VaynerMedia, VeeFriends</a:t>
            </a:r>
          </a:p>
          <a:p>
            <a:pPr>
              <a:spcBef>
                <a:spcPts val="400"/>
              </a:spcBef>
              <a:defRPr sz="1700" b="1">
                <a:solidFill>
                  <a:srgbClr val="2D2D2D"/>
                </a:solidFill>
              </a:defRPr>
            </a:pPr>
            <a:r>
              <a:t>Kevin O'Leary (3rd connection)</a:t>
            </a:r>
          </a:p>
          <a:p>
            <a:pPr>
              <a:spcBef>
                <a:spcPts val="400"/>
              </a:spcBef>
              <a:defRPr sz="1500" b="0">
                <a:solidFill>
                  <a:srgbClr val="666666"/>
                </a:solidFill>
              </a:defRPr>
            </a:pPr>
            <a:r>
              <a:t>  O'Leary Ventures, Beanstox, Shark Tank</a:t>
            </a:r>
          </a:p>
          <a:p>
            <a:pPr>
              <a:spcBef>
                <a:spcPts val="400"/>
              </a:spcBef>
              <a:defRPr sz="800" b="0">
                <a:solidFill>
                  <a:srgbClr val="2D2D2D"/>
                </a:solidFill>
              </a:defRPr>
            </a:pPr>
          </a:p>
          <a:p>
            <a:pPr>
              <a:spcBef>
                <a:spcPts val="400"/>
              </a:spcBef>
              <a:defRPr sz="2200" b="1">
                <a:solidFill>
                  <a:srgbClr val="D97757"/>
                </a:solidFill>
              </a:defRPr>
            </a:pPr>
            <a:r>
              <a:t>Highlights</a:t>
            </a:r>
          </a:p>
          <a:p>
            <a:pPr>
              <a:spcBef>
                <a:spcPts val="400"/>
              </a:spcBef>
              <a:defRPr sz="1500" b="0">
                <a:solidFill>
                  <a:srgbClr val="2D2D2D"/>
                </a:solidFill>
              </a:defRPr>
            </a:pPr>
            <a:r>
              <a:t>IG: Studio, 2023, Vibing, Valpo, Dalliance 7/18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400" b="1">
                <a:solidFill>
                  <a:srgbClr val="D97757"/>
                </a:solidFill>
              </a:defRPr>
            </a:pPr>
            <a:r>
              <a:t>⚠️  Critical Intel: DOGE Impact on AFS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754880"/>
          </a:xfrm>
          <a:prstGeom prst="rect">
            <a:avLst/>
          </a:prstGeom>
          <a:noFill/>
        </p:spPr>
        <p:txBody>
          <a:bodyPr wrap="square">
            <a:spAutoFit/>
          </a:bodyPr>
          <a:lstStyle/>
          <a:p>
            <a:pPr algn="l">
              <a:defRPr sz="1600" b="0">
                <a:solidFill>
                  <a:srgbClr val="2D2D2D"/>
                </a:solidFill>
              </a:defRPr>
            </a:pPr>
          </a:p>
          <a:p>
            <a:pPr>
              <a:spcBef>
                <a:spcPts val="400"/>
              </a:spcBef>
              <a:defRPr sz="2000" b="1">
                <a:solidFill>
                  <a:srgbClr val="2D2D2D"/>
                </a:solidFill>
              </a:defRPr>
            </a:pPr>
            <a:r>
              <a:t>What Happened</a:t>
            </a:r>
          </a:p>
          <a:p>
            <a:pPr>
              <a:spcBef>
                <a:spcPts val="400"/>
              </a:spcBef>
              <a:defRPr sz="1700" b="0">
                <a:solidFill>
                  <a:srgbClr val="2D2D2D"/>
                </a:solidFill>
              </a:defRPr>
            </a:pPr>
            <a:r>
              <a:t>GSA directed agencies to review contracts with top 10 consulting firms</a:t>
            </a:r>
          </a:p>
          <a:p>
            <a:pPr>
              <a:spcBef>
                <a:spcPts val="400"/>
              </a:spcBef>
              <a:defRPr sz="1700" b="1">
                <a:solidFill>
                  <a:srgbClr val="2D2D2D"/>
                </a:solidFill>
              </a:defRPr>
            </a:pPr>
            <a:r>
              <a:t>30+ AFS contracts terminated  →  ~$240M in claimed DOGE savings</a:t>
            </a:r>
          </a:p>
          <a:p>
            <a:pPr>
              <a:spcBef>
                <a:spcPts val="400"/>
              </a:spcBef>
              <a:defRPr sz="1700" b="0">
                <a:solidFill>
                  <a:srgbClr val="2D2D2D"/>
                </a:solidFill>
              </a:defRPr>
            </a:pPr>
            <a:r>
              <a:t>10 DOE task orders canceled alone  (~$92.8M)</a:t>
            </a:r>
          </a:p>
          <a:p>
            <a:pPr>
              <a:spcBef>
                <a:spcPts val="400"/>
              </a:spcBef>
              <a:defRPr sz="1700" b="0">
                <a:solidFill>
                  <a:srgbClr val="2D2D2D"/>
                </a:solidFill>
              </a:defRPr>
            </a:pPr>
            <a:r>
              <a:t>Pentagon canceled contracts affecting Accenture, Booz Allen, and Deloitte</a:t>
            </a:r>
          </a:p>
          <a:p>
            <a:pPr>
              <a:spcBef>
                <a:spcPts val="400"/>
              </a:spcBef>
              <a:defRPr sz="800" b="0">
                <a:solidFill>
                  <a:srgbClr val="2D2D2D"/>
                </a:solidFill>
              </a:defRPr>
            </a:pPr>
          </a:p>
          <a:p>
            <a:pPr>
              <a:spcBef>
                <a:spcPts val="400"/>
              </a:spcBef>
              <a:defRPr sz="2000" b="1">
                <a:solidFill>
                  <a:srgbClr val="2D2D2D"/>
                </a:solidFill>
              </a:defRPr>
            </a:pPr>
            <a:r>
              <a:t>Business Impact</a:t>
            </a:r>
          </a:p>
          <a:p>
            <a:pPr>
              <a:spcBef>
                <a:spcPts val="400"/>
              </a:spcBef>
              <a:defRPr sz="1700" b="0">
                <a:solidFill>
                  <a:srgbClr val="2D2D2D"/>
                </a:solidFill>
              </a:defRPr>
            </a:pPr>
            <a:r>
              <a:t>Accenture shares fell 7%+ after revenue warning</a:t>
            </a:r>
          </a:p>
          <a:p>
            <a:pPr>
              <a:spcBef>
                <a:spcPts val="400"/>
              </a:spcBef>
              <a:defRPr sz="1700" b="0">
                <a:solidFill>
                  <a:srgbClr val="2D2D2D"/>
                </a:solidFill>
              </a:defRPr>
            </a:pPr>
            <a:r>
              <a:t>New bookings down 3% to $20.9B in Q2</a:t>
            </a:r>
          </a:p>
          <a:p>
            <a:pPr>
              <a:spcBef>
                <a:spcPts val="400"/>
              </a:spcBef>
              <a:defRPr sz="1700" b="0">
                <a:solidFill>
                  <a:srgbClr val="2D2D2D"/>
                </a:solidFill>
              </a:defRPr>
            </a:pPr>
            <a:r>
              <a:t>Company maintains federal work is 'mission-critical'</a:t>
            </a:r>
          </a:p>
          <a:p>
            <a:pPr>
              <a:spcBef>
                <a:spcPts val="400"/>
              </a:spcBef>
              <a:defRPr sz="800" b="0">
                <a:solidFill>
                  <a:srgbClr val="2D2D2D"/>
                </a:solidFill>
              </a:defRPr>
            </a:pPr>
          </a:p>
          <a:p>
            <a:pPr>
              <a:spcBef>
                <a:spcPts val="400"/>
              </a:spcBef>
              <a:defRPr sz="2000" b="1">
                <a:solidFill>
                  <a:srgbClr val="D97757"/>
                </a:solidFill>
              </a:defRPr>
            </a:pPr>
            <a:r>
              <a:t>Why This Matters for Gregory</a:t>
            </a:r>
          </a:p>
          <a:p>
            <a:pPr>
              <a:spcBef>
                <a:spcPts val="400"/>
              </a:spcBef>
              <a:defRPr sz="1700" b="1">
                <a:solidFill>
                  <a:srgbClr val="2D2D2D"/>
                </a:solidFill>
              </a:defRPr>
            </a:pPr>
            <a:r>
              <a:t>He joined AFS in January 2026 — right as DOGE cuts hit hardest</a:t>
            </a:r>
          </a:p>
          <a:p>
            <a:pPr>
              <a:spcBef>
                <a:spcPts val="400"/>
              </a:spcBef>
              <a:defRPr sz="1700" b="0">
                <a:solidFill>
                  <a:srgbClr val="2D2D2D"/>
                </a:solidFill>
              </a:defRPr>
            </a:pPr>
            <a:r>
              <a:t>AI roles may be protected (mission-critical) or at elevated risk</a:t>
            </a:r>
          </a:p>
          <a:p>
            <a:pPr>
              <a:spcBef>
                <a:spcPts val="400"/>
              </a:spcBef>
              <a:defRPr sz="1700" b="0">
                <a:solidFill>
                  <a:srgbClr val="2D2D2D"/>
                </a:solidFill>
              </a:defRPr>
            </a:pPr>
            <a:r>
              <a:t>GB Automation may serve as his hedge against AFS instability</a:t>
            </a:r>
          </a:p>
          <a:p>
            <a:pPr>
              <a:spcBef>
                <a:spcPts val="400"/>
              </a:spcBef>
              <a:defRPr sz="1700" b="0">
                <a:solidFill>
                  <a:srgbClr val="666666"/>
                </a:solidFill>
              </a:defRPr>
            </a:pPr>
            <a:r>
              <a:t>Great conversation angle: 'How is the DOGE situation affecting your work at AFS?'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Key Takeaways (1/2)</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700" b="0">
                <a:solidFill>
                  <a:srgbClr val="2D2D2D"/>
                </a:solidFill>
              </a:defRPr>
            </a:pPr>
            <a:r>
              <a:t>1. Real estate → data science → AI engineering → agentic systems entrepreneur. Non-linear, self-made path.</a:t>
            </a:r>
          </a:p>
          <a:p>
            <a:pPr>
              <a:spcBef>
                <a:spcPts val="400"/>
              </a:spcBef>
              <a:defRPr sz="1700" b="0">
                <a:solidFill>
                  <a:srgbClr val="2D2D2D"/>
                </a:solidFill>
              </a:defRPr>
            </a:pPr>
            <a:r>
              <a:t>2. Dual identity: Corporate stability (AFS Lead AI Engineer) + entrepreneurial hustle (GB Automation).</a:t>
            </a:r>
          </a:p>
          <a:p>
            <a:pPr>
              <a:spcBef>
                <a:spcPts val="400"/>
              </a:spcBef>
              <a:defRPr sz="1700" b="0">
                <a:solidFill>
                  <a:srgbClr val="2D2D2D"/>
                </a:solidFill>
              </a:defRPr>
            </a:pPr>
            <a:r>
              <a:t>3. Proven client results: Spotify API automation for Joywave, 40% conversion AI SDR, UK FinTech sales ops.</a:t>
            </a:r>
          </a:p>
          <a:p>
            <a:pPr>
              <a:spcBef>
                <a:spcPts val="400"/>
              </a:spcBef>
              <a:defRPr sz="1700" b="0">
                <a:solidFill>
                  <a:srgbClr val="2D2D2D"/>
                </a:solidFill>
              </a:defRPr>
            </a:pPr>
            <a:r>
              <a:t>4. Full-stack AI consulting: Claude API, LangChain, RAG, n8n, Supabase, Salesforce, FastAPI — rare breadth.</a:t>
            </a:r>
          </a:p>
          <a:p>
            <a:pPr>
              <a:spcBef>
                <a:spcPts val="400"/>
              </a:spcBef>
              <a:defRPr sz="1700" b="0">
                <a:solidFill>
                  <a:srgbClr val="2D2D2D"/>
                </a:solidFill>
              </a:defRPr>
            </a:pPr>
            <a:r>
              <a:t>5. International experience: Lived/worked in Santiago, Chile. Bilingual English/Spanish.</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Key Takeaways (2/2)</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700" b="0">
                <a:solidFill>
                  <a:srgbClr val="2D2D2D"/>
                </a:solidFill>
              </a:defRPr>
            </a:pPr>
            <a:r>
              <a:t>6. ~3M Threads followers vs 1.4K IG — massive audience exists, just not on Instagram. Threads is the distribution engine.</a:t>
            </a:r>
          </a:p>
          <a:p>
            <a:pPr>
              <a:spcBef>
                <a:spcPts val="400"/>
              </a:spcBef>
              <a:defRPr sz="1700" b="0">
                <a:solidFill>
                  <a:srgbClr val="2D2D2D"/>
                </a:solidFill>
              </a:defRPr>
            </a:pPr>
            <a:r>
              <a:t>7. 10+ years in Toastmasters — strong communicator and public speaker. Selling should come naturally.</a:t>
            </a:r>
          </a:p>
          <a:p>
            <a:pPr>
              <a:spcBef>
                <a:spcPts val="400"/>
              </a:spcBef>
              <a:defRPr sz="1700" b="0">
                <a:solidFill>
                  <a:srgbClr val="2D2D2D"/>
                </a:solidFill>
              </a:defRPr>
            </a:pPr>
            <a:r>
              <a:t>8. Real estate foundation (Penn State + 3 years CRE) gives unique domain knowledge for proptech/fintech clients.</a:t>
            </a:r>
          </a:p>
          <a:p>
            <a:pPr>
              <a:spcBef>
                <a:spcPts val="400"/>
              </a:spcBef>
              <a:defRPr sz="1700" b="0">
                <a:solidFill>
                  <a:srgbClr val="2D2D2D"/>
                </a:solidFill>
              </a:defRPr>
            </a:pPr>
            <a:r>
              <a:t>9. Follows Gary Vee and Kevin O'Leary — entrepreneurial, growth-minded, values hustle culture.</a:t>
            </a:r>
          </a:p>
          <a:p>
            <a:pPr>
              <a:spcBef>
                <a:spcPts val="400"/>
              </a:spcBef>
              <a:defRPr sz="1700" b="0">
                <a:solidFill>
                  <a:srgbClr val="2D2D2D"/>
                </a:solidFill>
              </a:defRPr>
            </a:pPr>
            <a:r>
              <a:t>10. Instagram is intentionally personal (no business content) — deliberate brand separation from professional identity.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Conversation Starters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1800" b="0">
                <a:solidFill>
                  <a:srgbClr val="2D2D2D"/>
                </a:solidFill>
              </a:defRPr>
            </a:pPr>
            <a:r>
              <a:t>1. The Spotify API project for Joywave — how did that client relationship start?</a:t>
            </a:r>
          </a:p>
          <a:p>
            <a:pPr>
              <a:spcBef>
                <a:spcPts val="400"/>
              </a:spcBef>
              <a:defRPr sz="1800" b="0">
                <a:solidFill>
                  <a:srgbClr val="2D2D2D"/>
                </a:solidFill>
              </a:defRPr>
            </a:pPr>
            <a:r>
              <a:t>2. Transition from real estate to data science — what was the catalyst moment?</a:t>
            </a:r>
          </a:p>
          <a:p>
            <a:pPr>
              <a:spcBef>
                <a:spcPts val="400"/>
              </a:spcBef>
              <a:defRPr sz="1800" b="0">
                <a:solidFill>
                  <a:srgbClr val="2D2D2D"/>
                </a:solidFill>
              </a:defRPr>
            </a:pPr>
            <a:r>
              <a:t>3. Chile experience at Econsult — was that what sparked the Spanish fluency?</a:t>
            </a:r>
          </a:p>
          <a:p>
            <a:pPr>
              <a:spcBef>
                <a:spcPts val="400"/>
              </a:spcBef>
              <a:defRPr sz="1800" b="0">
                <a:solidFill>
                  <a:srgbClr val="2D2D2D"/>
                </a:solidFill>
              </a:defRPr>
            </a:pPr>
            <a:r>
              <a:t>4. Threads growth to ~3M — what content resonated? Was it organic?</a:t>
            </a:r>
          </a:p>
          <a:p>
            <a:pPr>
              <a:spcBef>
                <a:spcPts val="400"/>
              </a:spcBef>
              <a:defRPr sz="1800" b="0">
                <a:solidFill>
                  <a:srgbClr val="2D2D2D"/>
                </a:solidFill>
              </a:defRPr>
            </a:pPr>
            <a:r>
              <a:t>5. Running GB Automation alongside Accenture during the DOGE cuts — how are you navigating that?</a:t>
            </a:r>
          </a:p>
          <a:p>
            <a:pPr>
              <a:spcBef>
                <a:spcPts val="400"/>
              </a:spcBef>
              <a:defRPr sz="1800" b="0">
                <a:solidFill>
                  <a:srgbClr val="2D2D2D"/>
                </a:solidFill>
              </a:defRPr>
            </a:pPr>
            <a:r>
              <a:t>6. The 40% conversion rate on the AI SDR Campaign Manager — what made it work?</a:t>
            </a:r>
          </a:p>
          <a:p>
            <a:pPr>
              <a:spcBef>
                <a:spcPts val="400"/>
              </a:spcBef>
              <a:defRPr sz="1800" b="0">
                <a:solidFill>
                  <a:srgbClr val="2D2D2D"/>
                </a:solidFill>
              </a:defRPr>
            </a:pPr>
            <a:r>
              <a:t>7. gbautomation.xyz is under construction — what's the vision for the website launch?</a:t>
            </a:r>
          </a:p>
          <a:p>
            <a:pPr>
              <a:spcBef>
                <a:spcPts val="400"/>
              </a:spcBef>
              <a:defRPr sz="1800" b="0">
                <a:solidFill>
                  <a:srgbClr val="2D2D2D"/>
                </a:solidFill>
              </a:defRPr>
            </a:pPr>
            <a:r>
              <a:t>8. Toastmasters for 10+ years — how has that shaped your consulting sales approach?</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3F1E7"/>
        </a:solidFill>
        <a:effectLst/>
      </p:bgPr>
    </p:bg>
    <p:spTree>
      <p:nvGrpSpPr>
        <p:cNvPr id="1" name=""/>
        <p:cNvGrpSpPr/>
        <p:nvPr/>
      </p:nvGrpSpPr>
      <p:grpSpPr/>
      <p:sp>
        <p:nvSpPr>
          <p:cNvPr id="2" name="TextBox 1"/>
          <p:cNvSpPr txBox="1"/>
          <p:nvPr/>
        </p:nvSpPr>
        <p:spPr>
          <a:xfrm>
            <a:off x="731520" y="457200"/>
            <a:ext cx="10058400" cy="640080"/>
          </a:xfrm>
          <a:prstGeom prst="rect">
            <a:avLst/>
          </a:prstGeom>
          <a:noFill/>
        </p:spPr>
        <p:txBody>
          <a:bodyPr wrap="square">
            <a:spAutoFit/>
          </a:bodyPr>
          <a:lstStyle/>
          <a:p>
            <a:pPr algn="l">
              <a:defRPr sz="3600" b="1">
                <a:solidFill>
                  <a:srgbClr val="2D2D2D"/>
                </a:solidFill>
              </a:defRPr>
            </a:pPr>
            <a:r>
              <a:t>Next Steps</a:t>
            </a:r>
          </a:p>
        </p:txBody>
      </p:sp>
      <p:sp>
        <p:nvSpPr>
          <p:cNvPr id="3" name="Rectangle 2"/>
          <p:cNvSpPr/>
          <p:nvPr/>
        </p:nvSpPr>
        <p:spPr>
          <a:xfrm>
            <a:off x="731520" y="1188720"/>
            <a:ext cx="1828800" cy="54864"/>
          </a:xfrm>
          <a:prstGeom prst="rect">
            <a:avLst/>
          </a:prstGeom>
          <a:solidFill>
            <a:srgbClr val="D977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554480"/>
            <a:ext cx="10515600" cy="4572000"/>
          </a:xfrm>
          <a:prstGeom prst="rect">
            <a:avLst/>
          </a:prstGeom>
          <a:noFill/>
        </p:spPr>
        <p:txBody>
          <a:bodyPr wrap="square">
            <a:spAutoFit/>
          </a:bodyPr>
          <a:lstStyle/>
          <a:p>
            <a:pPr algn="l">
              <a:defRPr sz="1600" b="0">
                <a:solidFill>
                  <a:srgbClr val="2D2D2D"/>
                </a:solidFill>
              </a:defRPr>
            </a:pPr>
          </a:p>
          <a:p>
            <a:pPr>
              <a:spcBef>
                <a:spcPts val="400"/>
              </a:spcBef>
              <a:defRPr sz="2200" b="1">
                <a:solidFill>
                  <a:srgbClr val="D97757"/>
                </a:solidFill>
              </a:defRPr>
            </a:pPr>
            <a:r>
              <a:t>Profile Audit Actions</a:t>
            </a:r>
          </a:p>
          <a:p>
            <a:pPr>
              <a:spcBef>
                <a:spcPts val="400"/>
              </a:spcBef>
              <a:defRPr sz="1700" b="0">
                <a:solidFill>
                  <a:srgbClr val="2D2D2D"/>
                </a:solidFill>
              </a:defRPr>
            </a:pPr>
            <a:r>
              <a:t>Update LinkedIn location (Venice LA vs New York discrepancy)</a:t>
            </a:r>
          </a:p>
          <a:p>
            <a:pPr>
              <a:spcBef>
                <a:spcPts val="400"/>
              </a:spcBef>
              <a:defRPr sz="1700" b="0">
                <a:solidFill>
                  <a:srgbClr val="2D2D2D"/>
                </a:solidFill>
              </a:defRPr>
            </a:pPr>
            <a:r>
              <a:t>Add AI/automation content to Instagram (or keep separation intentional)</a:t>
            </a:r>
          </a:p>
          <a:p>
            <a:pPr>
              <a:spcBef>
                <a:spcPts val="400"/>
              </a:spcBef>
              <a:defRPr sz="1700" b="0">
                <a:solidFill>
                  <a:srgbClr val="2D2D2D"/>
                </a:solidFill>
              </a:defRPr>
            </a:pPr>
            <a:r>
              <a:t>Leverage Threads audience for consulting lead gen</a:t>
            </a:r>
          </a:p>
          <a:p>
            <a:pPr>
              <a:spcBef>
                <a:spcPts val="400"/>
              </a:spcBef>
              <a:defRPr sz="1700" b="0">
                <a:solidFill>
                  <a:srgbClr val="2D2D2D"/>
                </a:solidFill>
              </a:defRPr>
            </a:pPr>
            <a:r>
              <a:t>Request more LinkedIn recommendations (only 1 currently)</a:t>
            </a:r>
          </a:p>
          <a:p>
            <a:pPr>
              <a:spcBef>
                <a:spcPts val="400"/>
              </a:spcBef>
              <a:defRPr sz="1700" b="0">
                <a:solidFill>
                  <a:srgbClr val="2D2D2D"/>
                </a:solidFill>
              </a:defRPr>
            </a:pPr>
            <a:r>
              <a:t>Fill in Sr Data and AI Engineer role details (partially visible)</a:t>
            </a:r>
          </a:p>
          <a:p>
            <a:pPr>
              <a:spcBef>
                <a:spcPts val="400"/>
              </a:spcBef>
              <a:defRPr sz="1000" b="0">
                <a:solidFill>
                  <a:srgbClr val="2D2D2D"/>
                </a:solidFill>
              </a:defRPr>
            </a:pPr>
          </a:p>
          <a:p>
            <a:pPr>
              <a:spcBef>
                <a:spcPts val="400"/>
              </a:spcBef>
              <a:defRPr sz="2200" b="1">
                <a:solidFill>
                  <a:srgbClr val="D97757"/>
                </a:solidFill>
              </a:defRPr>
            </a:pPr>
            <a:r>
              <a:t>Research Follow-ups</a:t>
            </a:r>
          </a:p>
          <a:p>
            <a:pPr>
              <a:spcBef>
                <a:spcPts val="400"/>
              </a:spcBef>
              <a:defRPr sz="1700" b="0">
                <a:solidFill>
                  <a:srgbClr val="2D2D2D"/>
                </a:solidFill>
              </a:defRPr>
            </a:pPr>
            <a:r>
              <a:t>Deep-dive @gb.noir.lugar secondary account</a:t>
            </a:r>
          </a:p>
          <a:p>
            <a:pPr>
              <a:spcBef>
                <a:spcPts val="400"/>
              </a:spcBef>
              <a:defRPr sz="1700" b="0">
                <a:solidFill>
                  <a:srgbClr val="2D2D2D"/>
                </a:solidFill>
              </a:defRPr>
            </a:pPr>
            <a:r>
              <a:t>Threads content analysis (what drove 3M followers?)</a:t>
            </a:r>
          </a:p>
          <a:p>
            <a:pPr>
              <a:spcBef>
                <a:spcPts val="400"/>
              </a:spcBef>
              <a:defRPr sz="1700" b="0">
                <a:solidFill>
                  <a:srgbClr val="2D2D2D"/>
                </a:solidFill>
              </a:defRPr>
            </a:pPr>
            <a:r>
              <a:t>AFS internal visibility — is there an AI practice lead opportunity?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