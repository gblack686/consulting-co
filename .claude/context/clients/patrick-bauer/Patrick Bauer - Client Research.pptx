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4400">
                <a:solidFill>
                  <a:srgbClr val="2D2D2D"/>
                </a:solidFill>
                <a:latin typeface="Calibri"/>
              </a:defRPr>
            </a:pPr>
            <a:r>
              <a:t>Patrick Bauer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>
                <a:solidFill>
                  <a:srgbClr val="D97757"/>
                </a:solidFill>
                <a:latin typeface="Calibri"/>
              </a:defRPr>
            </a:pPr>
            <a:r>
              <a:t>Deep Personalization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666666"/>
                </a:solidFill>
                <a:latin typeface="Calibri"/>
              </a:defRPr>
            </a:pPr>
            <a:r>
              <a:t>2026-03-08  |  Director of Business Strategy, Advisory Practice @ Acquisition.com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3200">
                <a:solidFill>
                  <a:srgbClr val="2D2D2D"/>
                </a:solidFill>
                <a:latin typeface="Calibri"/>
              </a:defRPr>
            </a:pPr>
            <a:r>
              <a:t>Profile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D2D2D"/>
                </a:solidFill>
                <a:latin typeface="Calibri"/>
              </a:rPr>
              <a:t>Name</a:t>
            </a:r>
            <a:r>
              <a:rPr sz="1600" b="0">
                <a:solidFill>
                  <a:srgbClr val="2D2D2D"/>
                </a:solidFill>
                <a:latin typeface="Calibri"/>
              </a:rPr>
              <a:t>: Patrick Bauer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D2D2D"/>
                </a:solidFill>
                <a:latin typeface="Calibri"/>
              </a:rPr>
              <a:t>Headline</a:t>
            </a:r>
            <a:r>
              <a:rPr sz="1600" b="0">
                <a:solidFill>
                  <a:srgbClr val="2D2D2D"/>
                </a:solidFill>
                <a:latin typeface="Calibri"/>
              </a:rPr>
              <a:t>: Director of Business Strategy, Advisory Practice @ Acquisition.com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D2D2D"/>
                </a:solidFill>
                <a:latin typeface="Calibri"/>
              </a:rPr>
              <a:t>Location</a:t>
            </a:r>
            <a:r>
              <a:rPr sz="1600" b="0">
                <a:solidFill>
                  <a:srgbClr val="2D2D2D"/>
                </a:solidFill>
                <a:latin typeface="Calibri"/>
              </a:rPr>
              <a:t>: Las Vegas, Nevada, United States (previously Santa Monica, CA)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D2D2D"/>
                </a:solidFill>
                <a:latin typeface="Calibri"/>
              </a:rPr>
              <a:t>Current Role</a:t>
            </a:r>
            <a:r>
              <a:rPr sz="1600" b="0">
                <a:solidFill>
                  <a:srgbClr val="2D2D2D"/>
                </a:solidFill>
                <a:latin typeface="Calibri"/>
              </a:rPr>
              <a:t>: Director of Business Strategy (Sales &amp; Growth) at Acquisition.com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D2D2D"/>
                </a:solidFill>
                <a:latin typeface="Calibri"/>
              </a:rPr>
              <a:t>Connection</a:t>
            </a:r>
            <a:r>
              <a:rPr sz="1600" b="0">
                <a:solidFill>
                  <a:srgbClr val="2D2D2D"/>
                </a:solidFill>
                <a:latin typeface="Calibri"/>
              </a:rPr>
              <a:t>: 1st (105 mutual connections including Graham, Tom)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D2D2D"/>
                </a:solidFill>
                <a:latin typeface="Calibri"/>
              </a:rPr>
              <a:t>LinkedIn</a:t>
            </a:r>
            <a:r>
              <a:rPr sz="1600" b="0">
                <a:solidFill>
                  <a:srgbClr val="2D2D2D"/>
                </a:solidFill>
                <a:latin typeface="Calibri"/>
              </a:rPr>
              <a:t>: https://www.linkedin.com/in/patrick-bauer-86a29527/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D2D2D"/>
                </a:solidFill>
                <a:latin typeface="Calibri"/>
              </a:rPr>
              <a:t>Languages</a:t>
            </a:r>
            <a:r>
              <a:rPr sz="1600" b="0">
                <a:solidFill>
                  <a:srgbClr val="2D2D2D"/>
                </a:solidFill>
                <a:latin typeface="Calibri"/>
              </a:rPr>
              <a:t>: Czech, Spanish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D2D2D"/>
                </a:solidFill>
                <a:latin typeface="Calibri"/>
              </a:rPr>
              <a:t>Education</a:t>
            </a:r>
            <a:r>
              <a:rPr sz="1600" b="0">
                <a:solidFill>
                  <a:srgbClr val="2D2D2D"/>
                </a:solidFill>
                <a:latin typeface="Calibri"/>
              </a:rPr>
              <a:t>: Penn State University - BS Energy Business and Finance (Oil &amp; Gas), 2008-2012</a:t>
            </a:r>
          </a:p>
        </p:txBody>
      </p:sp>
      <p:pic>
        <p:nvPicPr>
          <p:cNvPr id="5" name="Picture 4" descr="profile-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280160"/>
            <a:ext cx="4389120" cy="263815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3200">
                <a:solidFill>
                  <a:srgbClr val="2D2D2D"/>
                </a:solidFill>
                <a:latin typeface="Calibri"/>
              </a:defRPr>
            </a:pPr>
            <a:r>
              <a:t>Career &amp;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D2D2D"/>
                </a:solidFill>
                <a:latin typeface="Calibri"/>
              </a:rPr>
              <a:t>Director of Business Strategy (Sales &amp; Growth), Advisory Practice</a:t>
            </a:r>
            <a:r>
              <a:rPr sz="1300" b="0">
                <a:solidFill>
                  <a:srgbClr val="2D2D2D"/>
                </a:solidFill>
                <a:latin typeface="Calibri"/>
              </a:rPr>
              <a:t>  |  Acquisition.com** - Full-time  |  Jan 2026 - Present (3 mos)</a:t>
            </a:r>
          </a:p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    Las Vegas, Nevada, United States - On-site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D2D2D"/>
                </a:solidFill>
                <a:latin typeface="Calibri"/>
              </a:rPr>
              <a:t>Investor</a:t>
            </a:r>
            <a:r>
              <a:rPr sz="1300" b="0">
                <a:solidFill>
                  <a:srgbClr val="2D2D2D"/>
                </a:solidFill>
                <a:latin typeface="Calibri"/>
              </a:rPr>
              <a:t>  |  Winrate** (AI-powered meeting scheduling app, pre-seed, Boston)  |  Dec 2024 - Present (1 yr 4 mos)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D2D2D"/>
                </a:solidFill>
                <a:latin typeface="Calibri"/>
              </a:rPr>
              <a:t>Co-Founder | Head of Commercial Development &amp; Advisory</a:t>
            </a:r>
            <a:r>
              <a:rPr sz="1300" b="0">
                <a:solidFill>
                  <a:srgbClr val="2D2D2D"/>
                </a:solidFill>
                <a:latin typeface="Calibri"/>
              </a:rPr>
              <a:t>  |  Amherst Brands / Amherst Advisory** - Full-time  |  Nov 2019 - Dec 2025 (6 yrs 2 mos)</a:t>
            </a:r>
          </a:p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    Santa Monica, California &amp; Dallas, Texas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D2D2D"/>
                </a:solidFill>
                <a:latin typeface="Calibri"/>
              </a:rPr>
              <a:t>Co-Founder &amp; Head of Expansion</a:t>
            </a:r>
            <a:r>
              <a:rPr sz="1300" b="0">
                <a:solidFill>
                  <a:srgbClr val="2D2D2D"/>
                </a:solidFill>
                <a:latin typeface="Calibri"/>
              </a:rPr>
              <a:t>  |  Avenoo** - Full-time  |  Mar 2021 - Nov 2025 (4 yrs 9 mos)</a:t>
            </a:r>
          </a:p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    Santa Monica, California - Hybrid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D2D2D"/>
                </a:solidFill>
                <a:latin typeface="Calibri"/>
              </a:rPr>
              <a:t>Director Of Business Development &amp; Strategic Partnerships</a:t>
            </a:r>
            <a:r>
              <a:rPr sz="1300" b="0">
                <a:solidFill>
                  <a:srgbClr val="2D2D2D"/>
                </a:solidFill>
                <a:latin typeface="Calibri"/>
              </a:rPr>
              <a:t>  |  Cura Cannabis Solutions** - Full-time  |  Jun 2019 - Nov 2019 (6 mos)</a:t>
            </a:r>
          </a:p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    Led new market expansion pre-acquisition. Cura Partners (parent of Select Oil brand) was acquired by Curaleaf Holdings for ~$1 billion. Patr...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D2D2D"/>
                </a:solidFill>
                <a:latin typeface="Calibri"/>
              </a:rPr>
              <a:t>Earlier Career</a:t>
            </a:r>
            <a:r>
              <a:rPr sz="1300" b="0">
                <a:solidFill>
                  <a:srgbClr val="2D2D2D"/>
                </a:solidFill>
                <a:latin typeface="Calibri"/>
              </a:rPr>
              <a:t>  |  - </a:t>
            </a:r>
            <a:r>
              <a:rPr sz="1300" b="1">
                <a:solidFill>
                  <a:srgbClr val="2D2D2D"/>
                </a:solidFill>
                <a:latin typeface="Calibri"/>
              </a:rPr>
              <a:t>ELLO Capital</a:t>
            </a:r>
            <a:r>
              <a:rPr sz="1300" b="0">
                <a:solidFill>
                  <a:srgbClr val="2D2D2D"/>
                </a:solidFill>
                <a:latin typeface="Calibri"/>
              </a:rPr>
              <a:t> - role details unknown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D2D2D"/>
                </a:solidFill>
                <a:latin typeface="Calibri"/>
              </a:rPr>
              <a:t>    - </a:t>
            </a:r>
            <a:r>
              <a:rPr sz="1300" b="1">
                <a:solidFill>
                  <a:srgbClr val="2D2D2D"/>
                </a:solidFill>
                <a:latin typeface="Calibri"/>
              </a:rPr>
              <a:t>SoCalGas (Southern California Gas Company)</a:t>
            </a:r>
            <a:r>
              <a:rPr sz="1300" b="0">
                <a:solidFill>
                  <a:srgbClr val="2D2D2D"/>
                </a:solidFill>
                <a:latin typeface="Calibri"/>
              </a:rPr>
              <a:t> - aligns with Penn State Energy Business degree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3200">
                <a:solidFill>
                  <a:srgbClr val="2D2D2D"/>
                </a:solidFill>
                <a:latin typeface="Calibri"/>
              </a:defRPr>
            </a:pPr>
            <a:r>
              <a:t>Systems, Skills &amp; Methodologies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2000">
                <a:solidFill>
                  <a:srgbClr val="D97757"/>
                </a:solidFill>
                <a:latin typeface="Calibri"/>
              </a:defRPr>
            </a:pPr>
            <a:r>
              <a:t>Proprietary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D2D2D"/>
                </a:solidFill>
                <a:latin typeface="Calibri"/>
              </a:rPr>
              <a:t>Sales Engines</a:t>
            </a:r>
            <a:r>
              <a:rPr sz="1300" b="0">
                <a:solidFill>
                  <a:srgbClr val="2D2D2D"/>
                </a:solidFill>
                <a:latin typeface="Calibri"/>
              </a:rPr>
              <a:t> — Repeatable sales engines for 60+ CPG brands (Amherst)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D2D2D"/>
                </a:solidFill>
                <a:latin typeface="Calibri"/>
              </a:rPr>
              <a:t>GTM Systems</a:t>
            </a:r>
            <a:r>
              <a:rPr sz="1300" b="0">
                <a:solidFill>
                  <a:srgbClr val="2D2D2D"/>
                </a:solidFill>
                <a:latin typeface="Calibri"/>
              </a:rPr>
              <a:t> — National expansion playbooks across 39 states (Amherst)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D2D2D"/>
                </a:solidFill>
                <a:latin typeface="Calibri"/>
              </a:rPr>
              <a:t>CRM Architecture</a:t>
            </a:r>
            <a:r>
              <a:rPr sz="1300" b="0">
                <a:solidFill>
                  <a:srgbClr val="2D2D2D"/>
                </a:solidFill>
                <a:latin typeface="Calibri"/>
              </a:rPr>
              <a:t> — Pipeliner CRM implementation (confirmed via video testimonial) (Amherst)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D2D2D"/>
                </a:solidFill>
                <a:latin typeface="Calibri"/>
              </a:rPr>
              <a:t>Forecasting Dashboards</a:t>
            </a:r>
            <a:r>
              <a:rPr sz="1300" b="0">
                <a:solidFill>
                  <a:srgbClr val="2D2D2D"/>
                </a:solidFill>
                <a:latin typeface="Calibri"/>
              </a:rPr>
              <a:t> — Pipeline and revenue forecasting (Amherst)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D2D2D"/>
                </a:solidFill>
                <a:latin typeface="Calibri"/>
              </a:rPr>
              <a:t>KPI Frameworks</a:t>
            </a:r>
            <a:r>
              <a:rPr sz="1300" b="0">
                <a:solidFill>
                  <a:srgbClr val="2D2D2D"/>
                </a:solidFill>
                <a:latin typeface="Calibri"/>
              </a:rPr>
              <a:t> — Sales team measurement frameworks (Amherst)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D2D2D"/>
                </a:solidFill>
                <a:latin typeface="Calibri"/>
              </a:rPr>
              <a:t>Retail Access Code</a:t>
            </a:r>
            <a:r>
              <a:rPr sz="1300" b="0">
                <a:solidFill>
                  <a:srgbClr val="2D2D2D"/>
                </a:solidFill>
                <a:latin typeface="Calibri"/>
              </a:rPr>
              <a:t> — Unique codes retailers share with wanted vendors (Avenoo)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914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2000">
                <a:solidFill>
                  <a:srgbClr val="D97757"/>
                </a:solidFill>
                <a:latin typeface="Calibri"/>
              </a:defRPr>
            </a:pPr>
            <a:r>
              <a:t>Core 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Brand Management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Establishing Strategic Partnerships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Go-to-Market Strategy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Strategic Consulting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Product Strategy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B2B Software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Business Development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Brand Consulting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3200">
                <a:solidFill>
                  <a:srgbClr val="2D2D2D"/>
                </a:solidFill>
                <a:latin typeface="Calibri"/>
              </a:defRPr>
            </a:pPr>
            <a:r>
              <a:t>Personal &amp; Digital Footprint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Instagram</a:t>
            </a:r>
            <a:r>
              <a:rPr sz="1500" b="0">
                <a:solidFill>
                  <a:srgbClr val="2D2D2D"/>
                </a:solidFill>
                <a:latin typeface="Calibri"/>
              </a:rPr>
              <a:t>: None (confirmed)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Social media presence</a:t>
            </a:r>
            <a:r>
              <a:rPr sz="1500" b="0">
                <a:solidFill>
                  <a:srgbClr val="2D2D2D"/>
                </a:solidFill>
                <a:latin typeface="Calibri"/>
              </a:rPr>
              <a:t>: Very low — no personal Twitter/X, TikTok, or public Facebook found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Podcast appearances</a:t>
            </a:r>
            <a:r>
              <a:rPr sz="1500" b="0">
                <a:solidFill>
                  <a:srgbClr val="2D2D2D"/>
                </a:solidFill>
                <a:latin typeface="Calibri"/>
              </a:rPr>
              <a:t>: None found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Books</a:t>
            </a:r>
            <a:r>
              <a:rPr sz="1500" b="0">
                <a:solidFill>
                  <a:srgbClr val="2D2D2D"/>
                </a:solidFill>
                <a:latin typeface="Calibri"/>
              </a:rPr>
              <a:t>: None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Awards</a:t>
            </a:r>
            <a:r>
              <a:rPr sz="1500" b="0">
                <a:solidFill>
                  <a:srgbClr val="2D2D2D"/>
                </a:solidFill>
                <a:latin typeface="Calibri"/>
              </a:rPr>
              <a:t>: None found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Sports</a:t>
            </a:r>
            <a:r>
              <a:rPr sz="1500" b="0">
                <a:solidFill>
                  <a:srgbClr val="2D2D2D"/>
                </a:solidFill>
                <a:latin typeface="Calibri"/>
              </a:rPr>
              <a:t>: None found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Charity/community</a:t>
            </a:r>
            <a:r>
              <a:rPr sz="1500" b="0">
                <a:solidFill>
                  <a:srgbClr val="2D2D2D"/>
                </a:solidFill>
                <a:latin typeface="Calibri"/>
              </a:rPr>
              <a:t>: None found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IMDB</a:t>
            </a:r>
            <a:r>
              <a:rPr sz="1500" b="0">
                <a:solidFill>
                  <a:srgbClr val="2D2D2D"/>
                </a:solidFill>
                <a:latin typeface="Calibri"/>
              </a:rPr>
              <a:t>: None (different Patrick Bauer — horror film director)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Family/spouse</a:t>
            </a:r>
            <a:r>
              <a:rPr sz="1500" b="0">
                <a:solidFill>
                  <a:srgbClr val="2D2D2D"/>
                </a:solidFill>
                <a:latin typeface="Calibri"/>
              </a:rPr>
              <a:t>: Not publicly available</a:t>
            </a:r>
          </a:p>
          <a:p>
            <a:pPr>
              <a:spcAft>
                <a:spcPts val="600"/>
              </a:spcAft>
              <a:defRPr sz="1500">
                <a:solidFill>
                  <a:srgbClr val="2D2D2D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Media Appearances</a:t>
            </a:r>
            <a:r>
              <a:rPr sz="1500" b="0">
                <a:solidFill>
                  <a:srgbClr val="2D2D2D"/>
                </a:solidFill>
                <a:latin typeface="Calibri"/>
              </a:rPr>
              <a:t>: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D2D2D"/>
                </a:solidFill>
                <a:latin typeface="Calibri"/>
              </a:rPr>
              <a:t>  </a:t>
            </a:r>
            <a:r>
              <a:rPr sz="1500" b="1">
                <a:solidFill>
                  <a:srgbClr val="2D2D2D"/>
                </a:solidFill>
                <a:latin typeface="Calibri"/>
              </a:rPr>
              <a:t>Pipeliner CRM Testimonial</a:t>
            </a:r>
            <a:r>
              <a:rPr sz="1500" b="0">
                <a:solidFill>
                  <a:srgbClr val="2D2D2D"/>
                </a:solidFill>
                <a:latin typeface="Calibri"/>
              </a:rPr>
              <a:t> (Facebook video): Patrick as "President, Amherst Brands" discussing CRM-driven sales optimization. Quote: "I highly suggest using Pipeliner, it is a tool that has absolutely sky-rocketed our business to where it needs to be."</a:t>
            </a:r>
          </a:p>
          <a:p>
            <a:pPr>
              <a:spcAft>
                <a:spcPts val="6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  https://www.facebook.com/pipelinercrm/videos/617852646757521/</a:t>
            </a:r>
          </a:p>
          <a:p>
            <a:pPr>
              <a:spcAft>
                <a:spcPts val="6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  https://www.pipelinersales.com/sales/case-studies-testimonials/amherst-brands/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3200">
                <a:solidFill>
                  <a:srgbClr val="2D2D2D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$1B exit proximity</a:t>
            </a:r>
            <a:r>
              <a:rPr sz="1400" b="0">
                <a:solidFill>
                  <a:srgbClr val="2D2D2D"/>
                </a:solidFill>
                <a:latin typeface="Calibri"/>
              </a:rPr>
              <a:t> — was at Cura Cannabis during pre-acquisition positioning before $1B Curaleaf deal. Understands M&amp;A preparation and what makes a company acquisition-ready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Hormozi's inner circle</a:t>
            </a:r>
            <a:r>
              <a:rPr sz="1400" b="0">
                <a:solidFill>
                  <a:srgbClr val="2D2D2D"/>
                </a:solidFill>
                <a:latin typeface="Calibri"/>
              </a:rPr>
              <a:t> — now at Acquisition.com advising $3M-$150M businesses. Has access to the Hormozi playbook (offers, leads, scaling frameworks)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Regulatory navigation expert</a:t>
            </a:r>
            <a:r>
              <a:rPr sz="1400" b="0">
                <a:solidFill>
                  <a:srgbClr val="2D2D2D"/>
                </a:solidFill>
                <a:latin typeface="Calibri"/>
              </a:rPr>
              <a:t> — built a national business in hemp/THC/delta-8/CBD across 39 states, one of the most complex regulatory landscapes in CPG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Platform builder</a:t>
            </a:r>
            <a:r>
              <a:rPr sz="1400" b="0">
                <a:solidFill>
                  <a:srgbClr val="2D2D2D"/>
                </a:solidFill>
                <a:latin typeface="Calibri"/>
              </a:rPr>
              <a:t> — Avenoo proves he can conceive, build, and ship a SaaS product. The Retail Access Code is a genuinely novel mechanism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Penn State connection</a:t>
            </a:r>
            <a:r>
              <a:rPr sz="1400" b="0">
                <a:solidFill>
                  <a:srgbClr val="2D2D2D"/>
                </a:solidFill>
                <a:latin typeface="Calibri"/>
              </a:rPr>
              <a:t> — 2011-2012 overlap, 105 mutual connections. Strong warm intro context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CRM philosopher</a:t>
            </a:r>
            <a:r>
              <a:rPr sz="1400" b="0">
                <a:solidFill>
                  <a:srgbClr val="2D2D2D"/>
                </a:solidFill>
                <a:latin typeface="Calibri"/>
              </a:rPr>
              <a:t> — public testimonial for Pipeliner CRM; likely has strong opinions on sales ops tooling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AI/automation goldmine</a:t>
            </a:r>
            <a:r>
              <a:rPr sz="1400" b="0">
                <a:solidFill>
                  <a:srgbClr val="2D2D2D"/>
                </a:solidFill>
                <a:latin typeface="Calibri"/>
              </a:rPr>
              <a:t> — his expertise in CRM architecture, forecasting dashboards, KPI frameworks, and sales engines are all prime targets for AI agent augmentation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Vertically integrated thinker</a:t>
            </a:r>
            <a:r>
              <a:rPr sz="1400" b="0">
                <a:solidFill>
                  <a:srgbClr val="2D2D2D"/>
                </a:solidFill>
                <a:latin typeface="Calibri"/>
              </a:rPr>
              <a:t> — advisory + distribution + SaaS platform all serving the same market. Understands the full stack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3200">
                <a:solidFill>
                  <a:srgbClr val="2D2D2D"/>
                </a:solidFill>
                <a:latin typeface="Calibri"/>
              </a:defRPr>
            </a:pPr>
            <a:r>
              <a:t>Conversation Starters &amp; Personal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Pipeliner CRM</a:t>
            </a:r>
            <a:r>
              <a:rPr sz="1500" b="0">
                <a:solidFill>
                  <a:srgbClr val="2D2D2D"/>
                </a:solidFill>
                <a:latin typeface="Calibri"/>
              </a:rPr>
              <a:t> -- he gave a public testimonial; ask about his CRM philosophy and how he'd architect CRM for a new portfolio company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Cura Cannabis / Select Oil</a:t>
            </a:r>
            <a:r>
              <a:rPr sz="1500" b="0">
                <a:solidFill>
                  <a:srgbClr val="2D2D2D"/>
                </a:solidFill>
                <a:latin typeface="Calibri"/>
              </a:rPr>
              <a:t> -- he was there pre-acquisition ($1B deal); great M&amp;A positioning story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Penn State Energy Business &amp; Finance</a:t>
            </a:r>
            <a:r>
              <a:rPr sz="1500" b="0">
                <a:solidFill>
                  <a:srgbClr val="2D2D2D"/>
                </a:solidFill>
                <a:latin typeface="Calibri"/>
              </a:rPr>
              <a:t> -- unique degree; how did energy sector lead to cannabis/CPG?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Prague / Charles University</a:t>
            </a:r>
            <a:r>
              <a:rPr sz="1500" b="0">
                <a:solidFill>
                  <a:srgbClr val="2D2D2D"/>
                </a:solidFill>
                <a:latin typeface="Calibri"/>
              </a:rPr>
              <a:t> -- study abroad in economics; speaks Czech and Spanish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Avenoo's 17K transactions</a:t>
            </a:r>
            <a:r>
              <a:rPr sz="1500" b="0">
                <a:solidFill>
                  <a:srgbClr val="2D2D2D"/>
                </a:solidFill>
                <a:latin typeface="Calibri"/>
              </a:rPr>
              <a:t> -- what patterns did he see in B2B commerce? What would he do differently?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Transition to Acquisition.com</a:t>
            </a:r>
            <a:r>
              <a:rPr sz="1500" b="0">
                <a:solidFill>
                  <a:srgbClr val="2D2D2D"/>
                </a:solidFill>
                <a:latin typeface="Calibri"/>
              </a:rPr>
              <a:t> -- why leave his own companies to join Hormozi's team? What's the vision?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Alternative wellness regulatory landscape</a:t>
            </a:r>
            <a:r>
              <a:rPr sz="1500" b="0">
                <a:solidFill>
                  <a:srgbClr val="2D2D2D"/>
                </a:solidFill>
                <a:latin typeface="Calibri"/>
              </a:rPr>
              <a:t> -- deep expertise navigating hemp/THC/delta-8 compliance across 39 states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3200">
                <a:solidFill>
                  <a:srgbClr val="2D2D2D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2000">
                <a:solidFill>
                  <a:srgbClr val="D97757"/>
                </a:solidFill>
                <a:latin typeface="Calibri"/>
              </a:defRPr>
            </a:pPr>
            <a:r>
              <a:t>Action Items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Session</a:t>
            </a:r>
            <a:r>
              <a:rPr sz="1400" b="0">
                <a:solidFill>
                  <a:srgbClr val="2D2D2D"/>
                </a:solidFill>
                <a:latin typeface="Calibri"/>
              </a:rPr>
              <a:t>: TBD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Prepare 3 tailored questions from Key Takeaways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Reference shared connections in opening</a:t>
            </a:r>
          </a:p>
          <a:p>
            <a:pPr>
              <a:spcAft>
                <a:spcPts val="6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Explore AI/automation angles for his domain expertise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2000">
                <a:solidFill>
                  <a:srgbClr val="D97757"/>
                </a:solidFill>
                <a:latin typeface="Calibri"/>
              </a:defRPr>
            </a:pPr>
            <a:r>
              <a:t>Creative Personalization Angles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Languages</a:t>
            </a:r>
            <a:r>
              <a:rPr sz="1400" b="0">
                <a:solidFill>
                  <a:srgbClr val="2D2D2D"/>
                </a:solidFill>
                <a:latin typeface="Calibri"/>
              </a:rPr>
              <a:t> (Czech, Spanish) — cultural bridge, study abroad in Prague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Penn State</a:t>
            </a:r>
            <a:r>
              <a:rPr sz="1400" b="0">
                <a:solidFill>
                  <a:srgbClr val="2D2D2D"/>
                </a:solidFill>
                <a:latin typeface="Calibri"/>
              </a:rPr>
              <a:t> — shared connection, 105 mutual contacts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$1B exit proximity</a:t>
            </a:r>
            <a:r>
              <a:rPr sz="1400" b="0">
                <a:solidFill>
                  <a:srgbClr val="2D2D2D"/>
                </a:solidFill>
                <a:latin typeface="Calibri"/>
              </a:rPr>
              <a:t> — was at Cura during Curaleaf acquisition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Hormozi inner circle</a:t>
            </a:r>
            <a:r>
              <a:rPr sz="1400" b="0">
                <a:solidFill>
                  <a:srgbClr val="2D2D2D"/>
                </a:solidFill>
                <a:latin typeface="Calibri"/>
              </a:rPr>
              <a:t> — has the scaling playbook, ask about it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Systems builder</a:t>
            </a:r>
            <a:r>
              <a:rPr sz="1400" b="0">
                <a:solidFill>
                  <a:srgbClr val="2D2D2D"/>
                </a:solidFill>
                <a:latin typeface="Calibri"/>
              </a:rPr>
              <a:t> — multiple proprietary methodologies = loves process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Low digital footprint</a:t>
            </a:r>
            <a:r>
              <a:rPr sz="1400" b="0">
                <a:solidFill>
                  <a:srgbClr val="2D2D2D"/>
                </a:solidFill>
                <a:latin typeface="Calibri"/>
              </a:rPr>
              <a:t> — approach as a builder, not an influencer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