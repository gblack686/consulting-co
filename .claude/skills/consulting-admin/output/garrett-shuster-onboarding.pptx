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0"/>
            <a:ext cx="12188952" cy="91440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gb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65760"/>
            <a:ext cx="785464" cy="731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4630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Welcome, Garrett.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60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CCC8BC"/>
                </a:solidFill>
                <a:latin typeface="Calibri"/>
              </a:rPr>
              <a:t>Your AI Agent Setup — Everything You Need to Know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918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97757"/>
                </a:solidFill>
                <a:latin typeface="Calibri"/>
              </a:rPr>
              <a:t>TBD  ·  TBD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0350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GBAutomation  ·  gbautomation.xyz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6032" y="164592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97757"/>
                </a:solidFill>
                <a:latin typeface="Calibri"/>
              </a:rPr>
              <a:t>WELCOME</a:t>
            </a:r>
          </a:p>
        </p:txBody>
      </p:sp>
      <p:pic>
        <p:nvPicPr>
          <p:cNvPr id="4" name="Picture 3" descr="gb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4625" y="137160"/>
            <a:ext cx="540006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20116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1A"/>
                </a:solidFill>
                <a:latin typeface="Calibri"/>
              </a:rPr>
              <a:t>What to Expect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868680"/>
            <a:ext cx="11430000" cy="19050"/>
          </a:xfrm>
          <a:prstGeom prst="rect">
            <a:avLst/>
          </a:prstGeom>
          <a:solidFill>
            <a:srgbClr val="E8E5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005840"/>
            <a:ext cx="3566160" cy="45720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" y="10515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BEFORE THE CALL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463040"/>
            <a:ext cx="3566160" cy="4846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600200"/>
            <a:ext cx="33375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300">
                <a:solidFill>
                  <a:srgbClr val="1A1A1A"/>
                </a:solidFill>
                <a:latin typeface="Calibri"/>
              </a:rPr>
              <a:t>• Complete the Pre-Session Prep Guide (~15 min)</a:t>
            </a:r>
          </a:p>
          <a:p>
            <a:pPr/>
            <a:r>
              <a:rPr sz="1300">
                <a:solidFill>
                  <a:srgbClr val="1A1A1A"/>
                </a:solidFill>
                <a:latin typeface="Calibri"/>
              </a:rPr>
              <a:t>• List your daily tools and apps</a:t>
            </a:r>
          </a:p>
          <a:p>
            <a:pPr/>
            <a:r>
              <a:rPr sz="1300">
                <a:solidFill>
                  <a:srgbClr val="1A1A1A"/>
                </a:solidFill>
                <a:latin typeface="Calibri"/>
              </a:rPr>
              <a:t>• Think through your top 3–5 work domains</a:t>
            </a:r>
          </a:p>
          <a:p>
            <a:pPr/>
            <a:r>
              <a:rPr sz="1300">
                <a:solidFill>
                  <a:srgbClr val="1A1A1A"/>
                </a:solidFill>
                <a:latin typeface="Calibri"/>
              </a:rPr>
              <a:t>• Identify your most time-consuming recurring task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60520" y="1005840"/>
            <a:ext cx="3566160" cy="4572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70248" y="10515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DURING THE CALL  (60 MIN)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60520" y="1463040"/>
            <a:ext cx="3566160" cy="4846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0" y="1600200"/>
            <a:ext cx="33375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300">
                <a:solidFill>
                  <a:srgbClr val="1A1A1A"/>
                </a:solidFill>
                <a:latin typeface="Calibri"/>
              </a:rPr>
              <a:t>• Walk through your goals, tools, workflows, and preferences</a:t>
            </a:r>
          </a:p>
          <a:p>
            <a:pPr/>
            <a:r>
              <a:rPr sz="1300">
                <a:solidFill>
                  <a:srgbClr val="1A1A1A"/>
                </a:solidFill>
                <a:latin typeface="Calibri"/>
              </a:rPr>
              <a:t>• We'll define your agent's personality and boundaries</a:t>
            </a:r>
          </a:p>
          <a:p>
            <a:pPr/>
            <a:r>
              <a:rPr sz="1300">
                <a:solidFill>
                  <a:srgbClr val="1A1A1A"/>
                </a:solidFill>
                <a:latin typeface="Calibri"/>
              </a:rPr>
              <a:t>• Map out your top automation opportunities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1000" y="1005840"/>
            <a:ext cx="3566160" cy="45720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10728" y="10515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AFTER THE CALL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1000" y="1463040"/>
            <a:ext cx="3566160" cy="4846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38160" y="1600200"/>
            <a:ext cx="33375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300">
                <a:solidFill>
                  <a:srgbClr val="1A1A1A"/>
                </a:solidFill>
                <a:latin typeface="Calibri"/>
              </a:rPr>
              <a:t>• We build your full agent system within 5 business days</a:t>
            </a:r>
          </a:p>
          <a:p>
            <a:pPr/>
            <a:r>
              <a:rPr sz="1300">
                <a:solidFill>
                  <a:srgbClr val="1A1A1A"/>
                </a:solidFill>
                <a:latin typeface="Calibri"/>
              </a:rPr>
              <a:t>• Deployment + walkthrough call included</a:t>
            </a:r>
          </a:p>
          <a:p>
            <a:pPr/>
            <a:r>
              <a:rPr sz="1300">
                <a:solidFill>
                  <a:srgbClr val="1A1A1A"/>
                </a:solidFill>
                <a:latin typeface="Calibri"/>
              </a:rPr>
              <a:t>• You own everything — all files, skills, and configs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6032" y="164592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97757"/>
                </a:solidFill>
                <a:latin typeface="Calibri"/>
              </a:rPr>
              <a:t>WELCOME</a:t>
            </a:r>
          </a:p>
        </p:txBody>
      </p:sp>
      <p:pic>
        <p:nvPicPr>
          <p:cNvPr id="4" name="Picture 3" descr="gb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4625" y="137160"/>
            <a:ext cx="540006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20116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1A"/>
                </a:solidFill>
                <a:latin typeface="Calibri"/>
              </a:rPr>
              <a:t>What You'll Walk Away With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868680"/>
            <a:ext cx="11430000" cy="19050"/>
          </a:xfrm>
          <a:prstGeom prst="rect">
            <a:avLst/>
          </a:prstGeom>
          <a:solidFill>
            <a:srgbClr val="E8E5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05840"/>
            <a:ext cx="557784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005840"/>
            <a:ext cx="54864" cy="146304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114300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Calibri"/>
              </a:rPr>
              <a:t>Fully Configured AI 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1554480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Running on your own infrastructure — your device, your cloud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005840"/>
            <a:ext cx="557784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005840"/>
            <a:ext cx="54864" cy="146304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114300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Calibri"/>
              </a:rPr>
              <a:t>Custom Skills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2512" y="1554480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Step-by-step automations for your top recurring workflows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651760"/>
            <a:ext cx="557784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2651760"/>
            <a:ext cx="54864" cy="146304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" y="278892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Calibri"/>
              </a:rPr>
              <a:t>Domain Expert Systems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" y="3200400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Self-improving knowledge bases for each area of your work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2651760"/>
            <a:ext cx="557784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2651760"/>
            <a:ext cx="54864" cy="146304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82512" y="278892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Calibri"/>
              </a:rPr>
              <a:t>Scheduled Automation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82512" y="3200400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Cron jobs for morning briefs, reports, and recurring tasks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297680"/>
            <a:ext cx="557784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5760" y="4297680"/>
            <a:ext cx="54864" cy="146304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0352" y="443484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Calibri"/>
              </a:rPr>
              <a:t>Complete Documentation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" y="4846320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Every component explained — so you can grow it yourself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4297680"/>
            <a:ext cx="557784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17920" y="4297680"/>
            <a:ext cx="54864" cy="146304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82512" y="443484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Calibri"/>
              </a:rPr>
              <a:t>Walkthrough Call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82512" y="4846320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Live demo showing exactly what your agent can do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6032" y="164592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97757"/>
                </a:solidFill>
                <a:latin typeface="Calibri"/>
              </a:rPr>
              <a:t>BEFORE THE CALL</a:t>
            </a:r>
          </a:p>
        </p:txBody>
      </p:sp>
      <p:pic>
        <p:nvPicPr>
          <p:cNvPr id="4" name="Picture 3" descr="gb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4625" y="137160"/>
            <a:ext cx="540006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20116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1A"/>
                </a:solidFill>
                <a:latin typeface="Calibri"/>
              </a:rPr>
              <a:t>Have These Ready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868680"/>
            <a:ext cx="11430000" cy="19050"/>
          </a:xfrm>
          <a:prstGeom prst="rect">
            <a:avLst/>
          </a:prstGeom>
          <a:solidFill>
            <a:srgbClr val="E8E5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51560"/>
            <a:ext cx="347472" cy="347472"/>
          </a:xfrm>
          <a:prstGeom prst="rect">
            <a:avLst/>
          </a:prstGeom>
          <a:noFill/>
          <a:ln w="254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00584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List of apps &amp; tools you use daily (Gmail, Notion, Slack, etc.)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801368"/>
            <a:ext cx="347472" cy="347472"/>
          </a:xfrm>
          <a:prstGeom prst="rect">
            <a:avLst/>
          </a:prstGeom>
          <a:noFill/>
          <a:ln w="254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755648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Any existing API keys (Anthropic, OpenAI, Brave, Stripe, etc.)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551176"/>
            <a:ext cx="347472" cy="347472"/>
          </a:xfrm>
          <a:prstGeom prst="rect">
            <a:avLst/>
          </a:prstGeom>
          <a:noFill/>
          <a:ln w="254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505456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Access to the device where your agent will run (Mac Mini, VPS, laptop)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300984"/>
            <a:ext cx="347472" cy="347472"/>
          </a:xfrm>
          <a:prstGeom prst="rect">
            <a:avLst/>
          </a:prstGeom>
          <a:noFill/>
          <a:ln w="254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255264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Your phone for WhatsApp or Telegram channel setup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050792"/>
            <a:ext cx="347472" cy="347472"/>
          </a:xfrm>
          <a:prstGeom prst="rect">
            <a:avLst/>
          </a:prstGeom>
          <a:noFill/>
          <a:ln w="254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005072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Rough idea of your 3–5 work 'departments'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800600"/>
            <a:ext cx="347472" cy="347472"/>
          </a:xfrm>
          <a:prstGeom prst="rect">
            <a:avLst/>
          </a:prstGeom>
          <a:noFill/>
          <a:ln w="254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75488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The most annoying recurring task you'd love to never do again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5669280"/>
            <a:ext cx="11430000" cy="19050"/>
          </a:xfrm>
          <a:prstGeom prst="rect">
            <a:avLst/>
          </a:prstGeom>
          <a:solidFill>
            <a:srgbClr val="E8E5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5760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  <a:latin typeface="Calibri"/>
              </a:rPr>
              <a:t>Session link: TBD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6032" y="164592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97757"/>
                </a:solidFill>
                <a:latin typeface="Calibri"/>
              </a:rPr>
              <a:t>PRE-SESSION PREP</a:t>
            </a:r>
          </a:p>
        </p:txBody>
      </p:sp>
      <p:pic>
        <p:nvPicPr>
          <p:cNvPr id="4" name="Picture 3" descr="gb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4625" y="137160"/>
            <a:ext cx="540006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20116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1A"/>
                </a:solidFill>
                <a:latin typeface="Calibri"/>
              </a:rPr>
              <a:t>Prefer to Talk? Use Voice Intake Instead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868680"/>
            <a:ext cx="11430000" cy="19050"/>
          </a:xfrm>
          <a:prstGeom prst="rect">
            <a:avLst/>
          </a:prstGeom>
          <a:solidFill>
            <a:srgbClr val="E8E5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960120"/>
            <a:ext cx="11430000" cy="155448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0515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Join this Meet link and speak your answers — it auto-transcribes, nothing gets lost.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508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TBD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2743200"/>
            <a:ext cx="3703320" cy="1783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2743200"/>
            <a:ext cx="347472" cy="347472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" y="2770632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7889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Calibri"/>
              </a:rPr>
              <a:t>Your Tools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" y="324612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Walk through every app you use at least weekly. What do you use it for?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51960" y="2743200"/>
            <a:ext cx="3703320" cy="1783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51960" y="2743200"/>
            <a:ext cx="347472" cy="347472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15968" y="2770632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27889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Calibri"/>
              </a:rPr>
              <a:t>Your Departments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61688" y="324612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If you hired 3–5 people to replace you, what would each person own?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83880" y="2743200"/>
            <a:ext cx="3703320" cy="1783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83880" y="2743200"/>
            <a:ext cx="347472" cy="347472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47888" y="2770632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0" y="27889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Calibri"/>
              </a:rPr>
              <a:t>Your Most Annoying Task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93608" y="324612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One recurring task that takes 30+ min and follows the same steps every time.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4663440"/>
            <a:ext cx="3703320" cy="1783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" y="4663440"/>
            <a:ext cx="347472" cy="347472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4048" y="4690872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4709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Calibri"/>
              </a:rPr>
              <a:t>Perfect Morning Briefing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" y="516636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What would a useful daily AI message tell you? Data, format, tone?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51960" y="4663440"/>
            <a:ext cx="3703320" cy="1783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251960" y="4663440"/>
            <a:ext cx="347472" cy="347472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15968" y="4690872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63440" y="4709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Calibri"/>
              </a:rPr>
              <a:t>Agent Personality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61688" y="516636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What should your agent call you? Professional, casual, playful?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6032" y="164592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97757"/>
                </a:solidFill>
                <a:latin typeface="Calibri"/>
              </a:rPr>
              <a:t>PRE-SESSION PREP</a:t>
            </a:r>
          </a:p>
        </p:txBody>
      </p:sp>
      <p:pic>
        <p:nvPicPr>
          <p:cNvPr id="4" name="Picture 3" descr="gb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4625" y="137160"/>
            <a:ext cx="540006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20116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1A"/>
                </a:solidFill>
                <a:latin typeface="Calibri"/>
              </a:rPr>
              <a:t>Exercise 1 — Your Tool Inventory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  <a:latin typeface="Calibri"/>
              </a:rPr>
              <a:t>List every app or tool you use at least weekly. Don't know if it has an API? Just list 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11430000" cy="19050"/>
          </a:xfrm>
          <a:prstGeom prst="rect">
            <a:avLst/>
          </a:prstGeom>
          <a:solidFill>
            <a:srgbClr val="E8E5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1280160"/>
          <a:ext cx="11430000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4572000"/>
                <a:gridCol w="2011680"/>
                <a:gridCol w="1920240"/>
              </a:tblGrid>
              <a:tr h="651510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App / Tool</a:t>
                      </a:r>
                    </a:p>
                  </a:txBody>
                  <a:tcPr>
                    <a:solidFill>
                      <a:srgbClr val="D977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What You Use It For</a:t>
                      </a:r>
                    </a:p>
                  </a:txBody>
                  <a:tcPr>
                    <a:solidFill>
                      <a:srgbClr val="D977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Has an API?</a:t>
                      </a:r>
                    </a:p>
                  </a:txBody>
                  <a:tcPr>
                    <a:solidFill>
                      <a:srgbClr val="D977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Have API Key?</a:t>
                      </a:r>
                    </a:p>
                  </a:txBody>
                  <a:tcPr>
                    <a:solidFill>
                      <a:srgbClr val="D97757"/>
                    </a:solidFill>
                  </a:tcPr>
                </a:tc>
              </a:tr>
              <a:tr h="651510">
                <a:tc>
                  <a:txBody>
                    <a:bodyPr/>
                    <a:lstStyle/>
                    <a:p>
                      <a:r>
                        <a:rPr sz="1100" i="1">
                          <a:solidFill>
                            <a:srgbClr val="555555"/>
                          </a:solidFill>
                          <a:latin typeface="Calibri"/>
                        </a:rPr>
                        <a:t>Example: Notion</a:t>
                      </a:r>
                    </a:p>
                  </a:txBody>
                  <a:tcPr>
                    <a:solidFill>
                      <a:srgbClr val="E8E5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i="1">
                          <a:solidFill>
                            <a:srgbClr val="555555"/>
                          </a:solidFill>
                          <a:latin typeface="Calibri"/>
                        </a:rPr>
                        <a:t>Project management, notes</a:t>
                      </a:r>
                    </a:p>
                  </a:txBody>
                  <a:tcPr>
                    <a:solidFill>
                      <a:srgbClr val="E8E5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i="1">
                          <a:solidFill>
                            <a:srgbClr val="555555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>
                    <a:solidFill>
                      <a:srgbClr val="E8E5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i="1">
                          <a:solidFill>
                            <a:srgbClr val="555555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>
                    <a:solidFill>
                      <a:srgbClr val="E8E5D8"/>
                    </a:solidFill>
                  </a:tcPr>
                </a:tc>
              </a:tr>
              <a:tr h="651510">
                <a:tc>
                  <a:txBody>
                    <a:bodyPr/>
                    <a:lstStyle/>
                    <a:p>
                      <a:r>
                        <a:rPr sz="1100" i="0">
                          <a:solidFill>
                            <a:srgbClr val="1A1A1A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i="0">
                          <a:solidFill>
                            <a:srgbClr val="1A1A1A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i="0">
                          <a:solidFill>
                            <a:srgbClr val="1A1A1A"/>
                          </a:solidFill>
                          <a:latin typeface="Calibri"/>
                        </a:rPr>
                        <a:t>Yes / No / 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i="0">
                          <a:solidFill>
                            <a:srgbClr val="1A1A1A"/>
                          </a:solidFill>
                          <a:latin typeface="Calibri"/>
                        </a:rPr>
                        <a:t>Yes / 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1510">
                <a:tc>
                  <a:txBody>
                    <a:bodyPr/>
                    <a:lstStyle/>
                    <a:p>
                      <a:r>
                        <a:rPr sz="1100" i="0">
                          <a:solidFill>
                            <a:srgbClr val="1A1A1A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i="0">
                          <a:solidFill>
                            <a:srgbClr val="1A1A1A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i="0">
                          <a:solidFill>
                            <a:srgbClr val="1A1A1A"/>
                          </a:solidFill>
                          <a:latin typeface="Calibri"/>
                        </a:rPr>
                        <a:t>Yes / No / 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i="0">
                          <a:solidFill>
                            <a:srgbClr val="1A1A1A"/>
                          </a:solidFill>
                          <a:latin typeface="Calibri"/>
                        </a:rPr>
                        <a:t>Yes / 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1510">
                <a:tc>
                  <a:txBody>
                    <a:bodyPr/>
                    <a:lstStyle/>
                    <a:p>
                      <a:r>
                        <a:rPr sz="1100" i="0">
                          <a:solidFill>
                            <a:srgbClr val="1A1A1A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i="0">
                          <a:solidFill>
                            <a:srgbClr val="1A1A1A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i="0">
                          <a:solidFill>
                            <a:srgbClr val="1A1A1A"/>
                          </a:solidFill>
                          <a:latin typeface="Calibri"/>
                        </a:rPr>
                        <a:t>Yes / No / 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i="0">
                          <a:solidFill>
                            <a:srgbClr val="1A1A1A"/>
                          </a:solidFill>
                          <a:latin typeface="Calibri"/>
                        </a:rPr>
                        <a:t>Yes / 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1510">
                <a:tc>
                  <a:txBody>
                    <a:bodyPr/>
                    <a:lstStyle/>
                    <a:p>
                      <a:r>
                        <a:rPr sz="1100" i="0">
                          <a:solidFill>
                            <a:srgbClr val="1A1A1A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i="0">
                          <a:solidFill>
                            <a:srgbClr val="1A1A1A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i="0">
                          <a:solidFill>
                            <a:srgbClr val="1A1A1A"/>
                          </a:solidFill>
                          <a:latin typeface="Calibri"/>
                        </a:rPr>
                        <a:t>Yes / No / 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i="0">
                          <a:solidFill>
                            <a:srgbClr val="1A1A1A"/>
                          </a:solidFill>
                          <a:latin typeface="Calibri"/>
                        </a:rPr>
                        <a:t>Yes / 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1510">
                <a:tc>
                  <a:txBody>
                    <a:bodyPr/>
                    <a:lstStyle/>
                    <a:p>
                      <a:r>
                        <a:rPr sz="1100" i="0">
                          <a:solidFill>
                            <a:srgbClr val="1A1A1A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i="0">
                          <a:solidFill>
                            <a:srgbClr val="1A1A1A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i="0">
                          <a:solidFill>
                            <a:srgbClr val="1A1A1A"/>
                          </a:solidFill>
                          <a:latin typeface="Calibri"/>
                        </a:rPr>
                        <a:t>Yes / No / 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i="0">
                          <a:solidFill>
                            <a:srgbClr val="1A1A1A"/>
                          </a:solidFill>
                          <a:latin typeface="Calibri"/>
                        </a:rPr>
                        <a:t>Yes / 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1510">
                <a:tc>
                  <a:txBody>
                    <a:bodyPr/>
                    <a:lstStyle/>
                    <a:p>
                      <a:r>
                        <a:rPr sz="1100" i="0">
                          <a:solidFill>
                            <a:srgbClr val="1A1A1A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i="0">
                          <a:solidFill>
                            <a:srgbClr val="1A1A1A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i="0">
                          <a:solidFill>
                            <a:srgbClr val="1A1A1A"/>
                          </a:solidFill>
                          <a:latin typeface="Calibri"/>
                        </a:rPr>
                        <a:t>Yes / No / 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i="0">
                          <a:solidFill>
                            <a:srgbClr val="1A1A1A"/>
                          </a:solidFill>
                          <a:latin typeface="Calibri"/>
                        </a:rPr>
                        <a:t>Yes / 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6032" y="164592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97757"/>
                </a:solidFill>
                <a:latin typeface="Calibri"/>
              </a:rPr>
              <a:t>PRE-SESSION PREP</a:t>
            </a:r>
          </a:p>
        </p:txBody>
      </p:sp>
      <p:pic>
        <p:nvPicPr>
          <p:cNvPr id="4" name="Picture 3" descr="gb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4625" y="137160"/>
            <a:ext cx="540006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20116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1A"/>
                </a:solidFill>
                <a:latin typeface="Calibri"/>
              </a:rPr>
              <a:t>Exercise 2 — Your Departments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  <a:latin typeface="Calibri"/>
              </a:rPr>
              <a:t>If you hired 3–5 people to replace you, what would each person own? Give each role a name.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11430000" cy="19050"/>
          </a:xfrm>
          <a:prstGeom prst="rect">
            <a:avLst/>
          </a:prstGeom>
          <a:solidFill>
            <a:srgbClr val="E8E5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371600"/>
            <a:ext cx="411480" cy="41148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408176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1371600"/>
            <a:ext cx="68580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417320"/>
            <a:ext cx="6583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E8E5D8"/>
                </a:solidFill>
                <a:latin typeface="Calibri"/>
              </a:rPr>
              <a:t>e.g. “Content Production”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1417320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→ Owns: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41080" y="1371600"/>
            <a:ext cx="31089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2331720"/>
            <a:ext cx="411480" cy="41148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2368296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" y="2331720"/>
            <a:ext cx="68580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2377440"/>
            <a:ext cx="6583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E8E5D8"/>
                </a:solidFill>
                <a:latin typeface="Calibri"/>
              </a:rPr>
              <a:t>e.g. “Business Development”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2377440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→ Owns: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41080" y="2331720"/>
            <a:ext cx="31089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3291840"/>
            <a:ext cx="411480" cy="41148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3328416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68680" y="3291840"/>
            <a:ext cx="68580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3337560"/>
            <a:ext cx="6583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E8E5D8"/>
                </a:solidFill>
                <a:latin typeface="Calibri"/>
              </a:rPr>
              <a:t>e.g. “Client Ops”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3337560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→ Owns: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641080" y="3291840"/>
            <a:ext cx="31089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65760" y="4251960"/>
            <a:ext cx="411480" cy="41148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4288536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68680" y="4251960"/>
            <a:ext cx="68580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40" y="4297680"/>
            <a:ext cx="6583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E8E5D8"/>
                </a:solidFill>
                <a:latin typeface="Calibri"/>
              </a:rPr>
              <a:t>e.g. “Personal Admin”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63840" y="4297680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→ Owns: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641080" y="4251960"/>
            <a:ext cx="31089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65760" y="5212080"/>
            <a:ext cx="411480" cy="41148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0" y="5248656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68680" y="5212080"/>
            <a:ext cx="68580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863840" y="5257800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→ Owns: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641080" y="5212080"/>
            <a:ext cx="31089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6032" y="164592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97757"/>
                </a:solidFill>
                <a:latin typeface="Calibri"/>
              </a:rPr>
              <a:t>PRE-SESSION PREP</a:t>
            </a:r>
          </a:p>
        </p:txBody>
      </p:sp>
      <p:pic>
        <p:nvPicPr>
          <p:cNvPr id="4" name="Picture 3" descr="gb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4625" y="137160"/>
            <a:ext cx="540006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20116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1A"/>
                </a:solidFill>
                <a:latin typeface="Calibri"/>
              </a:rPr>
              <a:t>Exercise 3 — Your Most Annoying Task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  <a:latin typeface="Calibri"/>
              </a:rPr>
              <a:t>The one recurring task you'd love to automate away forever.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11430000" cy="19050"/>
          </a:xfrm>
          <a:prstGeom prst="rect">
            <a:avLst/>
          </a:prstGeom>
          <a:solidFill>
            <a:srgbClr val="E8E5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3258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Calibri"/>
              </a:rPr>
              <a:t>The task</a:t>
            </a:r>
          </a:p>
        </p:txBody>
      </p:sp>
      <p:sp>
        <p:nvSpPr>
          <p:cNvPr id="9" name="Rectangle 8"/>
          <p:cNvSpPr/>
          <p:nvPr/>
        </p:nvSpPr>
        <p:spPr>
          <a:xfrm>
            <a:off x="2651760" y="1298448"/>
            <a:ext cx="50292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20116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Calibri"/>
              </a:rPr>
              <a:t>How often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51760" y="1984248"/>
            <a:ext cx="27432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2788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Calibri"/>
              </a:rPr>
              <a:t>Rough steps (bullet by bullet):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355848"/>
            <a:ext cx="182880" cy="18288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3246120"/>
            <a:ext cx="10789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4014216"/>
            <a:ext cx="182880" cy="18288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3904488"/>
            <a:ext cx="10789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4672584"/>
            <a:ext cx="182880" cy="18288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4562856"/>
            <a:ext cx="10789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5330952"/>
            <a:ext cx="182880" cy="18288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5800" y="5221224"/>
            <a:ext cx="10789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5989320"/>
            <a:ext cx="182880" cy="18288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5879592"/>
            <a:ext cx="10789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6400800"/>
            <a:ext cx="11430000" cy="27432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⚡  This is usually the first skill we build for you.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6032" y="164592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97757"/>
                </a:solidFill>
                <a:latin typeface="Calibri"/>
              </a:rPr>
              <a:t>PRE-SESSION PREP</a:t>
            </a:r>
          </a:p>
        </p:txBody>
      </p:sp>
      <p:pic>
        <p:nvPicPr>
          <p:cNvPr id="4" name="Picture 3" descr="gb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4625" y="137160"/>
            <a:ext cx="540006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20116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1A"/>
                </a:solidFill>
                <a:latin typeface="Calibri"/>
              </a:rPr>
              <a:t>Exercise 4 — Your Perfect Morning Briefing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  <a:latin typeface="Calibri"/>
              </a:rPr>
              <a:t>What would make you say "this message is incredibly useful" every morning?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11430000" cy="19050"/>
          </a:xfrm>
          <a:prstGeom prst="rect">
            <a:avLst/>
          </a:prstGeom>
          <a:solidFill>
            <a:srgbClr val="E8E5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399032"/>
            <a:ext cx="274320" cy="274320"/>
          </a:xfrm>
          <a:prstGeom prst="rect">
            <a:avLst/>
          </a:prstGeom>
          <a:noFill/>
          <a:ln w="254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325880"/>
            <a:ext cx="5577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Weather for today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399032"/>
            <a:ext cx="274320" cy="274320"/>
          </a:xfrm>
          <a:prstGeom prst="rect">
            <a:avLst/>
          </a:prstGeom>
          <a:noFill/>
          <a:ln w="254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20840" y="1325880"/>
            <a:ext cx="5577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Calendar summary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947672"/>
            <a:ext cx="274320" cy="274320"/>
          </a:xfrm>
          <a:prstGeom prst="rect">
            <a:avLst/>
          </a:prstGeom>
          <a:noFill/>
          <a:ln w="254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1874520"/>
            <a:ext cx="5577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Priority emails / messages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1947672"/>
            <a:ext cx="274320" cy="274320"/>
          </a:xfrm>
          <a:prstGeom prst="rect">
            <a:avLst/>
          </a:prstGeom>
          <a:noFill/>
          <a:ln w="254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20840" y="1874520"/>
            <a:ext cx="5577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News in my industry / niche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496312"/>
            <a:ext cx="274320" cy="274320"/>
          </a:xfrm>
          <a:prstGeom prst="rect">
            <a:avLst/>
          </a:prstGeom>
          <a:noFill/>
          <a:ln w="254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2423160"/>
            <a:ext cx="5577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Social media analytics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2496312"/>
            <a:ext cx="274320" cy="274320"/>
          </a:xfrm>
          <a:prstGeom prst="rect">
            <a:avLst/>
          </a:prstGeom>
          <a:noFill/>
          <a:ln w="254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20840" y="2423160"/>
            <a:ext cx="5577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Task list / to-dos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044952"/>
            <a:ext cx="274320" cy="274320"/>
          </a:xfrm>
          <a:prstGeom prst="rect">
            <a:avLst/>
          </a:prstGeom>
          <a:noFill/>
          <a:ln w="254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2971800"/>
            <a:ext cx="5577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Project status updates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3044952"/>
            <a:ext cx="274320" cy="274320"/>
          </a:xfrm>
          <a:prstGeom prst="rect">
            <a:avLst/>
          </a:prstGeom>
          <a:noFill/>
          <a:ln w="254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20840" y="2971800"/>
            <a:ext cx="5577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Financial summary (revenue, expenses)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3593592"/>
            <a:ext cx="274320" cy="274320"/>
          </a:xfrm>
          <a:prstGeom prst="rect">
            <a:avLst/>
          </a:prstGeom>
          <a:noFill/>
          <a:ln w="254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3520440"/>
            <a:ext cx="5577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Content performance (views, engagement)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60" y="3593592"/>
            <a:ext cx="274320" cy="274320"/>
          </a:xfrm>
          <a:prstGeom prst="rect">
            <a:avLst/>
          </a:prstGeom>
          <a:noFill/>
          <a:ln w="254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20840" y="3520440"/>
            <a:ext cx="5577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Custom metric or data feed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4142232"/>
            <a:ext cx="274320" cy="274320"/>
          </a:xfrm>
          <a:prstGeom prst="rect">
            <a:avLst/>
          </a:prstGeom>
          <a:noFill/>
          <a:ln w="254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4069080"/>
            <a:ext cx="5577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Other: _______________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6032" y="164592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97757"/>
                </a:solidFill>
                <a:latin typeface="Calibri"/>
              </a:rPr>
              <a:t>PRE-SESSION PREP</a:t>
            </a:r>
          </a:p>
        </p:txBody>
      </p:sp>
      <p:pic>
        <p:nvPicPr>
          <p:cNvPr id="4" name="Picture 3" descr="gb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4625" y="137160"/>
            <a:ext cx="540006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20116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1A"/>
                </a:solidFill>
                <a:latin typeface="Calibri"/>
              </a:rPr>
              <a:t>Bonus — Your Agent's Personality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  <a:latin typeface="Calibri"/>
              </a:rPr>
              <a:t>No pressure — we'll brainstorm on the call. Just start thinking.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11430000" cy="19050"/>
          </a:xfrm>
          <a:prstGeom prst="rect">
            <a:avLst/>
          </a:prstGeom>
          <a:solidFill>
            <a:srgbClr val="E8E5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3258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Calibri"/>
              </a:rPr>
              <a:t>What should your agent call you?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7830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55555"/>
                </a:solidFill>
                <a:latin typeface="Calibri"/>
              </a:rPr>
              <a:t>First name? Nickname? Title? (e.g. Greg, G, Boss)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0" y="1325880"/>
            <a:ext cx="61264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26974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Calibri"/>
              </a:rPr>
              <a:t>What vibe do you want?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1546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55555"/>
                </a:solidFill>
                <a:latin typeface="Calibri"/>
              </a:rPr>
              <a:t>Professional assistant  ·  Casual friend  ·  Sharp executive  ·  Playful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0" y="2697480"/>
            <a:ext cx="61264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40690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Calibri"/>
              </a:rPr>
              <a:t>Got a name in mind for your agent?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45262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55555"/>
                </a:solidFill>
                <a:latin typeface="Calibri"/>
              </a:rPr>
              <a:t>Human name, creative name, acronym — or we'll brainstorm together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0" y="4069080"/>
            <a:ext cx="61264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760720" y="2834640"/>
            <a:ext cx="1051560" cy="384048"/>
          </a:xfrm>
          <a:prstGeom prst="rect">
            <a:avLst/>
          </a:prstGeom>
          <a:solidFill>
            <a:srgbClr val="E8E5D8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06440" y="2862072"/>
            <a:ext cx="960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Professional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949440" y="2834640"/>
            <a:ext cx="1051560" cy="384048"/>
          </a:xfrm>
          <a:prstGeom prst="rect">
            <a:avLst/>
          </a:prstGeom>
          <a:solidFill>
            <a:srgbClr val="E8E5D8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95160" y="2862072"/>
            <a:ext cx="960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Casual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38160" y="2834640"/>
            <a:ext cx="1051560" cy="384048"/>
          </a:xfrm>
          <a:prstGeom prst="rect">
            <a:avLst/>
          </a:prstGeom>
          <a:solidFill>
            <a:srgbClr val="E8E5D8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83880" y="2862072"/>
            <a:ext cx="960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Sharp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326880" y="2834640"/>
            <a:ext cx="1051560" cy="384048"/>
          </a:xfrm>
          <a:prstGeom prst="rect">
            <a:avLst/>
          </a:prstGeom>
          <a:solidFill>
            <a:srgbClr val="E8E5D8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72600" y="2862072"/>
            <a:ext cx="960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Playful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515600" y="2834640"/>
            <a:ext cx="10515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561320" y="2862072"/>
            <a:ext cx="960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Custom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6032" y="164592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97757"/>
                </a:solidFill>
                <a:latin typeface="Calibri"/>
              </a:rPr>
              <a:t>SESSION AGENDA</a:t>
            </a:r>
          </a:p>
        </p:txBody>
      </p:sp>
      <p:pic>
        <p:nvPicPr>
          <p:cNvPr id="4" name="Picture 3" descr="gb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4625" y="137160"/>
            <a:ext cx="540006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20116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1A"/>
                </a:solidFill>
                <a:latin typeface="Calibri"/>
              </a:rPr>
              <a:t>60-Minute Session — What We'll Cover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868680"/>
            <a:ext cx="11430000" cy="19050"/>
          </a:xfrm>
          <a:prstGeom prst="rect">
            <a:avLst/>
          </a:prstGeom>
          <a:solidFill>
            <a:srgbClr val="E8E5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05840"/>
            <a:ext cx="1005840" cy="45720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051560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Phase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0058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Calibri"/>
              </a:rPr>
              <a:t>Identity &amp; Soul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1417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Define who your agent is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61120" y="1005840"/>
            <a:ext cx="1645920" cy="457200"/>
          </a:xfrm>
          <a:prstGeom prst="rect">
            <a:avLst/>
          </a:prstGeom>
          <a:solidFill>
            <a:srgbClr val="E8E5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0" y="1051560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A1A"/>
                </a:solidFill>
                <a:latin typeface="Calibri"/>
              </a:rPr>
              <a:t>15 min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084832"/>
            <a:ext cx="1005840" cy="45720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2130552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Phase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2084832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Calibri"/>
              </a:rPr>
              <a:t>Tools &amp; Infrastructure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249631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Map your tech stack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61120" y="2084832"/>
            <a:ext cx="1645920" cy="457200"/>
          </a:xfrm>
          <a:prstGeom prst="rect">
            <a:avLst/>
          </a:prstGeom>
          <a:solidFill>
            <a:srgbClr val="E8E5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0" y="2130552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A1A"/>
                </a:solidFill>
                <a:latin typeface="Calibri"/>
              </a:rPr>
              <a:t>15 min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163824"/>
            <a:ext cx="1005840" cy="45720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3209544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Phase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3163824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Calibri"/>
              </a:rPr>
              <a:t>Domain Discovery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3575304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Map your top workflows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61120" y="3163824"/>
            <a:ext cx="1645920" cy="457200"/>
          </a:xfrm>
          <a:prstGeom prst="rect">
            <a:avLst/>
          </a:prstGeom>
          <a:solidFill>
            <a:srgbClr val="E8E5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61120" y="3209544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A1A"/>
                </a:solidFill>
                <a:latin typeface="Calibri"/>
              </a:rPr>
              <a:t>30 min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4242816"/>
            <a:ext cx="1005840" cy="45720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4288536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Phase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3040" y="4242816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Calibri"/>
              </a:rPr>
              <a:t>Autonomy &amp; Safety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63040" y="4654296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Set permissions and limits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961120" y="4242816"/>
            <a:ext cx="1645920" cy="457200"/>
          </a:xfrm>
          <a:prstGeom prst="rect">
            <a:avLst/>
          </a:prstGeom>
          <a:solidFill>
            <a:srgbClr val="E8E5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61120" y="4288536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A1A"/>
                </a:solidFill>
                <a:latin typeface="Calibri"/>
              </a:rPr>
              <a:t>10 min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5321808"/>
            <a:ext cx="1005840" cy="45720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5367528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Phase 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63040" y="532180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Calibri"/>
              </a:rPr>
              <a:t>Synthesis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63040" y="573328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Review and confirm everything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961120" y="5321808"/>
            <a:ext cx="1645920" cy="457200"/>
          </a:xfrm>
          <a:prstGeom prst="rect">
            <a:avLst/>
          </a:prstGeom>
          <a:solidFill>
            <a:srgbClr val="E8E5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961120" y="5367528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A1A"/>
                </a:solidFill>
                <a:latin typeface="Calibri"/>
              </a:rPr>
              <a:t>10 min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6446520"/>
            <a:ext cx="11430000" cy="201168"/>
          </a:xfrm>
          <a:prstGeom prst="rect">
            <a:avLst/>
          </a:prstGeom>
          <a:solidFill>
            <a:srgbClr val="E8E5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65760" y="6446520"/>
            <a:ext cx="7619999" cy="201168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6032" y="164592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97757"/>
                </a:solidFill>
                <a:latin typeface="Calibri"/>
              </a:rPr>
              <a:t>AFTER THE SESSION</a:t>
            </a:r>
          </a:p>
        </p:txBody>
      </p:sp>
      <p:pic>
        <p:nvPicPr>
          <p:cNvPr id="4" name="Picture 3" descr="gb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4625" y="137160"/>
            <a:ext cx="540006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20116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alibri"/>
              </a:rPr>
              <a:t>Delivery Timeline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822960"/>
            <a:ext cx="11430000" cy="19050"/>
          </a:xfrm>
          <a:prstGeom prst="rect">
            <a:avLst/>
          </a:prstGeom>
          <a:solidFill>
            <a:srgbClr val="E8E5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914400"/>
          <a:ext cx="114300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9144000"/>
              </a:tblGrid>
              <a:tr h="396240">
                <a:tc>
                  <a:txBody>
                    <a:bodyPr/>
                    <a:lstStyle/>
                    <a:p>
                      <a:pPr algn="l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Timeline</a:t>
                      </a:r>
                    </a:p>
                  </a:txBody>
                  <a:tcPr>
                    <a:solidFill>
                      <a:srgbClr val="D9775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What Happens</a:t>
                      </a:r>
                    </a:p>
                  </a:txBody>
                  <a:tcPr>
                    <a:solidFill>
                      <a:srgbClr val="D97757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Day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Process your transcript — build workspace files (SOUL.md, USER.md, etc.)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Days 2–3</a:t>
                      </a:r>
                    </a:p>
                  </a:txBody>
                  <a:tcPr>
                    <a:solidFill>
                      <a:srgbClr val="E8E5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Build domain expert systems — one per department</a:t>
                      </a:r>
                    </a:p>
                  </a:txBody>
                  <a:tcPr>
                    <a:solidFill>
                      <a:srgbClr val="E8E5D8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Days 3–4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Quality validation and testing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Days 4–5</a:t>
                      </a:r>
                    </a:p>
                  </a:txBody>
                  <a:tcPr>
                    <a:solidFill>
                      <a:srgbClr val="E8E5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Deployment to your OpenClaw instance</a:t>
                      </a:r>
                    </a:p>
                  </a:txBody>
                  <a:tcPr>
                    <a:solidFill>
                      <a:srgbClr val="E8E5D8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Day 5–7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Walkthrough call — live demo of your full agent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8" name="Picture 7" descr="gb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4625" y="137160"/>
            <a:ext cx="540006" cy="5029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365760" y="5943600"/>
            <a:ext cx="11430000" cy="64008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01675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You'll receive: all workspace files  ·  expert systems  ·  deployed skills  ·  quality report  ·  walkthrough call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6032" y="164592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97757"/>
                </a:solidFill>
                <a:latin typeface="Calibri"/>
              </a:rPr>
              <a:t>KEY TERMS</a:t>
            </a:r>
          </a:p>
        </p:txBody>
      </p:sp>
      <p:pic>
        <p:nvPicPr>
          <p:cNvPr id="4" name="Picture 3" descr="gb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4625" y="137160"/>
            <a:ext cx="540006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20116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alibri"/>
              </a:rPr>
              <a:t>Your Agent — Quick Reference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822960"/>
            <a:ext cx="11430000" cy="19050"/>
          </a:xfrm>
          <a:prstGeom prst="rect">
            <a:avLst/>
          </a:prstGeom>
          <a:solidFill>
            <a:srgbClr val="E8E5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914400"/>
          <a:ext cx="1143000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8869680"/>
              </a:tblGrid>
              <a:tr h="386080">
                <a:tc>
                  <a:txBody>
                    <a:bodyPr/>
                    <a:lstStyle/>
                    <a:p>
                      <a:pPr algn="l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Term</a:t>
                      </a:r>
                    </a:p>
                  </a:txBody>
                  <a:tcPr>
                    <a:solidFill>
                      <a:srgbClr val="D9775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What It Means</a:t>
                      </a:r>
                    </a:p>
                  </a:txBody>
                  <a:tcPr>
                    <a:solidFill>
                      <a:srgbClr val="D97757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OpenClaw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The platform that runs your AI agent 24/7 — the OS for your personal AI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Agent</a:t>
                      </a:r>
                    </a:p>
                  </a:txBody>
                  <a:tcPr>
                    <a:solidFill>
                      <a:srgbClr val="E8E5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Your AI assistant. Has a name, personality, memory, and skills</a:t>
                      </a:r>
                    </a:p>
                  </a:txBody>
                  <a:tcPr>
                    <a:solidFill>
                      <a:srgbClr val="E8E5D8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Gateway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Keeps your agent online and connected to messaging channels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Workspace</a:t>
                      </a:r>
                    </a:p>
                  </a:txBody>
                  <a:tcPr>
                    <a:solidFill>
                      <a:srgbClr val="E8E5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The folder where all your agent's configuration lives</a:t>
                      </a:r>
                    </a:p>
                  </a:txBody>
                  <a:tcPr>
                    <a:solidFill>
                      <a:srgbClr val="E8E5D8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SOUL.md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Your agent's values and communication style — like a constitution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MEMORY.md</a:t>
                      </a:r>
                    </a:p>
                  </a:txBody>
                  <a:tcPr>
                    <a:solidFill>
                      <a:srgbClr val="E8E5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Long-term facts your agent should never forget</a:t>
                      </a:r>
                    </a:p>
                  </a:txBody>
                  <a:tcPr>
                    <a:solidFill>
                      <a:srgbClr val="E8E5D8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Skill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A specific task your agent knows how to do — like a recipe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Cron job</a:t>
                      </a:r>
                    </a:p>
                  </a:txBody>
                  <a:tcPr>
                    <a:solidFill>
                      <a:srgbClr val="E8E5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A scheduled task that runs automatically (e.g. morning briefing at 7am)</a:t>
                      </a:r>
                    </a:p>
                  </a:txBody>
                  <a:tcPr>
                    <a:solidFill>
                      <a:srgbClr val="E8E5D8"/>
                    </a:solidFill>
                  </a:tcPr>
                </a:tc>
              </a:tr>
            </a:tbl>
          </a:graphicData>
        </a:graphic>
      </p:graphicFrame>
      <p:pic>
        <p:nvPicPr>
          <p:cNvPr id="8" name="Picture 7" descr="gb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4625" y="137160"/>
            <a:ext cx="540006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6032" y="164592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97757"/>
                </a:solidFill>
                <a:latin typeface="Calibri"/>
              </a:rPr>
              <a:t>KEY TERMS</a:t>
            </a:r>
          </a:p>
        </p:txBody>
      </p:sp>
      <p:pic>
        <p:nvPicPr>
          <p:cNvPr id="4" name="Picture 3" descr="gb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4625" y="137160"/>
            <a:ext cx="540006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20116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alibri"/>
              </a:rPr>
              <a:t>Skills, Automation &amp; Autonomy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822960"/>
            <a:ext cx="11430000" cy="19050"/>
          </a:xfrm>
          <a:prstGeom prst="rect">
            <a:avLst/>
          </a:prstGeom>
          <a:solidFill>
            <a:srgbClr val="E8E5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914400"/>
          <a:ext cx="1143000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8869680"/>
              </a:tblGrid>
              <a:tr h="386080">
                <a:tc>
                  <a:txBody>
                    <a:bodyPr/>
                    <a:lstStyle/>
                    <a:p>
                      <a:pPr algn="l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Term</a:t>
                      </a:r>
                    </a:p>
                  </a:txBody>
                  <a:tcPr>
                    <a:solidFill>
                      <a:srgbClr val="D9775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What It Means</a:t>
                      </a:r>
                    </a:p>
                  </a:txBody>
                  <a:tcPr>
                    <a:solidFill>
                      <a:srgbClr val="D97757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Domain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A 'department' of your work (e.g. Content, Business, Personal)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Workflow</a:t>
                      </a:r>
                    </a:p>
                  </a:txBody>
                  <a:tcPr>
                    <a:solidFill>
                      <a:srgbClr val="E8E5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A repeatable process within a domain</a:t>
                      </a:r>
                    </a:p>
                  </a:txBody>
                  <a:tcPr>
                    <a:solidFill>
                      <a:srgbClr val="E8E5D8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Trigger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What starts a workflow: time, event, heartbeat, or on-demand request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Heartbeat</a:t>
                      </a:r>
                    </a:p>
                  </a:txBody>
                  <a:tcPr>
                    <a:solidFill>
                      <a:srgbClr val="E8E5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Periodic check-in — agent wakes up every 30 min to run a checklist</a:t>
                      </a:r>
                    </a:p>
                  </a:txBody>
                  <a:tcPr>
                    <a:solidFill>
                      <a:srgbClr val="E8E5D8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Approval gate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A point where the agent stops and asks you before continuing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Blast radius</a:t>
                      </a:r>
                    </a:p>
                  </a:txBody>
                  <a:tcPr>
                    <a:solidFill>
                      <a:srgbClr val="E8E5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What happens if something goes wrong — determines autonomy level</a:t>
                      </a:r>
                    </a:p>
                  </a:txBody>
                  <a:tcPr>
                    <a:solidFill>
                      <a:srgbClr val="E8E5D8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Autonomy level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How independent your agent is: ask-everything ↔ just-get-it-done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Expert system</a:t>
                      </a:r>
                    </a:p>
                  </a:txBody>
                  <a:tcPr>
                    <a:solidFill>
                      <a:srgbClr val="E8E5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Self-improving knowledge package for one domain — gets smarter over time</a:t>
                      </a:r>
                    </a:p>
                  </a:txBody>
                  <a:tcPr>
                    <a:solidFill>
                      <a:srgbClr val="E8E5D8"/>
                    </a:solidFill>
                  </a:tcPr>
                </a:tc>
              </a:tr>
            </a:tbl>
          </a:graphicData>
        </a:graphic>
      </p:graphicFrame>
      <p:pic>
        <p:nvPicPr>
          <p:cNvPr id="8" name="Picture 7" descr="gb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4625" y="137160"/>
            <a:ext cx="540006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6032" y="164592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97757"/>
                </a:solidFill>
                <a:latin typeface="Calibri"/>
              </a:rPr>
              <a:t>KEY TERMS</a:t>
            </a:r>
          </a:p>
        </p:txBody>
      </p:sp>
      <p:pic>
        <p:nvPicPr>
          <p:cNvPr id="4" name="Picture 3" descr="gb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4625" y="137160"/>
            <a:ext cx="540006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20116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alibri"/>
              </a:rPr>
              <a:t>AI Models — Quick Reference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822960"/>
            <a:ext cx="11430000" cy="19050"/>
          </a:xfrm>
          <a:prstGeom prst="rect">
            <a:avLst/>
          </a:prstGeom>
          <a:solidFill>
            <a:srgbClr val="E8E5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914400"/>
          <a:ext cx="114300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828800"/>
                <a:gridCol w="1371600"/>
                <a:gridCol w="5943600"/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>
                    <a:solidFill>
                      <a:srgbClr val="D9775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Speed</a:t>
                      </a:r>
                    </a:p>
                  </a:txBody>
                  <a:tcPr>
                    <a:solidFill>
                      <a:srgbClr val="D9775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Cost</a:t>
                      </a:r>
                    </a:p>
                  </a:txBody>
                  <a:tcPr>
                    <a:solidFill>
                      <a:srgbClr val="D9775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Best For</a:t>
                      </a:r>
                    </a:p>
                  </a:txBody>
                  <a:tcPr>
                    <a:solidFill>
                      <a:srgbClr val="D9775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Haiku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Fast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$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Simple tasks — file moves, data extraction, formatting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Sonnet</a:t>
                      </a:r>
                    </a:p>
                  </a:txBody>
                  <a:tcPr>
                    <a:solidFill>
                      <a:srgbClr val="E8E5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Balanced</a:t>
                      </a:r>
                    </a:p>
                  </a:txBody>
                  <a:tcPr>
                    <a:solidFill>
                      <a:srgbClr val="E8E5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$$</a:t>
                      </a:r>
                    </a:p>
                  </a:txBody>
                  <a:tcPr>
                    <a:solidFill>
                      <a:srgbClr val="E8E5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Most tasks — writing, research, scheduling, analysis</a:t>
                      </a:r>
                    </a:p>
                  </a:txBody>
                  <a:tcPr>
                    <a:solidFill>
                      <a:srgbClr val="E8E5D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Opus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Thorough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$$$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Complex judgment — strategy, quality review, edge cases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8" name="Picture 7" descr="gb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4625" y="137160"/>
            <a:ext cx="540006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6032" y="164592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97757"/>
                </a:solidFill>
                <a:latin typeface="Calibri"/>
              </a:rPr>
              <a:t>SERVICE AGREEMENT</a:t>
            </a:r>
          </a:p>
        </p:txBody>
      </p:sp>
      <p:pic>
        <p:nvPicPr>
          <p:cNvPr id="4" name="Picture 3" descr="gb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4625" y="137160"/>
            <a:ext cx="540006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20116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1A"/>
                </a:solidFill>
                <a:latin typeface="Calibri"/>
              </a:rPr>
              <a:t>Service Tiers &amp; Pricing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868680"/>
            <a:ext cx="11430000" cy="19050"/>
          </a:xfrm>
          <a:prstGeom prst="rect">
            <a:avLst/>
          </a:prstGeom>
          <a:solidFill>
            <a:srgbClr val="E8E5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05840"/>
            <a:ext cx="3657600" cy="4937760"/>
          </a:xfrm>
          <a:prstGeom prst="rect">
            <a:avLst/>
          </a:prstGeom>
          <a:solidFill>
            <a:srgbClr val="FFFFFF"/>
          </a:solidFill>
          <a:ln w="1905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4300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1A1A"/>
                </a:solidFill>
                <a:latin typeface="Calibri"/>
              </a:rPr>
              <a:t>Foundation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3736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1A"/>
                </a:solidFill>
                <a:latin typeface="Calibri"/>
              </a:rPr>
              <a:t>$1,500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46888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  <a:latin typeface="Calibri"/>
              </a:rPr>
              <a:t>1–2 Domains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92608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  <a:latin typeface="Calibri"/>
              </a:rPr>
              <a:t>Up to 4 skills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52044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✓  Discovery session (60 min)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904488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✓  Workspace files + gateway config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288536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✓  Domain expert systems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672584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✓  Deployment + walkthrough call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05663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✓  Quality report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1005840"/>
            <a:ext cx="3657600" cy="49377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97680" y="777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D97757"/>
                </a:solidFill>
                <a:latin typeface="Calibri"/>
              </a:rPr>
              <a:t>MOST POPULAR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114300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Standard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173736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$2,500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246888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3–4 Domains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292608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Up to 8 skills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352044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✓  Discovery session (60 min)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3904488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✓  Workspace files + gateway config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4288536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✓  Domain expert systems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4672584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✓  Deployment + walkthrough call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505663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✓  Quality report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29600" y="1005840"/>
            <a:ext cx="3657600" cy="4937760"/>
          </a:xfrm>
          <a:prstGeom prst="rect">
            <a:avLst/>
          </a:prstGeom>
          <a:solidFill>
            <a:srgbClr val="FFFFFF"/>
          </a:solidFill>
          <a:ln w="1905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80" y="114300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1A1A"/>
                </a:solidFill>
                <a:latin typeface="Calibri"/>
              </a:rPr>
              <a:t>Premium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173736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1A"/>
                </a:solidFill>
                <a:latin typeface="Calibri"/>
              </a:rPr>
              <a:t>$4,000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246888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  <a:latin typeface="Calibri"/>
              </a:rPr>
              <a:t>5+ Domains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292608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  <a:latin typeface="Calibri"/>
              </a:rPr>
              <a:t>Unlimited skills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352044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✓  Discovery session (60 min)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0" y="3904488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✓  Workspace files + gateway config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4288536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✓  Domain expert systems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12480" y="4672584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✓  Deployment + walkthrough call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80" y="505663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✓  Quality report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6263640"/>
            <a:ext cx="11430000" cy="384048"/>
          </a:xfrm>
          <a:prstGeom prst="rect">
            <a:avLst/>
          </a:prstGeom>
          <a:solidFill>
            <a:srgbClr val="E8E5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6309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55555"/>
                </a:solidFill>
                <a:latin typeface="Calibri"/>
              </a:rPr>
              <a:t>Payment via Stripe: https://gbautomation.xyz/pay  ·  Visa, Mastercard, Amex accepted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gb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4625" y="137160"/>
            <a:ext cx="540006" cy="502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5486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You're All Set.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508760"/>
            <a:ext cx="502920" cy="50292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63624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508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Complete the Pre-Session Prep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9659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8BC"/>
                </a:solidFill>
                <a:latin typeface="Calibri"/>
              </a:rPr>
              <a:t>Exercises 1–4 — takes about 15 minutes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679192"/>
            <a:ext cx="502920" cy="50292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734056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67919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Sign the Service Agreement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13639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8BC"/>
                </a:solidFill>
                <a:latin typeface="Calibri"/>
              </a:rPr>
              <a:t>In your Google Drive folder — link sent to your email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849624"/>
            <a:ext cx="502920" cy="50292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904488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849624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Complete Payment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306824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8BC"/>
                </a:solidFill>
                <a:latin typeface="Calibri"/>
              </a:rPr>
              <a:t>Stripe: https://gbautomation.xyz/pay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5020056"/>
            <a:ext cx="502920" cy="50292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507492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5020056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Join on Session Day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477256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8BC"/>
                </a:solidFill>
                <a:latin typeface="Calibri"/>
              </a:rPr>
              <a:t>TBD  ·  TBD PST  ·  TBD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29107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Questions? Reply to your welcome email or message greg@gbautomation.xyz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